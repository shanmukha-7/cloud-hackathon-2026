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4381500" cy="2463800"/>
  <p:notesSz cx="4381500" cy="2463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8612" y="763778"/>
            <a:ext cx="3724275" cy="517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57225" y="1379728"/>
            <a:ext cx="3067050" cy="61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59" y="2459989"/>
            <a:ext cx="4370705" cy="2540"/>
          </a:xfrm>
          <a:custGeom>
            <a:avLst/>
            <a:gdLst/>
            <a:ahLst/>
            <a:cxnLst/>
            <a:rect l="l" t="t" r="r" b="b"/>
            <a:pathLst>
              <a:path w="4370705" h="2539">
                <a:moveTo>
                  <a:pt x="0" y="2540"/>
                </a:moveTo>
                <a:lnTo>
                  <a:pt x="4370578" y="2540"/>
                </a:lnTo>
                <a:lnTo>
                  <a:pt x="4370578" y="0"/>
                </a:lnTo>
                <a:lnTo>
                  <a:pt x="0" y="0"/>
                </a:lnTo>
                <a:lnTo>
                  <a:pt x="0" y="254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159" y="3047"/>
            <a:ext cx="4370705" cy="2320925"/>
          </a:xfrm>
          <a:custGeom>
            <a:avLst/>
            <a:gdLst/>
            <a:ahLst/>
            <a:cxnLst/>
            <a:rect l="l" t="t" r="r" b="b"/>
            <a:pathLst>
              <a:path w="4370705" h="2320925">
                <a:moveTo>
                  <a:pt x="0" y="2320416"/>
                </a:moveTo>
                <a:lnTo>
                  <a:pt x="4370578" y="2320416"/>
                </a:lnTo>
                <a:lnTo>
                  <a:pt x="4370578" y="0"/>
                </a:lnTo>
                <a:lnTo>
                  <a:pt x="0" y="0"/>
                </a:lnTo>
                <a:lnTo>
                  <a:pt x="0" y="2320416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159" y="-508"/>
            <a:ext cx="63500" cy="420370"/>
          </a:xfrm>
          <a:custGeom>
            <a:avLst/>
            <a:gdLst/>
            <a:ahLst/>
            <a:cxnLst/>
            <a:rect l="l" t="t" r="r" b="b"/>
            <a:pathLst>
              <a:path w="63500" h="420370">
                <a:moveTo>
                  <a:pt x="63068" y="417830"/>
                </a:moveTo>
                <a:lnTo>
                  <a:pt x="59118" y="417830"/>
                </a:lnTo>
                <a:lnTo>
                  <a:pt x="59118" y="1270"/>
                </a:lnTo>
                <a:lnTo>
                  <a:pt x="59664" y="1270"/>
                </a:lnTo>
                <a:lnTo>
                  <a:pt x="59664" y="0"/>
                </a:lnTo>
                <a:lnTo>
                  <a:pt x="0" y="0"/>
                </a:lnTo>
                <a:lnTo>
                  <a:pt x="0" y="1270"/>
                </a:lnTo>
                <a:lnTo>
                  <a:pt x="0" y="417830"/>
                </a:lnTo>
                <a:lnTo>
                  <a:pt x="190" y="417830"/>
                </a:lnTo>
                <a:lnTo>
                  <a:pt x="190" y="420370"/>
                </a:lnTo>
                <a:lnTo>
                  <a:pt x="63068" y="420370"/>
                </a:lnTo>
                <a:lnTo>
                  <a:pt x="63068" y="417830"/>
                </a:lnTo>
                <a:close/>
              </a:path>
            </a:pathLst>
          </a:custGeom>
          <a:solidFill>
            <a:srgbClr val="F49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5791" y="456691"/>
            <a:ext cx="1124585" cy="1793239"/>
          </a:xfrm>
          <a:custGeom>
            <a:avLst/>
            <a:gdLst/>
            <a:ahLst/>
            <a:cxnLst/>
            <a:rect l="l" t="t" r="r" b="b"/>
            <a:pathLst>
              <a:path w="1124585" h="1793239">
                <a:moveTo>
                  <a:pt x="1124331" y="3810"/>
                </a:moveTo>
                <a:lnTo>
                  <a:pt x="1123911" y="3810"/>
                </a:lnTo>
                <a:lnTo>
                  <a:pt x="1123911" y="1270"/>
                </a:lnTo>
                <a:lnTo>
                  <a:pt x="1121625" y="1270"/>
                </a:lnTo>
                <a:lnTo>
                  <a:pt x="1121625" y="0"/>
                </a:lnTo>
                <a:lnTo>
                  <a:pt x="3022" y="0"/>
                </a:lnTo>
                <a:lnTo>
                  <a:pt x="3022" y="1270"/>
                </a:lnTo>
                <a:lnTo>
                  <a:pt x="1460" y="1270"/>
                </a:lnTo>
                <a:lnTo>
                  <a:pt x="1460" y="3810"/>
                </a:lnTo>
                <a:lnTo>
                  <a:pt x="0" y="3810"/>
                </a:lnTo>
                <a:lnTo>
                  <a:pt x="0" y="1789430"/>
                </a:lnTo>
                <a:lnTo>
                  <a:pt x="1358" y="1789430"/>
                </a:lnTo>
                <a:lnTo>
                  <a:pt x="1358" y="1791970"/>
                </a:lnTo>
                <a:lnTo>
                  <a:pt x="2832" y="1791970"/>
                </a:lnTo>
                <a:lnTo>
                  <a:pt x="2832" y="1793240"/>
                </a:lnTo>
                <a:lnTo>
                  <a:pt x="1121664" y="1793240"/>
                </a:lnTo>
                <a:lnTo>
                  <a:pt x="1121664" y="1791970"/>
                </a:lnTo>
                <a:lnTo>
                  <a:pt x="1123950" y="1791970"/>
                </a:lnTo>
                <a:lnTo>
                  <a:pt x="1123950" y="1789430"/>
                </a:lnTo>
                <a:lnTo>
                  <a:pt x="1124331" y="1789430"/>
                </a:lnTo>
                <a:lnTo>
                  <a:pt x="1124331" y="3810"/>
                </a:lnTo>
                <a:close/>
              </a:path>
            </a:pathLst>
          </a:custGeom>
          <a:solidFill>
            <a:srgbClr val="0915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66751" y="710183"/>
            <a:ext cx="996950" cy="228600"/>
          </a:xfrm>
          <a:custGeom>
            <a:avLst/>
            <a:gdLst/>
            <a:ahLst/>
            <a:cxnLst/>
            <a:rect l="l" t="t" r="r" b="b"/>
            <a:pathLst>
              <a:path w="996950" h="228600">
                <a:moveTo>
                  <a:pt x="996441" y="0"/>
                </a:moveTo>
                <a:lnTo>
                  <a:pt x="0" y="0"/>
                </a:lnTo>
                <a:lnTo>
                  <a:pt x="0" y="228346"/>
                </a:lnTo>
                <a:lnTo>
                  <a:pt x="996441" y="228346"/>
                </a:lnTo>
                <a:lnTo>
                  <a:pt x="996441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63703" y="707135"/>
            <a:ext cx="1002665" cy="234950"/>
          </a:xfrm>
          <a:custGeom>
            <a:avLst/>
            <a:gdLst/>
            <a:ahLst/>
            <a:cxnLst/>
            <a:rect l="l" t="t" r="r" b="b"/>
            <a:pathLst>
              <a:path w="1002665" h="234950">
                <a:moveTo>
                  <a:pt x="1002665" y="3810"/>
                </a:moveTo>
                <a:lnTo>
                  <a:pt x="998855" y="0"/>
                </a:lnTo>
                <a:lnTo>
                  <a:pt x="995045" y="0"/>
                </a:lnTo>
                <a:lnTo>
                  <a:pt x="995045" y="3810"/>
                </a:lnTo>
                <a:lnTo>
                  <a:pt x="995045" y="7620"/>
                </a:lnTo>
                <a:lnTo>
                  <a:pt x="995045" y="227088"/>
                </a:lnTo>
                <a:lnTo>
                  <a:pt x="7607" y="227088"/>
                </a:lnTo>
                <a:lnTo>
                  <a:pt x="7607" y="7620"/>
                </a:lnTo>
                <a:lnTo>
                  <a:pt x="995045" y="7620"/>
                </a:lnTo>
                <a:lnTo>
                  <a:pt x="995045" y="3822"/>
                </a:lnTo>
                <a:lnTo>
                  <a:pt x="7607" y="3822"/>
                </a:lnTo>
                <a:lnTo>
                  <a:pt x="995045" y="3810"/>
                </a:lnTo>
                <a:lnTo>
                  <a:pt x="995045" y="0"/>
                </a:lnTo>
                <a:lnTo>
                  <a:pt x="3797" y="0"/>
                </a:lnTo>
                <a:lnTo>
                  <a:pt x="0" y="3810"/>
                </a:lnTo>
                <a:lnTo>
                  <a:pt x="0" y="230886"/>
                </a:lnTo>
                <a:lnTo>
                  <a:pt x="139" y="231902"/>
                </a:lnTo>
                <a:lnTo>
                  <a:pt x="520" y="232791"/>
                </a:lnTo>
                <a:lnTo>
                  <a:pt x="1905" y="234188"/>
                </a:lnTo>
                <a:lnTo>
                  <a:pt x="2832" y="234569"/>
                </a:lnTo>
                <a:lnTo>
                  <a:pt x="999871" y="234569"/>
                </a:lnTo>
                <a:lnTo>
                  <a:pt x="1000760" y="234188"/>
                </a:lnTo>
                <a:lnTo>
                  <a:pt x="1002157" y="232791"/>
                </a:lnTo>
                <a:lnTo>
                  <a:pt x="1002538" y="231902"/>
                </a:lnTo>
                <a:lnTo>
                  <a:pt x="1002665" y="230886"/>
                </a:lnTo>
                <a:lnTo>
                  <a:pt x="1002665" y="227076"/>
                </a:lnTo>
                <a:lnTo>
                  <a:pt x="1002665" y="7620"/>
                </a:lnTo>
                <a:lnTo>
                  <a:pt x="1002665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66751" y="993647"/>
            <a:ext cx="996950" cy="228600"/>
          </a:xfrm>
          <a:custGeom>
            <a:avLst/>
            <a:gdLst/>
            <a:ahLst/>
            <a:cxnLst/>
            <a:rect l="l" t="t" r="r" b="b"/>
            <a:pathLst>
              <a:path w="996950" h="228600">
                <a:moveTo>
                  <a:pt x="996441" y="0"/>
                </a:moveTo>
                <a:lnTo>
                  <a:pt x="0" y="0"/>
                </a:lnTo>
                <a:lnTo>
                  <a:pt x="0" y="228600"/>
                </a:lnTo>
                <a:lnTo>
                  <a:pt x="996441" y="228600"/>
                </a:lnTo>
                <a:lnTo>
                  <a:pt x="996441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63703" y="990599"/>
            <a:ext cx="1002665" cy="234950"/>
          </a:xfrm>
          <a:custGeom>
            <a:avLst/>
            <a:gdLst/>
            <a:ahLst/>
            <a:cxnLst/>
            <a:rect l="l" t="t" r="r" b="b"/>
            <a:pathLst>
              <a:path w="1002665" h="234950">
                <a:moveTo>
                  <a:pt x="1002665" y="3810"/>
                </a:moveTo>
                <a:lnTo>
                  <a:pt x="998855" y="0"/>
                </a:lnTo>
                <a:lnTo>
                  <a:pt x="995045" y="0"/>
                </a:lnTo>
                <a:lnTo>
                  <a:pt x="995045" y="3810"/>
                </a:lnTo>
                <a:lnTo>
                  <a:pt x="995045" y="7620"/>
                </a:lnTo>
                <a:lnTo>
                  <a:pt x="995045" y="227088"/>
                </a:lnTo>
                <a:lnTo>
                  <a:pt x="7607" y="227088"/>
                </a:lnTo>
                <a:lnTo>
                  <a:pt x="7607" y="7620"/>
                </a:lnTo>
                <a:lnTo>
                  <a:pt x="995045" y="7620"/>
                </a:lnTo>
                <a:lnTo>
                  <a:pt x="995045" y="3822"/>
                </a:lnTo>
                <a:lnTo>
                  <a:pt x="7607" y="3822"/>
                </a:lnTo>
                <a:lnTo>
                  <a:pt x="995045" y="3810"/>
                </a:lnTo>
                <a:lnTo>
                  <a:pt x="995045" y="0"/>
                </a:lnTo>
                <a:lnTo>
                  <a:pt x="3797" y="0"/>
                </a:lnTo>
                <a:lnTo>
                  <a:pt x="0" y="3810"/>
                </a:lnTo>
                <a:lnTo>
                  <a:pt x="0" y="230898"/>
                </a:lnTo>
                <a:lnTo>
                  <a:pt x="139" y="231902"/>
                </a:lnTo>
                <a:lnTo>
                  <a:pt x="520" y="232791"/>
                </a:lnTo>
                <a:lnTo>
                  <a:pt x="1905" y="234200"/>
                </a:lnTo>
                <a:lnTo>
                  <a:pt x="2832" y="234569"/>
                </a:lnTo>
                <a:lnTo>
                  <a:pt x="999871" y="234569"/>
                </a:lnTo>
                <a:lnTo>
                  <a:pt x="1000760" y="234200"/>
                </a:lnTo>
                <a:lnTo>
                  <a:pt x="1002157" y="232791"/>
                </a:lnTo>
                <a:lnTo>
                  <a:pt x="1002538" y="231902"/>
                </a:lnTo>
                <a:lnTo>
                  <a:pt x="1002665" y="230898"/>
                </a:lnTo>
                <a:lnTo>
                  <a:pt x="1002665" y="227076"/>
                </a:lnTo>
                <a:lnTo>
                  <a:pt x="1002665" y="7620"/>
                </a:lnTo>
                <a:lnTo>
                  <a:pt x="1002665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66751" y="1280159"/>
            <a:ext cx="996950" cy="225425"/>
          </a:xfrm>
          <a:custGeom>
            <a:avLst/>
            <a:gdLst/>
            <a:ahLst/>
            <a:cxnLst/>
            <a:rect l="l" t="t" r="r" b="b"/>
            <a:pathLst>
              <a:path w="996950" h="225425">
                <a:moveTo>
                  <a:pt x="996441" y="0"/>
                </a:moveTo>
                <a:lnTo>
                  <a:pt x="0" y="0"/>
                </a:lnTo>
                <a:lnTo>
                  <a:pt x="0" y="225297"/>
                </a:lnTo>
                <a:lnTo>
                  <a:pt x="996441" y="225297"/>
                </a:lnTo>
                <a:lnTo>
                  <a:pt x="996441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63703" y="1274076"/>
            <a:ext cx="1002665" cy="234315"/>
          </a:xfrm>
          <a:custGeom>
            <a:avLst/>
            <a:gdLst/>
            <a:ahLst/>
            <a:cxnLst/>
            <a:rect l="l" t="t" r="r" b="b"/>
            <a:pathLst>
              <a:path w="1002665" h="234315">
                <a:moveTo>
                  <a:pt x="1002665" y="3797"/>
                </a:moveTo>
                <a:lnTo>
                  <a:pt x="999490" y="0"/>
                </a:lnTo>
                <a:lnTo>
                  <a:pt x="995045" y="0"/>
                </a:lnTo>
                <a:lnTo>
                  <a:pt x="995045" y="3797"/>
                </a:lnTo>
                <a:lnTo>
                  <a:pt x="995045" y="7607"/>
                </a:lnTo>
                <a:lnTo>
                  <a:pt x="995045" y="226453"/>
                </a:lnTo>
                <a:lnTo>
                  <a:pt x="7607" y="226453"/>
                </a:lnTo>
                <a:lnTo>
                  <a:pt x="7607" y="7607"/>
                </a:lnTo>
                <a:lnTo>
                  <a:pt x="995045" y="7607"/>
                </a:lnTo>
                <a:lnTo>
                  <a:pt x="995045" y="3822"/>
                </a:lnTo>
                <a:lnTo>
                  <a:pt x="7607" y="3822"/>
                </a:lnTo>
                <a:lnTo>
                  <a:pt x="995045" y="3797"/>
                </a:lnTo>
                <a:lnTo>
                  <a:pt x="995045" y="0"/>
                </a:lnTo>
                <a:lnTo>
                  <a:pt x="3136" y="0"/>
                </a:lnTo>
                <a:lnTo>
                  <a:pt x="0" y="3797"/>
                </a:lnTo>
                <a:lnTo>
                  <a:pt x="0" y="230238"/>
                </a:lnTo>
                <a:lnTo>
                  <a:pt x="2832" y="233921"/>
                </a:lnTo>
                <a:lnTo>
                  <a:pt x="998855" y="234048"/>
                </a:lnTo>
                <a:lnTo>
                  <a:pt x="999871" y="233921"/>
                </a:lnTo>
                <a:lnTo>
                  <a:pt x="1000760" y="233540"/>
                </a:lnTo>
                <a:lnTo>
                  <a:pt x="1002157" y="232143"/>
                </a:lnTo>
                <a:lnTo>
                  <a:pt x="1002538" y="231254"/>
                </a:lnTo>
                <a:lnTo>
                  <a:pt x="1002665" y="230238"/>
                </a:lnTo>
                <a:lnTo>
                  <a:pt x="1002665" y="226428"/>
                </a:lnTo>
                <a:lnTo>
                  <a:pt x="1002665" y="7607"/>
                </a:lnTo>
                <a:lnTo>
                  <a:pt x="1002665" y="3797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66751" y="1563623"/>
            <a:ext cx="996950" cy="225425"/>
          </a:xfrm>
          <a:custGeom>
            <a:avLst/>
            <a:gdLst/>
            <a:ahLst/>
            <a:cxnLst/>
            <a:rect l="l" t="t" r="r" b="b"/>
            <a:pathLst>
              <a:path w="996950" h="225425">
                <a:moveTo>
                  <a:pt x="996441" y="0"/>
                </a:moveTo>
                <a:lnTo>
                  <a:pt x="0" y="0"/>
                </a:lnTo>
                <a:lnTo>
                  <a:pt x="0" y="225298"/>
                </a:lnTo>
                <a:lnTo>
                  <a:pt x="996441" y="225298"/>
                </a:lnTo>
                <a:lnTo>
                  <a:pt x="996441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63703" y="1557527"/>
            <a:ext cx="1002665" cy="234950"/>
          </a:xfrm>
          <a:custGeom>
            <a:avLst/>
            <a:gdLst/>
            <a:ahLst/>
            <a:cxnLst/>
            <a:rect l="l" t="t" r="r" b="b"/>
            <a:pathLst>
              <a:path w="1002665" h="234950">
                <a:moveTo>
                  <a:pt x="1002665" y="3810"/>
                </a:moveTo>
                <a:lnTo>
                  <a:pt x="999490" y="0"/>
                </a:lnTo>
                <a:lnTo>
                  <a:pt x="995045" y="0"/>
                </a:lnTo>
                <a:lnTo>
                  <a:pt x="995045" y="3810"/>
                </a:lnTo>
                <a:lnTo>
                  <a:pt x="995045" y="7620"/>
                </a:lnTo>
                <a:lnTo>
                  <a:pt x="995045" y="227088"/>
                </a:lnTo>
                <a:lnTo>
                  <a:pt x="7607" y="227088"/>
                </a:lnTo>
                <a:lnTo>
                  <a:pt x="7607" y="7620"/>
                </a:lnTo>
                <a:lnTo>
                  <a:pt x="995045" y="7620"/>
                </a:lnTo>
                <a:lnTo>
                  <a:pt x="995045" y="3822"/>
                </a:lnTo>
                <a:lnTo>
                  <a:pt x="7607" y="3822"/>
                </a:lnTo>
                <a:lnTo>
                  <a:pt x="995045" y="3810"/>
                </a:lnTo>
                <a:lnTo>
                  <a:pt x="995045" y="0"/>
                </a:lnTo>
                <a:lnTo>
                  <a:pt x="3136" y="0"/>
                </a:lnTo>
                <a:lnTo>
                  <a:pt x="0" y="3810"/>
                </a:lnTo>
                <a:lnTo>
                  <a:pt x="0" y="230886"/>
                </a:lnTo>
                <a:lnTo>
                  <a:pt x="139" y="231902"/>
                </a:lnTo>
                <a:lnTo>
                  <a:pt x="520" y="232791"/>
                </a:lnTo>
                <a:lnTo>
                  <a:pt x="1905" y="234188"/>
                </a:lnTo>
                <a:lnTo>
                  <a:pt x="2832" y="234569"/>
                </a:lnTo>
                <a:lnTo>
                  <a:pt x="999871" y="234569"/>
                </a:lnTo>
                <a:lnTo>
                  <a:pt x="1000760" y="234188"/>
                </a:lnTo>
                <a:lnTo>
                  <a:pt x="1002157" y="232791"/>
                </a:lnTo>
                <a:lnTo>
                  <a:pt x="1002538" y="231902"/>
                </a:lnTo>
                <a:lnTo>
                  <a:pt x="1002665" y="230886"/>
                </a:lnTo>
                <a:lnTo>
                  <a:pt x="1002665" y="227076"/>
                </a:lnTo>
                <a:lnTo>
                  <a:pt x="1002665" y="7620"/>
                </a:lnTo>
                <a:lnTo>
                  <a:pt x="1002665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66751" y="1847087"/>
            <a:ext cx="996950" cy="228600"/>
          </a:xfrm>
          <a:custGeom>
            <a:avLst/>
            <a:gdLst/>
            <a:ahLst/>
            <a:cxnLst/>
            <a:rect l="l" t="t" r="r" b="b"/>
            <a:pathLst>
              <a:path w="996950" h="228600">
                <a:moveTo>
                  <a:pt x="996441" y="0"/>
                </a:moveTo>
                <a:lnTo>
                  <a:pt x="0" y="0"/>
                </a:lnTo>
                <a:lnTo>
                  <a:pt x="0" y="228346"/>
                </a:lnTo>
                <a:lnTo>
                  <a:pt x="996441" y="228346"/>
                </a:lnTo>
                <a:lnTo>
                  <a:pt x="996441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63703" y="1844039"/>
            <a:ext cx="1002665" cy="234950"/>
          </a:xfrm>
          <a:custGeom>
            <a:avLst/>
            <a:gdLst/>
            <a:ahLst/>
            <a:cxnLst/>
            <a:rect l="l" t="t" r="r" b="b"/>
            <a:pathLst>
              <a:path w="1002665" h="234950">
                <a:moveTo>
                  <a:pt x="1002665" y="3810"/>
                </a:moveTo>
                <a:lnTo>
                  <a:pt x="998855" y="0"/>
                </a:lnTo>
                <a:lnTo>
                  <a:pt x="995045" y="0"/>
                </a:lnTo>
                <a:lnTo>
                  <a:pt x="995045" y="3810"/>
                </a:lnTo>
                <a:lnTo>
                  <a:pt x="995045" y="7620"/>
                </a:lnTo>
                <a:lnTo>
                  <a:pt x="995045" y="227088"/>
                </a:lnTo>
                <a:lnTo>
                  <a:pt x="7607" y="227088"/>
                </a:lnTo>
                <a:lnTo>
                  <a:pt x="7607" y="7620"/>
                </a:lnTo>
                <a:lnTo>
                  <a:pt x="995045" y="7620"/>
                </a:lnTo>
                <a:lnTo>
                  <a:pt x="995045" y="3822"/>
                </a:lnTo>
                <a:lnTo>
                  <a:pt x="7607" y="3822"/>
                </a:lnTo>
                <a:lnTo>
                  <a:pt x="995045" y="3810"/>
                </a:lnTo>
                <a:lnTo>
                  <a:pt x="995045" y="0"/>
                </a:lnTo>
                <a:lnTo>
                  <a:pt x="3797" y="0"/>
                </a:lnTo>
                <a:lnTo>
                  <a:pt x="0" y="3810"/>
                </a:lnTo>
                <a:lnTo>
                  <a:pt x="0" y="230886"/>
                </a:lnTo>
                <a:lnTo>
                  <a:pt x="139" y="231902"/>
                </a:lnTo>
                <a:lnTo>
                  <a:pt x="520" y="232791"/>
                </a:lnTo>
                <a:lnTo>
                  <a:pt x="1905" y="234188"/>
                </a:lnTo>
                <a:lnTo>
                  <a:pt x="2832" y="234569"/>
                </a:lnTo>
                <a:lnTo>
                  <a:pt x="999871" y="234569"/>
                </a:lnTo>
                <a:lnTo>
                  <a:pt x="1000760" y="234188"/>
                </a:lnTo>
                <a:lnTo>
                  <a:pt x="1002157" y="232791"/>
                </a:lnTo>
                <a:lnTo>
                  <a:pt x="1002538" y="231902"/>
                </a:lnTo>
                <a:lnTo>
                  <a:pt x="1002665" y="230886"/>
                </a:lnTo>
                <a:lnTo>
                  <a:pt x="1002665" y="227076"/>
                </a:lnTo>
                <a:lnTo>
                  <a:pt x="1002665" y="7620"/>
                </a:lnTo>
                <a:lnTo>
                  <a:pt x="1002665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233550" y="1264919"/>
            <a:ext cx="161290" cy="60960"/>
          </a:xfrm>
          <a:custGeom>
            <a:avLst/>
            <a:gdLst/>
            <a:ahLst/>
            <a:cxnLst/>
            <a:rect l="l" t="t" r="r" b="b"/>
            <a:pathLst>
              <a:path w="161290" h="60959">
                <a:moveTo>
                  <a:pt x="158242" y="0"/>
                </a:moveTo>
                <a:lnTo>
                  <a:pt x="3048" y="0"/>
                </a:lnTo>
                <a:lnTo>
                  <a:pt x="1778" y="507"/>
                </a:lnTo>
                <a:lnTo>
                  <a:pt x="381" y="1904"/>
                </a:lnTo>
                <a:lnTo>
                  <a:pt x="0" y="2921"/>
                </a:lnTo>
                <a:lnTo>
                  <a:pt x="0" y="57912"/>
                </a:lnTo>
                <a:lnTo>
                  <a:pt x="3683" y="60705"/>
                </a:lnTo>
                <a:lnTo>
                  <a:pt x="157606" y="60705"/>
                </a:lnTo>
                <a:lnTo>
                  <a:pt x="161289" y="57912"/>
                </a:lnTo>
                <a:lnTo>
                  <a:pt x="161289" y="2921"/>
                </a:lnTo>
                <a:lnTo>
                  <a:pt x="160909" y="1904"/>
                </a:lnTo>
                <a:lnTo>
                  <a:pt x="159512" y="507"/>
                </a:lnTo>
                <a:lnTo>
                  <a:pt x="158242" y="0"/>
                </a:lnTo>
                <a:close/>
              </a:path>
            </a:pathLst>
          </a:custGeom>
          <a:solidFill>
            <a:srgbClr val="F49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398142" y="460247"/>
            <a:ext cx="1444625" cy="1786255"/>
          </a:xfrm>
          <a:custGeom>
            <a:avLst/>
            <a:gdLst/>
            <a:ahLst/>
            <a:cxnLst/>
            <a:rect l="l" t="t" r="r" b="b"/>
            <a:pathLst>
              <a:path w="1444625" h="1786255">
                <a:moveTo>
                  <a:pt x="1444625" y="0"/>
                </a:moveTo>
                <a:lnTo>
                  <a:pt x="0" y="0"/>
                </a:lnTo>
                <a:lnTo>
                  <a:pt x="0" y="1785747"/>
                </a:lnTo>
                <a:lnTo>
                  <a:pt x="1444625" y="1785747"/>
                </a:lnTo>
                <a:lnTo>
                  <a:pt x="1444625" y="0"/>
                </a:lnTo>
                <a:close/>
              </a:path>
            </a:pathLst>
          </a:custGeom>
          <a:solidFill>
            <a:srgbClr val="EB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395095" y="457199"/>
            <a:ext cx="1450975" cy="1792605"/>
          </a:xfrm>
          <a:custGeom>
            <a:avLst/>
            <a:gdLst/>
            <a:ahLst/>
            <a:cxnLst/>
            <a:rect l="l" t="t" r="r" b="b"/>
            <a:pathLst>
              <a:path w="1450975" h="1792605">
                <a:moveTo>
                  <a:pt x="1450721" y="3810"/>
                </a:moveTo>
                <a:lnTo>
                  <a:pt x="1447673" y="0"/>
                </a:lnTo>
                <a:lnTo>
                  <a:pt x="1443101" y="0"/>
                </a:lnTo>
                <a:lnTo>
                  <a:pt x="1443101" y="7620"/>
                </a:lnTo>
                <a:lnTo>
                  <a:pt x="1443101" y="1784604"/>
                </a:lnTo>
                <a:lnTo>
                  <a:pt x="7493" y="1784604"/>
                </a:lnTo>
                <a:lnTo>
                  <a:pt x="7493" y="7620"/>
                </a:lnTo>
                <a:lnTo>
                  <a:pt x="1443101" y="7620"/>
                </a:lnTo>
                <a:lnTo>
                  <a:pt x="1443101" y="0"/>
                </a:lnTo>
                <a:lnTo>
                  <a:pt x="3048" y="0"/>
                </a:lnTo>
                <a:lnTo>
                  <a:pt x="1778" y="508"/>
                </a:lnTo>
                <a:lnTo>
                  <a:pt x="381" y="1905"/>
                </a:lnTo>
                <a:lnTo>
                  <a:pt x="0" y="2794"/>
                </a:lnTo>
                <a:lnTo>
                  <a:pt x="0" y="1789430"/>
                </a:lnTo>
                <a:lnTo>
                  <a:pt x="1016" y="1791208"/>
                </a:lnTo>
                <a:lnTo>
                  <a:pt x="2667" y="1792097"/>
                </a:lnTo>
                <a:lnTo>
                  <a:pt x="1447927" y="1792097"/>
                </a:lnTo>
                <a:lnTo>
                  <a:pt x="1449578" y="1791208"/>
                </a:lnTo>
                <a:lnTo>
                  <a:pt x="1450594" y="1789430"/>
                </a:lnTo>
                <a:lnTo>
                  <a:pt x="1450721" y="1788414"/>
                </a:lnTo>
                <a:lnTo>
                  <a:pt x="1450721" y="1784604"/>
                </a:lnTo>
                <a:lnTo>
                  <a:pt x="1450721" y="7620"/>
                </a:lnTo>
                <a:lnTo>
                  <a:pt x="1450721" y="3810"/>
                </a:lnTo>
                <a:close/>
              </a:path>
            </a:pathLst>
          </a:custGeom>
          <a:solidFill>
            <a:srgbClr val="C6E2E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4239" y="673607"/>
            <a:ext cx="1417320" cy="332231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453007" y="707135"/>
            <a:ext cx="40005" cy="252729"/>
          </a:xfrm>
          <a:custGeom>
            <a:avLst/>
            <a:gdLst/>
            <a:ahLst/>
            <a:cxnLst/>
            <a:rect l="l" t="t" r="r" b="b"/>
            <a:pathLst>
              <a:path w="40005" h="252730">
                <a:moveTo>
                  <a:pt x="35687" y="0"/>
                </a:moveTo>
                <a:lnTo>
                  <a:pt x="3810" y="0"/>
                </a:lnTo>
                <a:lnTo>
                  <a:pt x="0" y="2793"/>
                </a:lnTo>
                <a:lnTo>
                  <a:pt x="0" y="249935"/>
                </a:lnTo>
                <a:lnTo>
                  <a:pt x="381" y="250825"/>
                </a:lnTo>
                <a:lnTo>
                  <a:pt x="1016" y="251586"/>
                </a:lnTo>
                <a:lnTo>
                  <a:pt x="2793" y="252602"/>
                </a:lnTo>
                <a:lnTo>
                  <a:pt x="36703" y="252602"/>
                </a:lnTo>
                <a:lnTo>
                  <a:pt x="38481" y="251586"/>
                </a:lnTo>
                <a:lnTo>
                  <a:pt x="39116" y="250825"/>
                </a:lnTo>
                <a:lnTo>
                  <a:pt x="39497" y="249935"/>
                </a:lnTo>
                <a:lnTo>
                  <a:pt x="39497" y="2793"/>
                </a:lnTo>
                <a:lnTo>
                  <a:pt x="35687" y="0"/>
                </a:lnTo>
                <a:close/>
              </a:path>
            </a:pathLst>
          </a:custGeom>
          <a:solidFill>
            <a:srgbClr val="0D7A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bg 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239" y="972311"/>
            <a:ext cx="1417320" cy="332231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453007" y="1002791"/>
            <a:ext cx="40005" cy="252729"/>
          </a:xfrm>
          <a:custGeom>
            <a:avLst/>
            <a:gdLst/>
            <a:ahLst/>
            <a:cxnLst/>
            <a:rect l="l" t="t" r="r" b="b"/>
            <a:pathLst>
              <a:path w="40005" h="252730">
                <a:moveTo>
                  <a:pt x="39497" y="2540"/>
                </a:moveTo>
                <a:lnTo>
                  <a:pt x="39116" y="2540"/>
                </a:lnTo>
                <a:lnTo>
                  <a:pt x="39116" y="1270"/>
                </a:lnTo>
                <a:lnTo>
                  <a:pt x="37757" y="1270"/>
                </a:lnTo>
                <a:lnTo>
                  <a:pt x="37757" y="0"/>
                </a:lnTo>
                <a:lnTo>
                  <a:pt x="1727" y="0"/>
                </a:lnTo>
                <a:lnTo>
                  <a:pt x="1727" y="1270"/>
                </a:lnTo>
                <a:lnTo>
                  <a:pt x="381" y="1270"/>
                </a:lnTo>
                <a:lnTo>
                  <a:pt x="381" y="2540"/>
                </a:lnTo>
                <a:lnTo>
                  <a:pt x="0" y="2540"/>
                </a:lnTo>
                <a:lnTo>
                  <a:pt x="0" y="250190"/>
                </a:lnTo>
                <a:lnTo>
                  <a:pt x="381" y="250190"/>
                </a:lnTo>
                <a:lnTo>
                  <a:pt x="381" y="251460"/>
                </a:lnTo>
                <a:lnTo>
                  <a:pt x="1905" y="251460"/>
                </a:lnTo>
                <a:lnTo>
                  <a:pt x="1905" y="252730"/>
                </a:lnTo>
                <a:lnTo>
                  <a:pt x="37579" y="252730"/>
                </a:lnTo>
                <a:lnTo>
                  <a:pt x="37579" y="251460"/>
                </a:lnTo>
                <a:lnTo>
                  <a:pt x="39116" y="251460"/>
                </a:lnTo>
                <a:lnTo>
                  <a:pt x="39116" y="250190"/>
                </a:lnTo>
                <a:lnTo>
                  <a:pt x="39497" y="250190"/>
                </a:lnTo>
                <a:lnTo>
                  <a:pt x="39497" y="2540"/>
                </a:lnTo>
                <a:close/>
              </a:path>
            </a:pathLst>
          </a:custGeom>
          <a:solidFill>
            <a:srgbClr val="03699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4239" y="1267967"/>
            <a:ext cx="1417320" cy="335279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453007" y="1301241"/>
            <a:ext cx="40005" cy="252729"/>
          </a:xfrm>
          <a:custGeom>
            <a:avLst/>
            <a:gdLst/>
            <a:ahLst/>
            <a:cxnLst/>
            <a:rect l="l" t="t" r="r" b="b"/>
            <a:pathLst>
              <a:path w="40005" h="252730">
                <a:moveTo>
                  <a:pt x="39497" y="2540"/>
                </a:moveTo>
                <a:lnTo>
                  <a:pt x="38900" y="2540"/>
                </a:lnTo>
                <a:lnTo>
                  <a:pt x="38900" y="1270"/>
                </a:lnTo>
                <a:lnTo>
                  <a:pt x="37274" y="1270"/>
                </a:lnTo>
                <a:lnTo>
                  <a:pt x="37274" y="0"/>
                </a:lnTo>
                <a:lnTo>
                  <a:pt x="2222" y="0"/>
                </a:lnTo>
                <a:lnTo>
                  <a:pt x="2222" y="1270"/>
                </a:lnTo>
                <a:lnTo>
                  <a:pt x="584" y="1270"/>
                </a:lnTo>
                <a:lnTo>
                  <a:pt x="584" y="2540"/>
                </a:lnTo>
                <a:lnTo>
                  <a:pt x="0" y="2540"/>
                </a:lnTo>
                <a:lnTo>
                  <a:pt x="0" y="250190"/>
                </a:lnTo>
                <a:lnTo>
                  <a:pt x="266" y="250190"/>
                </a:lnTo>
                <a:lnTo>
                  <a:pt x="266" y="251460"/>
                </a:lnTo>
                <a:lnTo>
                  <a:pt x="1447" y="251460"/>
                </a:lnTo>
                <a:lnTo>
                  <a:pt x="1447" y="252730"/>
                </a:lnTo>
                <a:lnTo>
                  <a:pt x="38036" y="252730"/>
                </a:lnTo>
                <a:lnTo>
                  <a:pt x="38036" y="251460"/>
                </a:lnTo>
                <a:lnTo>
                  <a:pt x="39217" y="251460"/>
                </a:lnTo>
                <a:lnTo>
                  <a:pt x="39217" y="250190"/>
                </a:lnTo>
                <a:lnTo>
                  <a:pt x="39497" y="250190"/>
                </a:lnTo>
                <a:lnTo>
                  <a:pt x="39497" y="2540"/>
                </a:lnTo>
                <a:close/>
              </a:path>
            </a:pathLst>
          </a:custGeom>
          <a:solidFill>
            <a:srgbClr val="7A39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4239" y="1566671"/>
            <a:ext cx="1417320" cy="332232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1453007" y="1597151"/>
            <a:ext cx="40005" cy="252729"/>
          </a:xfrm>
          <a:custGeom>
            <a:avLst/>
            <a:gdLst/>
            <a:ahLst/>
            <a:cxnLst/>
            <a:rect l="l" t="t" r="r" b="b"/>
            <a:pathLst>
              <a:path w="40005" h="252730">
                <a:moveTo>
                  <a:pt x="35687" y="0"/>
                </a:moveTo>
                <a:lnTo>
                  <a:pt x="3810" y="0"/>
                </a:lnTo>
                <a:lnTo>
                  <a:pt x="0" y="2794"/>
                </a:lnTo>
                <a:lnTo>
                  <a:pt x="0" y="249936"/>
                </a:lnTo>
                <a:lnTo>
                  <a:pt x="3810" y="252730"/>
                </a:lnTo>
                <a:lnTo>
                  <a:pt x="35687" y="252730"/>
                </a:lnTo>
                <a:lnTo>
                  <a:pt x="39497" y="249936"/>
                </a:lnTo>
                <a:lnTo>
                  <a:pt x="39497" y="2794"/>
                </a:lnTo>
                <a:lnTo>
                  <a:pt x="35687" y="0"/>
                </a:lnTo>
                <a:close/>
              </a:path>
            </a:pathLst>
          </a:custGeom>
          <a:solidFill>
            <a:srgbClr val="0D928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4239" y="1865375"/>
            <a:ext cx="1417320" cy="332232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453007" y="1264919"/>
            <a:ext cx="1560830" cy="883919"/>
          </a:xfrm>
          <a:custGeom>
            <a:avLst/>
            <a:gdLst/>
            <a:ahLst/>
            <a:cxnLst/>
            <a:rect l="l" t="t" r="r" b="b"/>
            <a:pathLst>
              <a:path w="1560830" h="883919">
                <a:moveTo>
                  <a:pt x="39497" y="633730"/>
                </a:moveTo>
                <a:lnTo>
                  <a:pt x="35687" y="630936"/>
                </a:lnTo>
                <a:lnTo>
                  <a:pt x="3810" y="630936"/>
                </a:lnTo>
                <a:lnTo>
                  <a:pt x="0" y="633730"/>
                </a:lnTo>
                <a:lnTo>
                  <a:pt x="0" y="880872"/>
                </a:lnTo>
                <a:lnTo>
                  <a:pt x="381" y="881761"/>
                </a:lnTo>
                <a:lnTo>
                  <a:pt x="1016" y="882523"/>
                </a:lnTo>
                <a:lnTo>
                  <a:pt x="2794" y="883539"/>
                </a:lnTo>
                <a:lnTo>
                  <a:pt x="36703" y="883539"/>
                </a:lnTo>
                <a:lnTo>
                  <a:pt x="38481" y="882523"/>
                </a:lnTo>
                <a:lnTo>
                  <a:pt x="39116" y="881761"/>
                </a:lnTo>
                <a:lnTo>
                  <a:pt x="39497" y="880872"/>
                </a:lnTo>
                <a:lnTo>
                  <a:pt x="39497" y="633730"/>
                </a:lnTo>
                <a:close/>
              </a:path>
              <a:path w="1560830" h="883919">
                <a:moveTo>
                  <a:pt x="1560322" y="2921"/>
                </a:moveTo>
                <a:lnTo>
                  <a:pt x="1559941" y="1905"/>
                </a:lnTo>
                <a:lnTo>
                  <a:pt x="1558544" y="508"/>
                </a:lnTo>
                <a:lnTo>
                  <a:pt x="1557274" y="0"/>
                </a:lnTo>
                <a:lnTo>
                  <a:pt x="1402080" y="0"/>
                </a:lnTo>
                <a:lnTo>
                  <a:pt x="1400810" y="508"/>
                </a:lnTo>
                <a:lnTo>
                  <a:pt x="1399413" y="1905"/>
                </a:lnTo>
                <a:lnTo>
                  <a:pt x="1399032" y="2921"/>
                </a:lnTo>
                <a:lnTo>
                  <a:pt x="1399032" y="57912"/>
                </a:lnTo>
                <a:lnTo>
                  <a:pt x="1402715" y="60706"/>
                </a:lnTo>
                <a:lnTo>
                  <a:pt x="1556639" y="60706"/>
                </a:lnTo>
                <a:lnTo>
                  <a:pt x="1560322" y="57912"/>
                </a:lnTo>
                <a:lnTo>
                  <a:pt x="1560322" y="2921"/>
                </a:lnTo>
                <a:close/>
              </a:path>
            </a:pathLst>
          </a:custGeom>
          <a:solidFill>
            <a:srgbClr val="F49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3013582" y="457199"/>
            <a:ext cx="1252855" cy="1792605"/>
          </a:xfrm>
          <a:custGeom>
            <a:avLst/>
            <a:gdLst/>
            <a:ahLst/>
            <a:cxnLst/>
            <a:rect l="l" t="t" r="r" b="b"/>
            <a:pathLst>
              <a:path w="1252855" h="1792605">
                <a:moveTo>
                  <a:pt x="1249552" y="0"/>
                </a:moveTo>
                <a:lnTo>
                  <a:pt x="3047" y="0"/>
                </a:lnTo>
                <a:lnTo>
                  <a:pt x="1777" y="507"/>
                </a:lnTo>
                <a:lnTo>
                  <a:pt x="380" y="1904"/>
                </a:lnTo>
                <a:lnTo>
                  <a:pt x="0" y="2794"/>
                </a:lnTo>
                <a:lnTo>
                  <a:pt x="0" y="1789430"/>
                </a:lnTo>
                <a:lnTo>
                  <a:pt x="1015" y="1791208"/>
                </a:lnTo>
                <a:lnTo>
                  <a:pt x="2666" y="1792097"/>
                </a:lnTo>
                <a:lnTo>
                  <a:pt x="1249933" y="1792097"/>
                </a:lnTo>
                <a:lnTo>
                  <a:pt x="1251584" y="1791208"/>
                </a:lnTo>
                <a:lnTo>
                  <a:pt x="1252601" y="1789430"/>
                </a:lnTo>
                <a:lnTo>
                  <a:pt x="1252601" y="2794"/>
                </a:lnTo>
                <a:lnTo>
                  <a:pt x="1252219" y="1904"/>
                </a:lnTo>
                <a:lnTo>
                  <a:pt x="1250822" y="507"/>
                </a:lnTo>
                <a:lnTo>
                  <a:pt x="1249552" y="0"/>
                </a:lnTo>
                <a:close/>
              </a:path>
            </a:pathLst>
          </a:custGeom>
          <a:solidFill>
            <a:srgbClr val="0915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3074542" y="710183"/>
            <a:ext cx="1127760" cy="228600"/>
          </a:xfrm>
          <a:custGeom>
            <a:avLst/>
            <a:gdLst/>
            <a:ahLst/>
            <a:cxnLst/>
            <a:rect l="l" t="t" r="r" b="b"/>
            <a:pathLst>
              <a:path w="1127760" h="228600">
                <a:moveTo>
                  <a:pt x="1127760" y="0"/>
                </a:moveTo>
                <a:lnTo>
                  <a:pt x="0" y="0"/>
                </a:lnTo>
                <a:lnTo>
                  <a:pt x="0" y="228346"/>
                </a:lnTo>
                <a:lnTo>
                  <a:pt x="1127760" y="228346"/>
                </a:lnTo>
                <a:lnTo>
                  <a:pt x="1127760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3071495" y="707135"/>
            <a:ext cx="1133475" cy="234950"/>
          </a:xfrm>
          <a:custGeom>
            <a:avLst/>
            <a:gdLst/>
            <a:ahLst/>
            <a:cxnLst/>
            <a:rect l="l" t="t" r="r" b="b"/>
            <a:pathLst>
              <a:path w="1133475" h="234950">
                <a:moveTo>
                  <a:pt x="1133348" y="3810"/>
                </a:moveTo>
                <a:lnTo>
                  <a:pt x="1129538" y="0"/>
                </a:lnTo>
                <a:lnTo>
                  <a:pt x="1125728" y="0"/>
                </a:lnTo>
                <a:lnTo>
                  <a:pt x="1125728" y="3810"/>
                </a:lnTo>
                <a:lnTo>
                  <a:pt x="1125728" y="230886"/>
                </a:lnTo>
                <a:lnTo>
                  <a:pt x="1125702" y="227088"/>
                </a:lnTo>
                <a:lnTo>
                  <a:pt x="7493" y="227088"/>
                </a:lnTo>
                <a:lnTo>
                  <a:pt x="7493" y="7620"/>
                </a:lnTo>
                <a:lnTo>
                  <a:pt x="1125702" y="7620"/>
                </a:lnTo>
                <a:lnTo>
                  <a:pt x="1125702" y="3822"/>
                </a:lnTo>
                <a:lnTo>
                  <a:pt x="7493" y="3822"/>
                </a:lnTo>
                <a:lnTo>
                  <a:pt x="1125728" y="3810"/>
                </a:lnTo>
                <a:lnTo>
                  <a:pt x="1125728" y="0"/>
                </a:lnTo>
                <a:lnTo>
                  <a:pt x="3683" y="0"/>
                </a:lnTo>
                <a:lnTo>
                  <a:pt x="0" y="2794"/>
                </a:lnTo>
                <a:lnTo>
                  <a:pt x="0" y="231902"/>
                </a:lnTo>
                <a:lnTo>
                  <a:pt x="381" y="232791"/>
                </a:lnTo>
                <a:lnTo>
                  <a:pt x="1778" y="234188"/>
                </a:lnTo>
                <a:lnTo>
                  <a:pt x="2667" y="234569"/>
                </a:lnTo>
                <a:lnTo>
                  <a:pt x="1130427" y="234569"/>
                </a:lnTo>
                <a:lnTo>
                  <a:pt x="1131443" y="234188"/>
                </a:lnTo>
                <a:lnTo>
                  <a:pt x="1132840" y="232791"/>
                </a:lnTo>
                <a:lnTo>
                  <a:pt x="1133221" y="231902"/>
                </a:lnTo>
                <a:lnTo>
                  <a:pt x="1133348" y="230886"/>
                </a:lnTo>
                <a:lnTo>
                  <a:pt x="1133348" y="227076"/>
                </a:lnTo>
                <a:lnTo>
                  <a:pt x="1133348" y="7620"/>
                </a:lnTo>
                <a:lnTo>
                  <a:pt x="1133348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bg 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5879" y="731519"/>
            <a:ext cx="115824" cy="11582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3074542" y="1002791"/>
            <a:ext cx="1127760" cy="228600"/>
          </a:xfrm>
          <a:custGeom>
            <a:avLst/>
            <a:gdLst/>
            <a:ahLst/>
            <a:cxnLst/>
            <a:rect l="l" t="t" r="r" b="b"/>
            <a:pathLst>
              <a:path w="1127760" h="228600">
                <a:moveTo>
                  <a:pt x="1127760" y="0"/>
                </a:moveTo>
                <a:lnTo>
                  <a:pt x="0" y="0"/>
                </a:lnTo>
                <a:lnTo>
                  <a:pt x="0" y="228346"/>
                </a:lnTo>
                <a:lnTo>
                  <a:pt x="1127760" y="228346"/>
                </a:lnTo>
                <a:lnTo>
                  <a:pt x="1127760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3071495" y="999743"/>
            <a:ext cx="1133475" cy="234950"/>
          </a:xfrm>
          <a:custGeom>
            <a:avLst/>
            <a:gdLst/>
            <a:ahLst/>
            <a:cxnLst/>
            <a:rect l="l" t="t" r="r" b="b"/>
            <a:pathLst>
              <a:path w="1133475" h="234950">
                <a:moveTo>
                  <a:pt x="1133348" y="3810"/>
                </a:moveTo>
                <a:lnTo>
                  <a:pt x="1129538" y="0"/>
                </a:lnTo>
                <a:lnTo>
                  <a:pt x="1125728" y="0"/>
                </a:lnTo>
                <a:lnTo>
                  <a:pt x="1125728" y="3810"/>
                </a:lnTo>
                <a:lnTo>
                  <a:pt x="1125728" y="230886"/>
                </a:lnTo>
                <a:lnTo>
                  <a:pt x="1125702" y="227088"/>
                </a:lnTo>
                <a:lnTo>
                  <a:pt x="7493" y="227088"/>
                </a:lnTo>
                <a:lnTo>
                  <a:pt x="7493" y="7620"/>
                </a:lnTo>
                <a:lnTo>
                  <a:pt x="1125702" y="7620"/>
                </a:lnTo>
                <a:lnTo>
                  <a:pt x="1125702" y="3822"/>
                </a:lnTo>
                <a:lnTo>
                  <a:pt x="7493" y="3822"/>
                </a:lnTo>
                <a:lnTo>
                  <a:pt x="1125728" y="3810"/>
                </a:lnTo>
                <a:lnTo>
                  <a:pt x="1125728" y="0"/>
                </a:lnTo>
                <a:lnTo>
                  <a:pt x="3683" y="0"/>
                </a:lnTo>
                <a:lnTo>
                  <a:pt x="0" y="2794"/>
                </a:lnTo>
                <a:lnTo>
                  <a:pt x="0" y="231902"/>
                </a:lnTo>
                <a:lnTo>
                  <a:pt x="381" y="232803"/>
                </a:lnTo>
                <a:lnTo>
                  <a:pt x="1778" y="234188"/>
                </a:lnTo>
                <a:lnTo>
                  <a:pt x="2667" y="234581"/>
                </a:lnTo>
                <a:lnTo>
                  <a:pt x="1130427" y="234581"/>
                </a:lnTo>
                <a:lnTo>
                  <a:pt x="1131443" y="234188"/>
                </a:lnTo>
                <a:lnTo>
                  <a:pt x="1132840" y="232803"/>
                </a:lnTo>
                <a:lnTo>
                  <a:pt x="1133221" y="231902"/>
                </a:lnTo>
                <a:lnTo>
                  <a:pt x="1133348" y="230886"/>
                </a:lnTo>
                <a:lnTo>
                  <a:pt x="1133348" y="227076"/>
                </a:lnTo>
                <a:lnTo>
                  <a:pt x="1133348" y="7620"/>
                </a:lnTo>
                <a:lnTo>
                  <a:pt x="1133348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95879" y="1024127"/>
            <a:ext cx="115824" cy="115824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3074542" y="1295399"/>
            <a:ext cx="1127760" cy="228600"/>
          </a:xfrm>
          <a:custGeom>
            <a:avLst/>
            <a:gdLst/>
            <a:ahLst/>
            <a:cxnLst/>
            <a:rect l="l" t="t" r="r" b="b"/>
            <a:pathLst>
              <a:path w="1127760" h="228600">
                <a:moveTo>
                  <a:pt x="1127760" y="0"/>
                </a:moveTo>
                <a:lnTo>
                  <a:pt x="0" y="0"/>
                </a:lnTo>
                <a:lnTo>
                  <a:pt x="0" y="228346"/>
                </a:lnTo>
                <a:lnTo>
                  <a:pt x="1127760" y="228346"/>
                </a:lnTo>
                <a:lnTo>
                  <a:pt x="1127760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3071495" y="1292351"/>
            <a:ext cx="1133475" cy="234315"/>
          </a:xfrm>
          <a:custGeom>
            <a:avLst/>
            <a:gdLst/>
            <a:ahLst/>
            <a:cxnLst/>
            <a:rect l="l" t="t" r="r" b="b"/>
            <a:pathLst>
              <a:path w="1133475" h="234315">
                <a:moveTo>
                  <a:pt x="1133348" y="3822"/>
                </a:moveTo>
                <a:lnTo>
                  <a:pt x="1129538" y="0"/>
                </a:lnTo>
                <a:lnTo>
                  <a:pt x="1125728" y="0"/>
                </a:lnTo>
                <a:lnTo>
                  <a:pt x="1125728" y="3822"/>
                </a:lnTo>
                <a:lnTo>
                  <a:pt x="1125728" y="230251"/>
                </a:lnTo>
                <a:lnTo>
                  <a:pt x="1125702" y="226466"/>
                </a:lnTo>
                <a:lnTo>
                  <a:pt x="7493" y="226466"/>
                </a:lnTo>
                <a:lnTo>
                  <a:pt x="7493" y="7620"/>
                </a:lnTo>
                <a:lnTo>
                  <a:pt x="1125702" y="7620"/>
                </a:lnTo>
                <a:lnTo>
                  <a:pt x="1125702" y="3835"/>
                </a:lnTo>
                <a:lnTo>
                  <a:pt x="7493" y="3835"/>
                </a:lnTo>
                <a:lnTo>
                  <a:pt x="1125728" y="3822"/>
                </a:lnTo>
                <a:lnTo>
                  <a:pt x="1125728" y="0"/>
                </a:lnTo>
                <a:lnTo>
                  <a:pt x="3683" y="0"/>
                </a:lnTo>
                <a:lnTo>
                  <a:pt x="0" y="2794"/>
                </a:lnTo>
                <a:lnTo>
                  <a:pt x="0" y="231267"/>
                </a:lnTo>
                <a:lnTo>
                  <a:pt x="381" y="232156"/>
                </a:lnTo>
                <a:lnTo>
                  <a:pt x="1778" y="233553"/>
                </a:lnTo>
                <a:lnTo>
                  <a:pt x="2667" y="233934"/>
                </a:lnTo>
                <a:lnTo>
                  <a:pt x="1129538" y="234061"/>
                </a:lnTo>
                <a:lnTo>
                  <a:pt x="1131443" y="233553"/>
                </a:lnTo>
                <a:lnTo>
                  <a:pt x="1132840" y="232156"/>
                </a:lnTo>
                <a:lnTo>
                  <a:pt x="1133221" y="231267"/>
                </a:lnTo>
                <a:lnTo>
                  <a:pt x="1133348" y="230251"/>
                </a:lnTo>
                <a:lnTo>
                  <a:pt x="1133348" y="226441"/>
                </a:lnTo>
                <a:lnTo>
                  <a:pt x="1133348" y="7620"/>
                </a:lnTo>
                <a:lnTo>
                  <a:pt x="1133348" y="3822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bg object 5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95879" y="1319783"/>
            <a:ext cx="115824" cy="112775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3074542" y="1591055"/>
            <a:ext cx="1127760" cy="225425"/>
          </a:xfrm>
          <a:custGeom>
            <a:avLst/>
            <a:gdLst/>
            <a:ahLst/>
            <a:cxnLst/>
            <a:rect l="l" t="t" r="r" b="b"/>
            <a:pathLst>
              <a:path w="1127760" h="225425">
                <a:moveTo>
                  <a:pt x="1127760" y="0"/>
                </a:moveTo>
                <a:lnTo>
                  <a:pt x="0" y="0"/>
                </a:lnTo>
                <a:lnTo>
                  <a:pt x="0" y="225298"/>
                </a:lnTo>
                <a:lnTo>
                  <a:pt x="1127760" y="225298"/>
                </a:lnTo>
                <a:lnTo>
                  <a:pt x="1127760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3071495" y="1584959"/>
            <a:ext cx="1133475" cy="234315"/>
          </a:xfrm>
          <a:custGeom>
            <a:avLst/>
            <a:gdLst/>
            <a:ahLst/>
            <a:cxnLst/>
            <a:rect l="l" t="t" r="r" b="b"/>
            <a:pathLst>
              <a:path w="1133475" h="234314">
                <a:moveTo>
                  <a:pt x="1133348" y="3810"/>
                </a:moveTo>
                <a:lnTo>
                  <a:pt x="1129538" y="0"/>
                </a:lnTo>
                <a:lnTo>
                  <a:pt x="1125728" y="0"/>
                </a:lnTo>
                <a:lnTo>
                  <a:pt x="1125728" y="3810"/>
                </a:lnTo>
                <a:lnTo>
                  <a:pt x="1125728" y="230251"/>
                </a:lnTo>
                <a:lnTo>
                  <a:pt x="1125702" y="226466"/>
                </a:lnTo>
                <a:lnTo>
                  <a:pt x="7493" y="226466"/>
                </a:lnTo>
                <a:lnTo>
                  <a:pt x="7493" y="7620"/>
                </a:lnTo>
                <a:lnTo>
                  <a:pt x="1125702" y="7620"/>
                </a:lnTo>
                <a:lnTo>
                  <a:pt x="1125702" y="3835"/>
                </a:lnTo>
                <a:lnTo>
                  <a:pt x="7493" y="3835"/>
                </a:lnTo>
                <a:lnTo>
                  <a:pt x="1125728" y="3810"/>
                </a:lnTo>
                <a:lnTo>
                  <a:pt x="1125728" y="0"/>
                </a:lnTo>
                <a:lnTo>
                  <a:pt x="3683" y="0"/>
                </a:lnTo>
                <a:lnTo>
                  <a:pt x="0" y="2794"/>
                </a:lnTo>
                <a:lnTo>
                  <a:pt x="0" y="231267"/>
                </a:lnTo>
                <a:lnTo>
                  <a:pt x="381" y="232156"/>
                </a:lnTo>
                <a:lnTo>
                  <a:pt x="1778" y="233553"/>
                </a:lnTo>
                <a:lnTo>
                  <a:pt x="2667" y="233934"/>
                </a:lnTo>
                <a:lnTo>
                  <a:pt x="1129538" y="234061"/>
                </a:lnTo>
                <a:lnTo>
                  <a:pt x="1131443" y="233553"/>
                </a:lnTo>
                <a:lnTo>
                  <a:pt x="1132840" y="232156"/>
                </a:lnTo>
                <a:lnTo>
                  <a:pt x="1133221" y="231267"/>
                </a:lnTo>
                <a:lnTo>
                  <a:pt x="1133348" y="230251"/>
                </a:lnTo>
                <a:lnTo>
                  <a:pt x="1133348" y="226441"/>
                </a:lnTo>
                <a:lnTo>
                  <a:pt x="1133348" y="7620"/>
                </a:lnTo>
                <a:lnTo>
                  <a:pt x="1133348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bg object 5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95879" y="1612391"/>
            <a:ext cx="115824" cy="112775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3074542" y="1883663"/>
            <a:ext cx="1127760" cy="225425"/>
          </a:xfrm>
          <a:custGeom>
            <a:avLst/>
            <a:gdLst/>
            <a:ahLst/>
            <a:cxnLst/>
            <a:rect l="l" t="t" r="r" b="b"/>
            <a:pathLst>
              <a:path w="1127760" h="225425">
                <a:moveTo>
                  <a:pt x="1127760" y="0"/>
                </a:moveTo>
                <a:lnTo>
                  <a:pt x="0" y="0"/>
                </a:lnTo>
                <a:lnTo>
                  <a:pt x="0" y="225298"/>
                </a:lnTo>
                <a:lnTo>
                  <a:pt x="1127760" y="225298"/>
                </a:lnTo>
                <a:lnTo>
                  <a:pt x="1127760" y="0"/>
                </a:lnTo>
                <a:close/>
              </a:path>
            </a:pathLst>
          </a:custGeom>
          <a:solidFill>
            <a:srgbClr val="1228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3071495" y="1877567"/>
            <a:ext cx="1133475" cy="234950"/>
          </a:xfrm>
          <a:custGeom>
            <a:avLst/>
            <a:gdLst/>
            <a:ahLst/>
            <a:cxnLst/>
            <a:rect l="l" t="t" r="r" b="b"/>
            <a:pathLst>
              <a:path w="1133475" h="234950">
                <a:moveTo>
                  <a:pt x="1133348" y="3810"/>
                </a:moveTo>
                <a:lnTo>
                  <a:pt x="1130173" y="0"/>
                </a:lnTo>
                <a:lnTo>
                  <a:pt x="1125728" y="0"/>
                </a:lnTo>
                <a:lnTo>
                  <a:pt x="1125728" y="3810"/>
                </a:lnTo>
                <a:lnTo>
                  <a:pt x="1125728" y="230886"/>
                </a:lnTo>
                <a:lnTo>
                  <a:pt x="1125702" y="227088"/>
                </a:lnTo>
                <a:lnTo>
                  <a:pt x="7493" y="227088"/>
                </a:lnTo>
                <a:lnTo>
                  <a:pt x="7493" y="7620"/>
                </a:lnTo>
                <a:lnTo>
                  <a:pt x="1125702" y="7620"/>
                </a:lnTo>
                <a:lnTo>
                  <a:pt x="1125702" y="3822"/>
                </a:lnTo>
                <a:lnTo>
                  <a:pt x="7493" y="3822"/>
                </a:lnTo>
                <a:lnTo>
                  <a:pt x="1125728" y="3810"/>
                </a:lnTo>
                <a:lnTo>
                  <a:pt x="1125728" y="0"/>
                </a:lnTo>
                <a:lnTo>
                  <a:pt x="3048" y="0"/>
                </a:lnTo>
                <a:lnTo>
                  <a:pt x="1778" y="508"/>
                </a:lnTo>
                <a:lnTo>
                  <a:pt x="381" y="1905"/>
                </a:lnTo>
                <a:lnTo>
                  <a:pt x="0" y="2794"/>
                </a:lnTo>
                <a:lnTo>
                  <a:pt x="0" y="231902"/>
                </a:lnTo>
                <a:lnTo>
                  <a:pt x="381" y="232791"/>
                </a:lnTo>
                <a:lnTo>
                  <a:pt x="1778" y="234188"/>
                </a:lnTo>
                <a:lnTo>
                  <a:pt x="2667" y="234569"/>
                </a:lnTo>
                <a:lnTo>
                  <a:pt x="1130427" y="234569"/>
                </a:lnTo>
                <a:lnTo>
                  <a:pt x="1131443" y="234188"/>
                </a:lnTo>
                <a:lnTo>
                  <a:pt x="1132840" y="232791"/>
                </a:lnTo>
                <a:lnTo>
                  <a:pt x="1133221" y="231902"/>
                </a:lnTo>
                <a:lnTo>
                  <a:pt x="1133348" y="230886"/>
                </a:lnTo>
                <a:lnTo>
                  <a:pt x="1133348" y="227076"/>
                </a:lnTo>
                <a:lnTo>
                  <a:pt x="1133348" y="7620"/>
                </a:lnTo>
                <a:lnTo>
                  <a:pt x="1133348" y="3810"/>
                </a:lnTo>
                <a:close/>
              </a:path>
            </a:pathLst>
          </a:custGeom>
          <a:solidFill>
            <a:srgbClr val="12A8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bg 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5879" y="1904999"/>
            <a:ext cx="115824" cy="112775"/>
          </a:xfrm>
          <a:prstGeom prst="rect">
            <a:avLst/>
          </a:prstGeom>
        </p:spPr>
      </p:pic>
      <p:sp>
        <p:nvSpPr>
          <p:cNvPr id="59" name="bg object 59"/>
          <p:cNvSpPr/>
          <p:nvPr/>
        </p:nvSpPr>
        <p:spPr>
          <a:xfrm>
            <a:off x="61277" y="2539"/>
            <a:ext cx="4310380" cy="416559"/>
          </a:xfrm>
          <a:custGeom>
            <a:avLst/>
            <a:gdLst/>
            <a:ahLst/>
            <a:cxnLst/>
            <a:rect l="l" t="t" r="r" b="b"/>
            <a:pathLst>
              <a:path w="4310380" h="416559">
                <a:moveTo>
                  <a:pt x="4310380" y="0"/>
                </a:moveTo>
                <a:lnTo>
                  <a:pt x="0" y="0"/>
                </a:lnTo>
                <a:lnTo>
                  <a:pt x="0" y="416559"/>
                </a:lnTo>
                <a:lnTo>
                  <a:pt x="4310380" y="416559"/>
                </a:lnTo>
                <a:lnTo>
                  <a:pt x="4310380" y="0"/>
                </a:lnTo>
                <a:close/>
              </a:path>
            </a:pathLst>
          </a:custGeom>
          <a:solidFill>
            <a:srgbClr val="0915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587" y="2323464"/>
            <a:ext cx="4370070" cy="136525"/>
          </a:xfrm>
          <a:custGeom>
            <a:avLst/>
            <a:gdLst/>
            <a:ahLst/>
            <a:cxnLst/>
            <a:rect l="l" t="t" r="r" b="b"/>
            <a:pathLst>
              <a:path w="4370070" h="136525">
                <a:moveTo>
                  <a:pt x="4370070" y="0"/>
                </a:moveTo>
                <a:lnTo>
                  <a:pt x="0" y="0"/>
                </a:lnTo>
                <a:lnTo>
                  <a:pt x="0" y="136525"/>
                </a:lnTo>
                <a:lnTo>
                  <a:pt x="4370070" y="136525"/>
                </a:lnTo>
                <a:lnTo>
                  <a:pt x="4370070" y="0"/>
                </a:lnTo>
                <a:close/>
              </a:path>
            </a:pathLst>
          </a:custGeom>
          <a:solidFill>
            <a:srgbClr val="0D7A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0" y="415924"/>
            <a:ext cx="4373245" cy="6350"/>
          </a:xfrm>
          <a:custGeom>
            <a:avLst/>
            <a:gdLst/>
            <a:ahLst/>
            <a:cxnLst/>
            <a:rect l="l" t="t" r="r" b="b"/>
            <a:pathLst>
              <a:path w="4373245" h="6350">
                <a:moveTo>
                  <a:pt x="0" y="6350"/>
                </a:moveTo>
                <a:lnTo>
                  <a:pt x="4373245" y="6350"/>
                </a:lnTo>
                <a:lnTo>
                  <a:pt x="4373245" y="0"/>
                </a:lnTo>
                <a:lnTo>
                  <a:pt x="0" y="0"/>
                </a:lnTo>
                <a:lnTo>
                  <a:pt x="0" y="6350"/>
                </a:lnTo>
                <a:close/>
              </a:path>
            </a:pathLst>
          </a:custGeom>
          <a:solidFill>
            <a:srgbClr val="0915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0" y="888"/>
            <a:ext cx="4373245" cy="2460625"/>
          </a:xfrm>
          <a:custGeom>
            <a:avLst/>
            <a:gdLst/>
            <a:ahLst/>
            <a:cxnLst/>
            <a:rect l="l" t="t" r="r" b="b"/>
            <a:pathLst>
              <a:path w="4373245" h="2460625">
                <a:moveTo>
                  <a:pt x="1587" y="0"/>
                </a:moveTo>
                <a:lnTo>
                  <a:pt x="1587" y="2460624"/>
                </a:lnTo>
              </a:path>
              <a:path w="4373245" h="2460625">
                <a:moveTo>
                  <a:pt x="4371594" y="0"/>
                </a:moveTo>
                <a:lnTo>
                  <a:pt x="4371594" y="2460624"/>
                </a:lnTo>
              </a:path>
              <a:path w="4373245" h="2460625">
                <a:moveTo>
                  <a:pt x="0" y="1650"/>
                </a:moveTo>
                <a:lnTo>
                  <a:pt x="4373245" y="1650"/>
                </a:lnTo>
              </a:path>
              <a:path w="4373245" h="2460625">
                <a:moveTo>
                  <a:pt x="0" y="2459100"/>
                </a:moveTo>
                <a:lnTo>
                  <a:pt x="4373245" y="24591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19075" y="566674"/>
            <a:ext cx="1905952" cy="1626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256472" y="566674"/>
            <a:ext cx="1905952" cy="1626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527" y="43382"/>
            <a:ext cx="2036445" cy="206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0367" y="560323"/>
            <a:ext cx="2148205" cy="60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89710" y="2291334"/>
            <a:ext cx="1402080" cy="123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19075" y="2291334"/>
            <a:ext cx="1007745" cy="123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154680" y="2291334"/>
            <a:ext cx="1007745" cy="123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7.png"/><Relationship Id="rId9" Type="http://schemas.openxmlformats.org/officeDocument/2006/relationships/image" Target="../media/image28.png"/><Relationship Id="rId10" Type="http://schemas.openxmlformats.org/officeDocument/2006/relationships/image" Target="../media/image9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34.png"/><Relationship Id="rId7" Type="http://schemas.openxmlformats.org/officeDocument/2006/relationships/image" Target="../media/image9.png"/><Relationship Id="rId8" Type="http://schemas.openxmlformats.org/officeDocument/2006/relationships/image" Target="../media/image35.png"/><Relationship Id="rId9" Type="http://schemas.openxmlformats.org/officeDocument/2006/relationships/image" Target="../media/image29.png"/><Relationship Id="rId10" Type="http://schemas.openxmlformats.org/officeDocument/2006/relationships/image" Target="../media/image36.png"/><Relationship Id="rId11" Type="http://schemas.openxmlformats.org/officeDocument/2006/relationships/image" Target="../media/image23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27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29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23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6.png"/><Relationship Id="rId19" Type="http://schemas.openxmlformats.org/officeDocument/2006/relationships/image" Target="../media/image51.png"/><Relationship Id="rId20" Type="http://schemas.openxmlformats.org/officeDocument/2006/relationships/image" Target="../media/image52.png"/><Relationship Id="rId21" Type="http://schemas.openxmlformats.org/officeDocument/2006/relationships/image" Target="../media/image5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56.png"/><Relationship Id="rId4" Type="http://schemas.openxmlformats.org/officeDocument/2006/relationships/image" Target="../media/image33.png"/><Relationship Id="rId5" Type="http://schemas.openxmlformats.org/officeDocument/2006/relationships/image" Target="../media/image57.png"/><Relationship Id="rId6" Type="http://schemas.openxmlformats.org/officeDocument/2006/relationships/image" Target="../media/image34.png"/><Relationship Id="rId7" Type="http://schemas.openxmlformats.org/officeDocument/2006/relationships/image" Target="../media/image58.png"/><Relationship Id="rId8" Type="http://schemas.openxmlformats.org/officeDocument/2006/relationships/image" Target="../media/image35.png"/><Relationship Id="rId9" Type="http://schemas.openxmlformats.org/officeDocument/2006/relationships/image" Target="../media/image59.png"/><Relationship Id="rId10" Type="http://schemas.openxmlformats.org/officeDocument/2006/relationships/image" Target="../media/image36.png"/><Relationship Id="rId11" Type="http://schemas.openxmlformats.org/officeDocument/2006/relationships/image" Target="../media/image60.png"/><Relationship Id="rId12" Type="http://schemas.openxmlformats.org/officeDocument/2006/relationships/image" Target="../media/image37.png"/><Relationship Id="rId13" Type="http://schemas.openxmlformats.org/officeDocument/2006/relationships/image" Target="../media/image6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59" y="3047"/>
            <a:ext cx="2752725" cy="2301875"/>
          </a:xfrm>
          <a:custGeom>
            <a:avLst/>
            <a:gdLst/>
            <a:ahLst/>
            <a:cxnLst/>
            <a:rect l="l" t="t" r="r" b="b"/>
            <a:pathLst>
              <a:path w="2752725" h="2301875">
                <a:moveTo>
                  <a:pt x="0" y="2301493"/>
                </a:moveTo>
                <a:lnTo>
                  <a:pt x="2752217" y="2301493"/>
                </a:lnTo>
                <a:lnTo>
                  <a:pt x="2752217" y="0"/>
                </a:lnTo>
                <a:lnTo>
                  <a:pt x="0" y="0"/>
                </a:lnTo>
                <a:lnTo>
                  <a:pt x="0" y="2301493"/>
                </a:lnTo>
                <a:close/>
              </a:path>
            </a:pathLst>
          </a:custGeom>
          <a:solidFill>
            <a:srgbClr val="09152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751454" y="-508"/>
            <a:ext cx="1621790" cy="2305050"/>
            <a:chOff x="2751454" y="-508"/>
            <a:chExt cx="1621790" cy="2305050"/>
          </a:xfrm>
        </p:grpSpPr>
        <p:sp>
          <p:nvSpPr>
            <p:cNvPr id="4" name="object 4" descr=""/>
            <p:cNvSpPr/>
            <p:nvPr/>
          </p:nvSpPr>
          <p:spPr>
            <a:xfrm>
              <a:off x="2754630" y="-508"/>
              <a:ext cx="1618615" cy="2305050"/>
            </a:xfrm>
            <a:custGeom>
              <a:avLst/>
              <a:gdLst/>
              <a:ahLst/>
              <a:cxnLst/>
              <a:rect l="l" t="t" r="r" b="b"/>
              <a:pathLst>
                <a:path w="1618614" h="2305050">
                  <a:moveTo>
                    <a:pt x="1618234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48387" y="1270"/>
                  </a:lnTo>
                  <a:lnTo>
                    <a:pt x="48387" y="2305050"/>
                  </a:lnTo>
                  <a:lnTo>
                    <a:pt x="1618234" y="2305050"/>
                  </a:lnTo>
                  <a:lnTo>
                    <a:pt x="1618234" y="1270"/>
                  </a:lnTo>
                  <a:lnTo>
                    <a:pt x="1618234" y="0"/>
                  </a:lnTo>
                  <a:close/>
                </a:path>
              </a:pathLst>
            </a:custGeom>
            <a:solidFill>
              <a:srgbClr val="092C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51455" y="-508"/>
              <a:ext cx="52069" cy="2305050"/>
            </a:xfrm>
            <a:custGeom>
              <a:avLst/>
              <a:gdLst/>
              <a:ahLst/>
              <a:cxnLst/>
              <a:rect l="l" t="t" r="r" b="b"/>
              <a:pathLst>
                <a:path w="52069" h="2305050">
                  <a:moveTo>
                    <a:pt x="51562" y="1270"/>
                  </a:moveTo>
                  <a:lnTo>
                    <a:pt x="47752" y="1270"/>
                  </a:lnTo>
                  <a:lnTo>
                    <a:pt x="47752" y="0"/>
                  </a:lnTo>
                  <a:lnTo>
                    <a:pt x="3175" y="0"/>
                  </a:lnTo>
                  <a:lnTo>
                    <a:pt x="3175" y="1270"/>
                  </a:lnTo>
                  <a:lnTo>
                    <a:pt x="0" y="1270"/>
                  </a:lnTo>
                  <a:lnTo>
                    <a:pt x="0" y="2305050"/>
                  </a:lnTo>
                  <a:lnTo>
                    <a:pt x="51562" y="2305050"/>
                  </a:lnTo>
                  <a:lnTo>
                    <a:pt x="51562" y="127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6774" y="216407"/>
              <a:ext cx="749808" cy="74980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6334" y="1094231"/>
              <a:ext cx="259079" cy="26212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5022" y="1490471"/>
              <a:ext cx="240791" cy="2377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3014" y="1664207"/>
              <a:ext cx="240791" cy="23774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215519" y="283463"/>
            <a:ext cx="926465" cy="155575"/>
          </a:xfrm>
          <a:prstGeom prst="rect">
            <a:avLst/>
          </a:prstGeom>
          <a:solidFill>
            <a:srgbClr val="0D7A8F"/>
          </a:solidFill>
        </p:spPr>
        <p:txBody>
          <a:bodyPr wrap="square" lIns="0" tIns="4191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330"/>
              </a:spcBef>
            </a:pPr>
            <a:r>
              <a:rPr dirty="0" sz="400" b="1">
                <a:solidFill>
                  <a:srgbClr val="FFFFFF"/>
                </a:solidFill>
                <a:latin typeface="Arial"/>
                <a:cs typeface="Arial"/>
              </a:rPr>
              <a:t>AWS</a:t>
            </a:r>
            <a:r>
              <a:rPr dirty="0" sz="4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00" b="1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4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00" spc="-10" b="1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0"/>
              </a:spcBef>
            </a:pPr>
            <a:r>
              <a:rPr dirty="0"/>
              <a:t>Smart</a:t>
            </a:r>
            <a:r>
              <a:rPr dirty="0" spc="-20"/>
              <a:t> </a:t>
            </a:r>
            <a:r>
              <a:rPr dirty="0" spc="-10"/>
              <a:t>Healthcare </a:t>
            </a:r>
            <a:r>
              <a:rPr dirty="0"/>
              <a:t>Analytics</a:t>
            </a:r>
            <a:r>
              <a:rPr dirty="0" spc="-25"/>
              <a:t> </a:t>
            </a:r>
            <a:r>
              <a:rPr dirty="0" spc="-10"/>
              <a:t>Platform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0367" y="1429003"/>
            <a:ext cx="1358265" cy="227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AI-</a:t>
            </a:r>
            <a:r>
              <a:rPr dirty="0" sz="650" spc="-10">
                <a:solidFill>
                  <a:srgbClr val="A8CEDD"/>
                </a:solidFill>
                <a:latin typeface="Arial MT"/>
                <a:cs typeface="Arial MT"/>
              </a:rPr>
              <a:t>Powered</a:t>
            </a:r>
            <a:r>
              <a:rPr dirty="0" sz="650" spc="6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Patient</a:t>
            </a:r>
            <a:r>
              <a:rPr dirty="0" sz="650" spc="2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Data</a:t>
            </a:r>
            <a:r>
              <a:rPr dirty="0" sz="650" spc="-3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Analysis </a:t>
            </a:r>
            <a:r>
              <a:rPr dirty="0" sz="650" spc="-50">
                <a:solidFill>
                  <a:srgbClr val="A8CEDD"/>
                </a:solidFill>
                <a:latin typeface="Arial MT"/>
                <a:cs typeface="Arial MT"/>
              </a:rPr>
              <a:t>&amp;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Clinical</a:t>
            </a:r>
            <a:r>
              <a:rPr dirty="0" sz="650" spc="-1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Decision</a:t>
            </a:r>
            <a:r>
              <a:rPr dirty="0" sz="650" spc="-2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Support</a:t>
            </a:r>
            <a:r>
              <a:rPr dirty="0" sz="650" spc="-15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A8CEDD"/>
                </a:solidFill>
                <a:latin typeface="Arial MT"/>
                <a:cs typeface="Arial MT"/>
              </a:rPr>
              <a:t>on</a:t>
            </a:r>
            <a:r>
              <a:rPr dirty="0" sz="650" spc="-40">
                <a:solidFill>
                  <a:srgbClr val="A8CEDD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A8CEDD"/>
                </a:solidFill>
                <a:latin typeface="Arial MT"/>
                <a:cs typeface="Arial MT"/>
              </a:rPr>
              <a:t>AWS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15519" y="1789175"/>
            <a:ext cx="774065" cy="158115"/>
            <a:chOff x="215519" y="1789175"/>
            <a:chExt cx="774065" cy="158115"/>
          </a:xfrm>
        </p:grpSpPr>
        <p:sp>
          <p:nvSpPr>
            <p:cNvPr id="14" name="object 14" descr=""/>
            <p:cNvSpPr/>
            <p:nvPr/>
          </p:nvSpPr>
          <p:spPr>
            <a:xfrm>
              <a:off x="218567" y="1792236"/>
              <a:ext cx="768350" cy="152400"/>
            </a:xfrm>
            <a:custGeom>
              <a:avLst/>
              <a:gdLst/>
              <a:ahLst/>
              <a:cxnLst/>
              <a:rect l="l" t="t" r="r" b="b"/>
              <a:pathLst>
                <a:path w="768350" h="152400">
                  <a:moveTo>
                    <a:pt x="767969" y="0"/>
                  </a:moveTo>
                  <a:lnTo>
                    <a:pt x="0" y="0"/>
                  </a:lnTo>
                  <a:lnTo>
                    <a:pt x="0" y="151879"/>
                  </a:lnTo>
                  <a:lnTo>
                    <a:pt x="767969" y="151879"/>
                  </a:lnTo>
                  <a:lnTo>
                    <a:pt x="767969" y="0"/>
                  </a:lnTo>
                  <a:close/>
                </a:path>
              </a:pathLst>
            </a:custGeom>
            <a:solidFill>
              <a:srgbClr val="1228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5519" y="1789175"/>
              <a:ext cx="774065" cy="158115"/>
            </a:xfrm>
            <a:custGeom>
              <a:avLst/>
              <a:gdLst/>
              <a:ahLst/>
              <a:cxnLst/>
              <a:rect l="l" t="t" r="r" b="b"/>
              <a:pathLst>
                <a:path w="774065" h="158114">
                  <a:moveTo>
                    <a:pt x="774065" y="3810"/>
                  </a:moveTo>
                  <a:lnTo>
                    <a:pt x="771017" y="0"/>
                  </a:lnTo>
                  <a:lnTo>
                    <a:pt x="766445" y="0"/>
                  </a:lnTo>
                  <a:lnTo>
                    <a:pt x="766445" y="3810"/>
                  </a:lnTo>
                  <a:lnTo>
                    <a:pt x="766445" y="7747"/>
                  </a:lnTo>
                  <a:lnTo>
                    <a:pt x="766445" y="150202"/>
                  </a:lnTo>
                  <a:lnTo>
                    <a:pt x="7632" y="150202"/>
                  </a:lnTo>
                  <a:lnTo>
                    <a:pt x="7632" y="7747"/>
                  </a:lnTo>
                  <a:lnTo>
                    <a:pt x="766445" y="7747"/>
                  </a:lnTo>
                  <a:lnTo>
                    <a:pt x="766445" y="3898"/>
                  </a:lnTo>
                  <a:lnTo>
                    <a:pt x="7632" y="3898"/>
                  </a:lnTo>
                  <a:lnTo>
                    <a:pt x="766445" y="3810"/>
                  </a:lnTo>
                  <a:lnTo>
                    <a:pt x="766445" y="0"/>
                  </a:lnTo>
                  <a:lnTo>
                    <a:pt x="3149" y="0"/>
                  </a:lnTo>
                  <a:lnTo>
                    <a:pt x="0" y="3810"/>
                  </a:lnTo>
                  <a:lnTo>
                    <a:pt x="0" y="154051"/>
                  </a:lnTo>
                  <a:lnTo>
                    <a:pt x="2832" y="157734"/>
                  </a:lnTo>
                  <a:lnTo>
                    <a:pt x="770255" y="157861"/>
                  </a:lnTo>
                  <a:lnTo>
                    <a:pt x="771271" y="157734"/>
                  </a:lnTo>
                  <a:lnTo>
                    <a:pt x="773049" y="156845"/>
                  </a:lnTo>
                  <a:lnTo>
                    <a:pt x="773938" y="155067"/>
                  </a:lnTo>
                  <a:lnTo>
                    <a:pt x="774065" y="154051"/>
                  </a:lnTo>
                  <a:lnTo>
                    <a:pt x="774065" y="150241"/>
                  </a:lnTo>
                  <a:lnTo>
                    <a:pt x="774065" y="7747"/>
                  </a:lnTo>
                  <a:lnTo>
                    <a:pt x="774065" y="381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06120" y="1826513"/>
            <a:ext cx="3810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12A8BD"/>
                </a:solidFill>
                <a:latin typeface="Arial MT"/>
                <a:cs typeface="Arial MT"/>
              </a:rPr>
              <a:t>Amazon</a:t>
            </a:r>
            <a:r>
              <a:rPr dirty="0" sz="350" spc="8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350" spc="-10">
                <a:solidFill>
                  <a:srgbClr val="12A8BD"/>
                </a:solidFill>
                <a:latin typeface="Arial MT"/>
                <a:cs typeface="Arial MT"/>
              </a:rPr>
              <a:t>Bedrock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023238" y="1789175"/>
            <a:ext cx="774065" cy="158115"/>
            <a:chOff x="1023238" y="1789175"/>
            <a:chExt cx="774065" cy="158115"/>
          </a:xfrm>
        </p:grpSpPr>
        <p:sp>
          <p:nvSpPr>
            <p:cNvPr id="18" name="object 18" descr=""/>
            <p:cNvSpPr/>
            <p:nvPr/>
          </p:nvSpPr>
          <p:spPr>
            <a:xfrm>
              <a:off x="1029334" y="1792236"/>
              <a:ext cx="765175" cy="152400"/>
            </a:xfrm>
            <a:custGeom>
              <a:avLst/>
              <a:gdLst/>
              <a:ahLst/>
              <a:cxnLst/>
              <a:rect l="l" t="t" r="r" b="b"/>
              <a:pathLst>
                <a:path w="765175" h="152400">
                  <a:moveTo>
                    <a:pt x="764921" y="0"/>
                  </a:moveTo>
                  <a:lnTo>
                    <a:pt x="0" y="0"/>
                  </a:lnTo>
                  <a:lnTo>
                    <a:pt x="0" y="151879"/>
                  </a:lnTo>
                  <a:lnTo>
                    <a:pt x="764921" y="151879"/>
                  </a:lnTo>
                  <a:lnTo>
                    <a:pt x="764921" y="0"/>
                  </a:lnTo>
                  <a:close/>
                </a:path>
              </a:pathLst>
            </a:custGeom>
            <a:solidFill>
              <a:srgbClr val="1228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23239" y="1789175"/>
              <a:ext cx="774065" cy="158115"/>
            </a:xfrm>
            <a:custGeom>
              <a:avLst/>
              <a:gdLst/>
              <a:ahLst/>
              <a:cxnLst/>
              <a:rect l="l" t="t" r="r" b="b"/>
              <a:pathLst>
                <a:path w="774064" h="158114">
                  <a:moveTo>
                    <a:pt x="773938" y="3810"/>
                  </a:moveTo>
                  <a:lnTo>
                    <a:pt x="770890" y="0"/>
                  </a:lnTo>
                  <a:lnTo>
                    <a:pt x="766318" y="0"/>
                  </a:lnTo>
                  <a:lnTo>
                    <a:pt x="766318" y="3810"/>
                  </a:lnTo>
                  <a:lnTo>
                    <a:pt x="766318" y="7747"/>
                  </a:lnTo>
                  <a:lnTo>
                    <a:pt x="766318" y="150202"/>
                  </a:lnTo>
                  <a:lnTo>
                    <a:pt x="7493" y="150202"/>
                  </a:lnTo>
                  <a:lnTo>
                    <a:pt x="7493" y="7747"/>
                  </a:lnTo>
                  <a:lnTo>
                    <a:pt x="766318" y="7747"/>
                  </a:lnTo>
                  <a:lnTo>
                    <a:pt x="766318" y="3898"/>
                  </a:lnTo>
                  <a:lnTo>
                    <a:pt x="7493" y="3898"/>
                  </a:lnTo>
                  <a:lnTo>
                    <a:pt x="766318" y="3810"/>
                  </a:lnTo>
                  <a:lnTo>
                    <a:pt x="766318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921"/>
                  </a:lnTo>
                  <a:lnTo>
                    <a:pt x="0" y="155067"/>
                  </a:lnTo>
                  <a:lnTo>
                    <a:pt x="1016" y="156845"/>
                  </a:lnTo>
                  <a:lnTo>
                    <a:pt x="2667" y="157734"/>
                  </a:lnTo>
                  <a:lnTo>
                    <a:pt x="770128" y="157861"/>
                  </a:lnTo>
                  <a:lnTo>
                    <a:pt x="771144" y="157734"/>
                  </a:lnTo>
                  <a:lnTo>
                    <a:pt x="772922" y="156845"/>
                  </a:lnTo>
                  <a:lnTo>
                    <a:pt x="773811" y="155067"/>
                  </a:lnTo>
                  <a:lnTo>
                    <a:pt x="773938" y="154051"/>
                  </a:lnTo>
                  <a:lnTo>
                    <a:pt x="773938" y="150241"/>
                  </a:lnTo>
                  <a:lnTo>
                    <a:pt x="773938" y="7747"/>
                  </a:lnTo>
                  <a:lnTo>
                    <a:pt x="773938" y="381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167511" y="1826513"/>
            <a:ext cx="465455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12A8BD"/>
                </a:solidFill>
                <a:latin typeface="Arial MT"/>
                <a:cs typeface="Arial MT"/>
              </a:rPr>
              <a:t>Comprehend</a:t>
            </a:r>
            <a:r>
              <a:rPr dirty="0" sz="350" spc="10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350" spc="-10">
                <a:solidFill>
                  <a:srgbClr val="12A8BD"/>
                </a:solidFill>
                <a:latin typeface="Arial MT"/>
                <a:cs typeface="Arial MT"/>
              </a:rPr>
              <a:t>Medical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34007" y="1789175"/>
            <a:ext cx="770890" cy="158115"/>
            <a:chOff x="1834007" y="1789175"/>
            <a:chExt cx="770890" cy="158115"/>
          </a:xfrm>
        </p:grpSpPr>
        <p:sp>
          <p:nvSpPr>
            <p:cNvPr id="22" name="object 22" descr=""/>
            <p:cNvSpPr/>
            <p:nvPr/>
          </p:nvSpPr>
          <p:spPr>
            <a:xfrm>
              <a:off x="1837055" y="1792236"/>
              <a:ext cx="765175" cy="152400"/>
            </a:xfrm>
            <a:custGeom>
              <a:avLst/>
              <a:gdLst/>
              <a:ahLst/>
              <a:cxnLst/>
              <a:rect l="l" t="t" r="r" b="b"/>
              <a:pathLst>
                <a:path w="765175" h="152400">
                  <a:moveTo>
                    <a:pt x="764920" y="0"/>
                  </a:moveTo>
                  <a:lnTo>
                    <a:pt x="0" y="0"/>
                  </a:lnTo>
                  <a:lnTo>
                    <a:pt x="0" y="151879"/>
                  </a:lnTo>
                  <a:lnTo>
                    <a:pt x="764920" y="151879"/>
                  </a:lnTo>
                  <a:lnTo>
                    <a:pt x="764920" y="0"/>
                  </a:lnTo>
                  <a:close/>
                </a:path>
              </a:pathLst>
            </a:custGeom>
            <a:solidFill>
              <a:srgbClr val="1228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34007" y="1789175"/>
              <a:ext cx="770890" cy="158115"/>
            </a:xfrm>
            <a:custGeom>
              <a:avLst/>
              <a:gdLst/>
              <a:ahLst/>
              <a:cxnLst/>
              <a:rect l="l" t="t" r="r" b="b"/>
              <a:pathLst>
                <a:path w="770889" h="158114">
                  <a:moveTo>
                    <a:pt x="770763" y="2921"/>
                  </a:moveTo>
                  <a:lnTo>
                    <a:pt x="769874" y="1143"/>
                  </a:lnTo>
                  <a:lnTo>
                    <a:pt x="767842" y="0"/>
                  </a:lnTo>
                  <a:lnTo>
                    <a:pt x="763397" y="0"/>
                  </a:lnTo>
                  <a:lnTo>
                    <a:pt x="763397" y="3810"/>
                  </a:lnTo>
                  <a:lnTo>
                    <a:pt x="763397" y="154051"/>
                  </a:lnTo>
                  <a:lnTo>
                    <a:pt x="763358" y="150202"/>
                  </a:lnTo>
                  <a:lnTo>
                    <a:pt x="7493" y="150202"/>
                  </a:lnTo>
                  <a:lnTo>
                    <a:pt x="7493" y="7747"/>
                  </a:lnTo>
                  <a:lnTo>
                    <a:pt x="763358" y="7747"/>
                  </a:lnTo>
                  <a:lnTo>
                    <a:pt x="763358" y="3898"/>
                  </a:lnTo>
                  <a:lnTo>
                    <a:pt x="7493" y="3898"/>
                  </a:lnTo>
                  <a:lnTo>
                    <a:pt x="763397" y="3810"/>
                  </a:lnTo>
                  <a:lnTo>
                    <a:pt x="763397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921"/>
                  </a:lnTo>
                  <a:lnTo>
                    <a:pt x="0" y="155067"/>
                  </a:lnTo>
                  <a:lnTo>
                    <a:pt x="1016" y="156845"/>
                  </a:lnTo>
                  <a:lnTo>
                    <a:pt x="2667" y="157734"/>
                  </a:lnTo>
                  <a:lnTo>
                    <a:pt x="767080" y="157861"/>
                  </a:lnTo>
                  <a:lnTo>
                    <a:pt x="768096" y="157734"/>
                  </a:lnTo>
                  <a:lnTo>
                    <a:pt x="769874" y="156845"/>
                  </a:lnTo>
                  <a:lnTo>
                    <a:pt x="770763" y="155067"/>
                  </a:lnTo>
                  <a:lnTo>
                    <a:pt x="770763" y="154051"/>
                  </a:lnTo>
                  <a:lnTo>
                    <a:pt x="770763" y="150241"/>
                  </a:lnTo>
                  <a:lnTo>
                    <a:pt x="770763" y="7747"/>
                  </a:lnTo>
                  <a:lnTo>
                    <a:pt x="770763" y="3810"/>
                  </a:lnTo>
                  <a:lnTo>
                    <a:pt x="770763" y="2921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051430" y="1826132"/>
            <a:ext cx="30734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10">
                <a:solidFill>
                  <a:srgbClr val="12A8BD"/>
                </a:solidFill>
                <a:latin typeface="Arial MT"/>
                <a:cs typeface="Arial MT"/>
              </a:rPr>
              <a:t>HealthImaging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15519" y="1975103"/>
            <a:ext cx="774065" cy="155575"/>
            <a:chOff x="215519" y="1975103"/>
            <a:chExt cx="774065" cy="155575"/>
          </a:xfrm>
        </p:grpSpPr>
        <p:sp>
          <p:nvSpPr>
            <p:cNvPr id="26" name="object 26" descr=""/>
            <p:cNvSpPr/>
            <p:nvPr/>
          </p:nvSpPr>
          <p:spPr>
            <a:xfrm>
              <a:off x="218567" y="1978151"/>
              <a:ext cx="768350" cy="149225"/>
            </a:xfrm>
            <a:custGeom>
              <a:avLst/>
              <a:gdLst/>
              <a:ahLst/>
              <a:cxnLst/>
              <a:rect l="l" t="t" r="r" b="b"/>
              <a:pathLst>
                <a:path w="768350" h="149225">
                  <a:moveTo>
                    <a:pt x="767969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767969" y="149225"/>
                  </a:lnTo>
                  <a:lnTo>
                    <a:pt x="767969" y="0"/>
                  </a:lnTo>
                  <a:close/>
                </a:path>
              </a:pathLst>
            </a:custGeom>
            <a:solidFill>
              <a:srgbClr val="1228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5519" y="1975103"/>
              <a:ext cx="774065" cy="155575"/>
            </a:xfrm>
            <a:custGeom>
              <a:avLst/>
              <a:gdLst/>
              <a:ahLst/>
              <a:cxnLst/>
              <a:rect l="l" t="t" r="r" b="b"/>
              <a:pathLst>
                <a:path w="774065" h="155575">
                  <a:moveTo>
                    <a:pt x="774065" y="3810"/>
                  </a:moveTo>
                  <a:lnTo>
                    <a:pt x="771017" y="0"/>
                  </a:lnTo>
                  <a:lnTo>
                    <a:pt x="766445" y="0"/>
                  </a:lnTo>
                  <a:lnTo>
                    <a:pt x="766445" y="3810"/>
                  </a:lnTo>
                  <a:lnTo>
                    <a:pt x="766445" y="7620"/>
                  </a:lnTo>
                  <a:lnTo>
                    <a:pt x="766445" y="147980"/>
                  </a:lnTo>
                  <a:lnTo>
                    <a:pt x="7632" y="147980"/>
                  </a:lnTo>
                  <a:lnTo>
                    <a:pt x="7632" y="7620"/>
                  </a:lnTo>
                  <a:lnTo>
                    <a:pt x="766445" y="7620"/>
                  </a:lnTo>
                  <a:lnTo>
                    <a:pt x="766445" y="3835"/>
                  </a:lnTo>
                  <a:lnTo>
                    <a:pt x="7632" y="3835"/>
                  </a:lnTo>
                  <a:lnTo>
                    <a:pt x="766445" y="3810"/>
                  </a:lnTo>
                  <a:lnTo>
                    <a:pt x="766445" y="0"/>
                  </a:lnTo>
                  <a:lnTo>
                    <a:pt x="3149" y="0"/>
                  </a:lnTo>
                  <a:lnTo>
                    <a:pt x="0" y="3810"/>
                  </a:lnTo>
                  <a:lnTo>
                    <a:pt x="0" y="151765"/>
                  </a:lnTo>
                  <a:lnTo>
                    <a:pt x="139" y="152654"/>
                  </a:lnTo>
                  <a:lnTo>
                    <a:pt x="1117" y="154432"/>
                  </a:lnTo>
                  <a:lnTo>
                    <a:pt x="2832" y="155321"/>
                  </a:lnTo>
                  <a:lnTo>
                    <a:pt x="771271" y="155321"/>
                  </a:lnTo>
                  <a:lnTo>
                    <a:pt x="773049" y="154432"/>
                  </a:lnTo>
                  <a:lnTo>
                    <a:pt x="773557" y="153543"/>
                  </a:lnTo>
                  <a:lnTo>
                    <a:pt x="774065" y="151765"/>
                  </a:lnTo>
                  <a:lnTo>
                    <a:pt x="774065" y="147955"/>
                  </a:lnTo>
                  <a:lnTo>
                    <a:pt x="774065" y="7620"/>
                  </a:lnTo>
                  <a:lnTo>
                    <a:pt x="774065" y="381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53364" y="2009901"/>
            <a:ext cx="27686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10">
                <a:solidFill>
                  <a:srgbClr val="12A8BD"/>
                </a:solidFill>
                <a:latin typeface="Arial MT"/>
                <a:cs typeface="Arial MT"/>
              </a:rPr>
              <a:t>OpenSearch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023238" y="1975103"/>
            <a:ext cx="774065" cy="155575"/>
            <a:chOff x="1023238" y="1975103"/>
            <a:chExt cx="774065" cy="155575"/>
          </a:xfrm>
        </p:grpSpPr>
        <p:sp>
          <p:nvSpPr>
            <p:cNvPr id="30" name="object 30" descr=""/>
            <p:cNvSpPr/>
            <p:nvPr/>
          </p:nvSpPr>
          <p:spPr>
            <a:xfrm>
              <a:off x="1029334" y="1978151"/>
              <a:ext cx="765175" cy="149225"/>
            </a:xfrm>
            <a:custGeom>
              <a:avLst/>
              <a:gdLst/>
              <a:ahLst/>
              <a:cxnLst/>
              <a:rect l="l" t="t" r="r" b="b"/>
              <a:pathLst>
                <a:path w="765175" h="149225">
                  <a:moveTo>
                    <a:pt x="764921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764921" y="149225"/>
                  </a:lnTo>
                  <a:lnTo>
                    <a:pt x="764921" y="0"/>
                  </a:lnTo>
                  <a:close/>
                </a:path>
              </a:pathLst>
            </a:custGeom>
            <a:solidFill>
              <a:srgbClr val="1228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23239" y="1975103"/>
              <a:ext cx="774065" cy="155575"/>
            </a:xfrm>
            <a:custGeom>
              <a:avLst/>
              <a:gdLst/>
              <a:ahLst/>
              <a:cxnLst/>
              <a:rect l="l" t="t" r="r" b="b"/>
              <a:pathLst>
                <a:path w="774064" h="155575">
                  <a:moveTo>
                    <a:pt x="773938" y="3810"/>
                  </a:moveTo>
                  <a:lnTo>
                    <a:pt x="770890" y="0"/>
                  </a:lnTo>
                  <a:lnTo>
                    <a:pt x="766318" y="0"/>
                  </a:lnTo>
                  <a:lnTo>
                    <a:pt x="766318" y="3810"/>
                  </a:lnTo>
                  <a:lnTo>
                    <a:pt x="766318" y="7620"/>
                  </a:lnTo>
                  <a:lnTo>
                    <a:pt x="766318" y="147980"/>
                  </a:lnTo>
                  <a:lnTo>
                    <a:pt x="7493" y="147980"/>
                  </a:lnTo>
                  <a:lnTo>
                    <a:pt x="7493" y="7620"/>
                  </a:lnTo>
                  <a:lnTo>
                    <a:pt x="766318" y="7620"/>
                  </a:lnTo>
                  <a:lnTo>
                    <a:pt x="766318" y="3835"/>
                  </a:lnTo>
                  <a:lnTo>
                    <a:pt x="7493" y="3835"/>
                  </a:lnTo>
                  <a:lnTo>
                    <a:pt x="766318" y="3810"/>
                  </a:lnTo>
                  <a:lnTo>
                    <a:pt x="766318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152654"/>
                  </a:lnTo>
                  <a:lnTo>
                    <a:pt x="1016" y="154432"/>
                  </a:lnTo>
                  <a:lnTo>
                    <a:pt x="2667" y="155321"/>
                  </a:lnTo>
                  <a:lnTo>
                    <a:pt x="771144" y="155321"/>
                  </a:lnTo>
                  <a:lnTo>
                    <a:pt x="772922" y="154432"/>
                  </a:lnTo>
                  <a:lnTo>
                    <a:pt x="773430" y="153543"/>
                  </a:lnTo>
                  <a:lnTo>
                    <a:pt x="773938" y="151765"/>
                  </a:lnTo>
                  <a:lnTo>
                    <a:pt x="773938" y="147955"/>
                  </a:lnTo>
                  <a:lnTo>
                    <a:pt x="773938" y="7620"/>
                  </a:lnTo>
                  <a:lnTo>
                    <a:pt x="773938" y="381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221486" y="2009901"/>
            <a:ext cx="35814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12A8BD"/>
                </a:solidFill>
                <a:latin typeface="Arial MT"/>
                <a:cs typeface="Arial MT"/>
              </a:rPr>
              <a:t>S3</a:t>
            </a:r>
            <a:r>
              <a:rPr dirty="0" sz="350" spc="2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12A8BD"/>
                </a:solidFill>
                <a:latin typeface="Arial MT"/>
                <a:cs typeface="Arial MT"/>
              </a:rPr>
              <a:t>+</a:t>
            </a:r>
            <a:r>
              <a:rPr dirty="0" sz="350" spc="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350" spc="-10">
                <a:solidFill>
                  <a:srgbClr val="12A8BD"/>
                </a:solidFill>
                <a:latin typeface="Arial MT"/>
                <a:cs typeface="Arial MT"/>
              </a:rPr>
              <a:t>CloudFront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2159" y="2300731"/>
            <a:ext cx="4371340" cy="162560"/>
          </a:xfrm>
          <a:custGeom>
            <a:avLst/>
            <a:gdLst/>
            <a:ahLst/>
            <a:cxnLst/>
            <a:rect l="l" t="t" r="r" b="b"/>
            <a:pathLst>
              <a:path w="4371340" h="162560">
                <a:moveTo>
                  <a:pt x="4370832" y="508"/>
                </a:moveTo>
                <a:lnTo>
                  <a:pt x="4370324" y="508"/>
                </a:lnTo>
                <a:lnTo>
                  <a:pt x="4370324" y="0"/>
                </a:lnTo>
                <a:lnTo>
                  <a:pt x="190" y="0"/>
                </a:lnTo>
                <a:lnTo>
                  <a:pt x="190" y="508"/>
                </a:lnTo>
                <a:lnTo>
                  <a:pt x="0" y="508"/>
                </a:lnTo>
                <a:lnTo>
                  <a:pt x="0" y="3810"/>
                </a:lnTo>
                <a:lnTo>
                  <a:pt x="0" y="159004"/>
                </a:lnTo>
                <a:lnTo>
                  <a:pt x="0" y="162560"/>
                </a:lnTo>
                <a:lnTo>
                  <a:pt x="4370578" y="162560"/>
                </a:lnTo>
                <a:lnTo>
                  <a:pt x="4370578" y="159004"/>
                </a:lnTo>
                <a:lnTo>
                  <a:pt x="4370832" y="159004"/>
                </a:lnTo>
                <a:lnTo>
                  <a:pt x="4370832" y="508"/>
                </a:lnTo>
                <a:close/>
              </a:path>
            </a:pathLst>
          </a:custGeom>
          <a:solidFill>
            <a:srgbClr val="0D7A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026033" y="2335783"/>
            <a:ext cx="2334895" cy="87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Bedrock</a:t>
            </a:r>
            <a:r>
              <a:rPr dirty="0" sz="4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Comprehend</a:t>
            </a:r>
            <a:r>
              <a:rPr dirty="0" sz="4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Medical</a:t>
            </a:r>
            <a:r>
              <a:rPr dirty="0" sz="4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HealthImaging</a:t>
            </a:r>
            <a:r>
              <a:rPr dirty="0" sz="4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OpenSearch</a:t>
            </a:r>
            <a:r>
              <a:rPr dirty="0" sz="40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400" spc="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4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CloudFront</a:t>
            </a:r>
            <a:r>
              <a:rPr dirty="0" sz="400" spc="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 spc="-25">
                <a:solidFill>
                  <a:srgbClr val="FFFFFF"/>
                </a:solidFill>
                <a:latin typeface="Arial MT"/>
                <a:cs typeface="Arial MT"/>
              </a:rPr>
              <a:t>EC2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3683" y="4571"/>
            <a:ext cx="4370705" cy="2456815"/>
          </a:xfrm>
          <a:custGeom>
            <a:avLst/>
            <a:gdLst/>
            <a:ahLst/>
            <a:cxnLst/>
            <a:rect l="l" t="t" r="r" b="b"/>
            <a:pathLst>
              <a:path w="4370705" h="2456815">
                <a:moveTo>
                  <a:pt x="0" y="2456307"/>
                </a:moveTo>
                <a:lnTo>
                  <a:pt x="4370578" y="2456307"/>
                </a:lnTo>
                <a:lnTo>
                  <a:pt x="4370578" y="0"/>
                </a:lnTo>
                <a:lnTo>
                  <a:pt x="0" y="0"/>
                </a:lnTo>
                <a:lnTo>
                  <a:pt x="0" y="245630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4373245" cy="2459990"/>
            <a:chOff x="0" y="0"/>
            <a:chExt cx="4373245" cy="2459990"/>
          </a:xfrm>
        </p:grpSpPr>
        <p:sp>
          <p:nvSpPr>
            <p:cNvPr id="3" name="object 3" descr=""/>
            <p:cNvSpPr/>
            <p:nvPr/>
          </p:nvSpPr>
          <p:spPr>
            <a:xfrm>
              <a:off x="2159" y="418210"/>
              <a:ext cx="4370705" cy="1910714"/>
            </a:xfrm>
            <a:custGeom>
              <a:avLst/>
              <a:gdLst/>
              <a:ahLst/>
              <a:cxnLst/>
              <a:rect l="l" t="t" r="r" b="b"/>
              <a:pathLst>
                <a:path w="4370705" h="1910714">
                  <a:moveTo>
                    <a:pt x="4370578" y="0"/>
                  </a:moveTo>
                  <a:lnTo>
                    <a:pt x="0" y="0"/>
                  </a:lnTo>
                  <a:lnTo>
                    <a:pt x="0" y="1910588"/>
                  </a:lnTo>
                  <a:lnTo>
                    <a:pt x="4370578" y="1910588"/>
                  </a:lnTo>
                  <a:lnTo>
                    <a:pt x="4370578" y="0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59" y="3682"/>
              <a:ext cx="63500" cy="417195"/>
            </a:xfrm>
            <a:custGeom>
              <a:avLst/>
              <a:gdLst/>
              <a:ahLst/>
              <a:cxnLst/>
              <a:rect l="l" t="t" r="r" b="b"/>
              <a:pathLst>
                <a:path w="63500" h="417195">
                  <a:moveTo>
                    <a:pt x="63500" y="413131"/>
                  </a:moveTo>
                  <a:lnTo>
                    <a:pt x="59118" y="413131"/>
                  </a:lnTo>
                  <a:lnTo>
                    <a:pt x="59118" y="409448"/>
                  </a:lnTo>
                  <a:lnTo>
                    <a:pt x="59118" y="3810"/>
                  </a:lnTo>
                  <a:lnTo>
                    <a:pt x="59118" y="0"/>
                  </a:lnTo>
                  <a:lnTo>
                    <a:pt x="56172" y="0"/>
                  </a:lnTo>
                  <a:lnTo>
                    <a:pt x="56172" y="3810"/>
                  </a:lnTo>
                  <a:lnTo>
                    <a:pt x="56172" y="409448"/>
                  </a:lnTo>
                  <a:lnTo>
                    <a:pt x="56172" y="413131"/>
                  </a:lnTo>
                  <a:lnTo>
                    <a:pt x="3733" y="413131"/>
                  </a:lnTo>
                  <a:lnTo>
                    <a:pt x="0" y="409448"/>
                  </a:lnTo>
                  <a:lnTo>
                    <a:pt x="0" y="416941"/>
                  </a:lnTo>
                  <a:lnTo>
                    <a:pt x="59893" y="416941"/>
                  </a:lnTo>
                  <a:lnTo>
                    <a:pt x="60858" y="416814"/>
                  </a:lnTo>
                  <a:lnTo>
                    <a:pt x="61760" y="416433"/>
                  </a:lnTo>
                  <a:lnTo>
                    <a:pt x="62547" y="415925"/>
                  </a:lnTo>
                  <a:lnTo>
                    <a:pt x="63131" y="415036"/>
                  </a:lnTo>
                  <a:lnTo>
                    <a:pt x="63500" y="414147"/>
                  </a:lnTo>
                  <a:lnTo>
                    <a:pt x="63500" y="413131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31" y="424306"/>
              <a:ext cx="4111752" cy="13594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2847" y="457834"/>
              <a:ext cx="3962400" cy="1533525"/>
            </a:xfrm>
            <a:custGeom>
              <a:avLst/>
              <a:gdLst/>
              <a:ahLst/>
              <a:cxnLst/>
              <a:rect l="l" t="t" r="r" b="b"/>
              <a:pathLst>
                <a:path w="3962400" h="1533525">
                  <a:moveTo>
                    <a:pt x="51460" y="2794"/>
                  </a:moveTo>
                  <a:lnTo>
                    <a:pt x="51079" y="1905"/>
                  </a:lnTo>
                  <a:lnTo>
                    <a:pt x="49669" y="508"/>
                  </a:lnTo>
                  <a:lnTo>
                    <a:pt x="48437" y="0"/>
                  </a:lnTo>
                  <a:lnTo>
                    <a:pt x="3009" y="0"/>
                  </a:lnTo>
                  <a:lnTo>
                    <a:pt x="1790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1271016"/>
                  </a:lnTo>
                  <a:lnTo>
                    <a:pt x="1003" y="1272794"/>
                  </a:lnTo>
                  <a:lnTo>
                    <a:pt x="2717" y="1273683"/>
                  </a:lnTo>
                  <a:lnTo>
                    <a:pt x="48742" y="1273683"/>
                  </a:lnTo>
                  <a:lnTo>
                    <a:pt x="50469" y="1272794"/>
                  </a:lnTo>
                  <a:lnTo>
                    <a:pt x="51460" y="1271016"/>
                  </a:lnTo>
                  <a:lnTo>
                    <a:pt x="51460" y="2794"/>
                  </a:lnTo>
                  <a:close/>
                </a:path>
                <a:path w="3962400" h="1533525">
                  <a:moveTo>
                    <a:pt x="3962146" y="1334770"/>
                  </a:moveTo>
                  <a:lnTo>
                    <a:pt x="3961765" y="1333881"/>
                  </a:lnTo>
                  <a:lnTo>
                    <a:pt x="3960368" y="1332484"/>
                  </a:lnTo>
                  <a:lnTo>
                    <a:pt x="3959098" y="1331976"/>
                  </a:lnTo>
                  <a:lnTo>
                    <a:pt x="2712339" y="1331976"/>
                  </a:lnTo>
                  <a:lnTo>
                    <a:pt x="2709164" y="1335786"/>
                  </a:lnTo>
                  <a:lnTo>
                    <a:pt x="2709164" y="1529334"/>
                  </a:lnTo>
                  <a:lnTo>
                    <a:pt x="2711945" y="1533017"/>
                  </a:lnTo>
                  <a:lnTo>
                    <a:pt x="3959352" y="1533017"/>
                  </a:lnTo>
                  <a:lnTo>
                    <a:pt x="3960368" y="1532636"/>
                  </a:lnTo>
                  <a:lnTo>
                    <a:pt x="3961765" y="1531239"/>
                  </a:lnTo>
                  <a:lnTo>
                    <a:pt x="3962146" y="1530223"/>
                  </a:lnTo>
                  <a:lnTo>
                    <a:pt x="3962146" y="133477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022" y="1725802"/>
              <a:ext cx="399288" cy="39928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587" y="1650"/>
              <a:ext cx="59690" cy="416559"/>
            </a:xfrm>
            <a:custGeom>
              <a:avLst/>
              <a:gdLst/>
              <a:ahLst/>
              <a:cxnLst/>
              <a:rect l="l" t="t" r="r" b="b"/>
              <a:pathLst>
                <a:path w="59690" h="416559">
                  <a:moveTo>
                    <a:pt x="59689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59689" y="416560"/>
                  </a:lnTo>
                  <a:lnTo>
                    <a:pt x="5968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1277" y="1650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4310380" y="416560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87" y="2325750"/>
              <a:ext cx="4370070" cy="132080"/>
            </a:xfrm>
            <a:custGeom>
              <a:avLst/>
              <a:gdLst/>
              <a:ahLst/>
              <a:cxnLst/>
              <a:rect l="l" t="t" r="r" b="b"/>
              <a:pathLst>
                <a:path w="4370070" h="132080">
                  <a:moveTo>
                    <a:pt x="4370070" y="0"/>
                  </a:moveTo>
                  <a:lnTo>
                    <a:pt x="0" y="0"/>
                  </a:lnTo>
                  <a:lnTo>
                    <a:pt x="0" y="132080"/>
                  </a:lnTo>
                  <a:lnTo>
                    <a:pt x="4370070" y="132080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415035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4373245" cy="2459355"/>
            </a:xfrm>
            <a:custGeom>
              <a:avLst/>
              <a:gdLst/>
              <a:ahLst/>
              <a:cxnLst/>
              <a:rect l="l" t="t" r="r" b="b"/>
              <a:pathLst>
                <a:path w="4373245" h="2459355">
                  <a:moveTo>
                    <a:pt x="1587" y="0"/>
                  </a:moveTo>
                  <a:lnTo>
                    <a:pt x="1587" y="2459355"/>
                  </a:lnTo>
                </a:path>
                <a:path w="4373245" h="2459355">
                  <a:moveTo>
                    <a:pt x="4371594" y="0"/>
                  </a:moveTo>
                  <a:lnTo>
                    <a:pt x="4371594" y="2459355"/>
                  </a:lnTo>
                </a:path>
                <a:path w="4373245" h="2459355">
                  <a:moveTo>
                    <a:pt x="0" y="1650"/>
                  </a:moveTo>
                  <a:lnTo>
                    <a:pt x="4373245" y="16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2457830"/>
              <a:ext cx="4373245" cy="0"/>
            </a:xfrm>
            <a:custGeom>
              <a:avLst/>
              <a:gdLst/>
              <a:ahLst/>
              <a:cxnLst/>
              <a:rect l="l" t="t" r="r" b="b"/>
              <a:pathLst>
                <a:path w="4373245" h="0">
                  <a:moveTo>
                    <a:pt x="0" y="0"/>
                  </a:moveTo>
                  <a:lnTo>
                    <a:pt x="4373245" y="0"/>
                  </a:lnTo>
                </a:path>
              </a:pathLst>
            </a:custGeom>
            <a:ln w="3175">
              <a:solidFill>
                <a:srgbClr val="F7F8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/>
              <a:t>Abstract</a:t>
            </a:r>
            <a:endParaRPr sz="1000"/>
          </a:p>
        </p:txBody>
      </p:sp>
      <p:sp>
        <p:nvSpPr>
          <p:cNvPr id="15" name="object 15" descr=""/>
          <p:cNvSpPr txBox="1"/>
          <p:nvPr/>
        </p:nvSpPr>
        <p:spPr>
          <a:xfrm>
            <a:off x="152527" y="260730"/>
            <a:ext cx="3892550" cy="1105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Project</a:t>
            </a:r>
            <a:r>
              <a:rPr dirty="0" sz="500" spc="2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Overview &amp;</a:t>
            </a:r>
            <a:r>
              <a:rPr dirty="0" sz="500" spc="8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Vision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500">
              <a:latin typeface="Arial MT"/>
              <a:cs typeface="Arial MT"/>
            </a:endParaRPr>
          </a:p>
          <a:p>
            <a:pPr marL="163195" marR="31750">
              <a:lnSpc>
                <a:spcPct val="91000"/>
              </a:lnSpc>
            </a:pP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Smart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Healthcare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Analytics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Platform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5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</a:t>
            </a:r>
            <a:r>
              <a:rPr dirty="0" sz="5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cloud-native,</a:t>
            </a:r>
            <a:r>
              <a:rPr dirty="0" sz="550" spc="-9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AI-powered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system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built</a:t>
            </a:r>
            <a:r>
              <a:rPr dirty="0" sz="5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on</a:t>
            </a:r>
            <a:r>
              <a:rPr dirty="0" sz="5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AWS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that</a:t>
            </a:r>
            <a:r>
              <a:rPr dirty="0" sz="5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transforms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raw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into</a:t>
            </a:r>
            <a:r>
              <a:rPr dirty="0" sz="5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actionable</a:t>
            </a:r>
            <a:r>
              <a:rPr dirty="0" sz="55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insights.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By</a:t>
            </a:r>
            <a:r>
              <a:rPr dirty="0" sz="5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integrating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Amazon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Comprehend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for</a:t>
            </a:r>
            <a:r>
              <a:rPr dirty="0" sz="5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30">
                <a:solidFill>
                  <a:srgbClr val="334153"/>
                </a:solidFill>
                <a:latin typeface="Arial MT"/>
                <a:cs typeface="Arial MT"/>
              </a:rPr>
              <a:t>NLP-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based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extraction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 diagnoses,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medications,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procedures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from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notes;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AWS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HealthImaging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for</a:t>
            </a:r>
            <a:r>
              <a:rPr dirty="0" sz="5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scalable</a:t>
            </a:r>
            <a:r>
              <a:rPr dirty="0" sz="55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DICOM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image</a:t>
            </a:r>
            <a:r>
              <a:rPr dirty="0" sz="5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storage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retrieval;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Amazon</a:t>
            </a:r>
            <a:r>
              <a:rPr dirty="0" sz="550" spc="-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for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large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language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model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inference</a:t>
            </a:r>
            <a:r>
              <a:rPr dirty="0" sz="55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—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platform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enables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healthcare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providers</a:t>
            </a:r>
            <a:r>
              <a:rPr dirty="0" sz="5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550" spc="-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make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faster,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more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accurate,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evidence-based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550" spc="-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decisions.</a:t>
            </a: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Arial MT"/>
              <a:cs typeface="Arial MT"/>
            </a:endParaRPr>
          </a:p>
          <a:p>
            <a:pPr marL="163195" marR="5080">
              <a:lnSpc>
                <a:spcPts val="600"/>
              </a:lnSpc>
            </a:pP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</a:t>
            </a:r>
            <a:r>
              <a:rPr dirty="0" sz="5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Retrieval-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Augmented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Generation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(RAG)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pipeline, powered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by</a:t>
            </a:r>
            <a:r>
              <a:rPr dirty="0" sz="55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Amazon</a:t>
            </a:r>
            <a:r>
              <a:rPr dirty="0" sz="5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Knowledge</a:t>
            </a:r>
            <a:r>
              <a:rPr dirty="0" sz="5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Bases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OpenSearchvector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indexing,</a:t>
            </a:r>
            <a:r>
              <a:rPr dirty="0" sz="550" spc="-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grounds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every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AI-generated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insight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5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real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records</a:t>
            </a:r>
            <a:r>
              <a:rPr dirty="0" sz="5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curated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550" spc="-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guidelines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—</a:t>
            </a:r>
            <a:r>
              <a:rPr dirty="0" sz="5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minimising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hallucinations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ensuring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traceability.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55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5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securely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stored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Amazon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S3;</a:t>
            </a:r>
            <a:r>
              <a:rPr dirty="0" sz="5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application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logic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runs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 on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EC2;</a:t>
            </a:r>
            <a:r>
              <a:rPr dirty="0" sz="55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clinician-facing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web</a:t>
            </a:r>
            <a:r>
              <a:rPr dirty="0" sz="5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dashboard</a:t>
            </a:r>
            <a:r>
              <a:rPr dirty="0" sz="550" spc="-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5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delivered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334153"/>
                </a:solidFill>
                <a:latin typeface="Arial MT"/>
                <a:cs typeface="Arial MT"/>
              </a:rPr>
              <a:t>globally</a:t>
            </a:r>
            <a:r>
              <a:rPr dirty="0" sz="5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via</a:t>
            </a:r>
            <a:r>
              <a:rPr dirty="0" sz="5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S3</a:t>
            </a:r>
            <a:r>
              <a:rPr dirty="0" sz="5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+</a:t>
            </a:r>
            <a:r>
              <a:rPr dirty="0" sz="5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CloudFront.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platform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addresses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critical</a:t>
            </a:r>
            <a:r>
              <a:rPr dirty="0" sz="550" spc="-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challenges</a:t>
            </a:r>
            <a:r>
              <a:rPr dirty="0" sz="550" spc="-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including</a:t>
            </a:r>
            <a:r>
              <a:rPr dirty="0" sz="5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diagnostic</a:t>
            </a:r>
            <a:r>
              <a:rPr dirty="0" sz="550" spc="-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delays,</a:t>
            </a:r>
            <a:r>
              <a:rPr dirty="0" sz="550" spc="-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unstructured</a:t>
            </a:r>
            <a:r>
              <a:rPr dirty="0" sz="55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5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silos,</a:t>
            </a:r>
            <a:r>
              <a:rPr dirty="0" sz="550" spc="-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information</a:t>
            </a:r>
            <a:r>
              <a:rPr dirty="0" sz="550" spc="-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334153"/>
                </a:solidFill>
                <a:latin typeface="Arial MT"/>
                <a:cs typeface="Arial MT"/>
              </a:rPr>
              <a:t>overload.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2847" y="1789810"/>
            <a:ext cx="1252855" cy="201295"/>
          </a:xfrm>
          <a:prstGeom prst="rect">
            <a:avLst/>
          </a:prstGeom>
          <a:solidFill>
            <a:srgbClr val="0D7A8F"/>
          </a:solidFill>
        </p:spPr>
        <p:txBody>
          <a:bodyPr wrap="square" lIns="0" tIns="3175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250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AI-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Augmented</a:t>
            </a:r>
            <a:r>
              <a:rPr dirty="0" sz="500" spc="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Diagnostics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27429" y="1789810"/>
            <a:ext cx="1252855" cy="201295"/>
          </a:xfrm>
          <a:prstGeom prst="rect">
            <a:avLst/>
          </a:prstGeom>
          <a:solidFill>
            <a:srgbClr val="0D7A8F"/>
          </a:solidFill>
        </p:spPr>
        <p:txBody>
          <a:bodyPr wrap="square" lIns="0" tIns="31750" rIns="0" bIns="0" rtlCol="0" vert="horz">
            <a:spAutoFit/>
          </a:bodyPr>
          <a:lstStyle/>
          <a:p>
            <a:pPr marL="416559">
              <a:lnSpc>
                <a:spcPct val="100000"/>
              </a:lnSpc>
              <a:spcBef>
                <a:spcPts val="250"/>
              </a:spcBef>
            </a:pP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dirty="0" sz="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078607" y="1808479"/>
            <a:ext cx="83566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HIPAA-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r>
              <a:rPr dirty="0" sz="500" spc="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59" y="2459989"/>
            <a:ext cx="4370705" cy="2540"/>
          </a:xfrm>
          <a:custGeom>
            <a:avLst/>
            <a:gdLst/>
            <a:ahLst/>
            <a:cxnLst/>
            <a:rect l="l" t="t" r="r" b="b"/>
            <a:pathLst>
              <a:path w="4370705" h="2539">
                <a:moveTo>
                  <a:pt x="0" y="2540"/>
                </a:moveTo>
                <a:lnTo>
                  <a:pt x="4370578" y="2540"/>
                </a:lnTo>
                <a:lnTo>
                  <a:pt x="4370578" y="0"/>
                </a:lnTo>
                <a:lnTo>
                  <a:pt x="0" y="0"/>
                </a:lnTo>
                <a:lnTo>
                  <a:pt x="0" y="254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-508"/>
            <a:ext cx="4373245" cy="2462530"/>
            <a:chOff x="0" y="-508"/>
            <a:chExt cx="4373245" cy="2462530"/>
          </a:xfrm>
        </p:grpSpPr>
        <p:sp>
          <p:nvSpPr>
            <p:cNvPr id="4" name="object 4" descr=""/>
            <p:cNvSpPr/>
            <p:nvPr/>
          </p:nvSpPr>
          <p:spPr>
            <a:xfrm>
              <a:off x="2159" y="3047"/>
              <a:ext cx="4370705" cy="2320925"/>
            </a:xfrm>
            <a:custGeom>
              <a:avLst/>
              <a:gdLst/>
              <a:ahLst/>
              <a:cxnLst/>
              <a:rect l="l" t="t" r="r" b="b"/>
              <a:pathLst>
                <a:path w="4370705" h="2320925">
                  <a:moveTo>
                    <a:pt x="0" y="2320416"/>
                  </a:moveTo>
                  <a:lnTo>
                    <a:pt x="4370578" y="2320416"/>
                  </a:lnTo>
                  <a:lnTo>
                    <a:pt x="4370578" y="0"/>
                  </a:lnTo>
                  <a:lnTo>
                    <a:pt x="0" y="0"/>
                  </a:lnTo>
                  <a:lnTo>
                    <a:pt x="0" y="2320416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59" y="-508"/>
              <a:ext cx="63500" cy="420370"/>
            </a:xfrm>
            <a:custGeom>
              <a:avLst/>
              <a:gdLst/>
              <a:ahLst/>
              <a:cxnLst/>
              <a:rect l="l" t="t" r="r" b="b"/>
              <a:pathLst>
                <a:path w="63500" h="420370">
                  <a:moveTo>
                    <a:pt x="63068" y="417830"/>
                  </a:moveTo>
                  <a:lnTo>
                    <a:pt x="59118" y="417830"/>
                  </a:lnTo>
                  <a:lnTo>
                    <a:pt x="59118" y="1270"/>
                  </a:lnTo>
                  <a:lnTo>
                    <a:pt x="59664" y="1270"/>
                  </a:lnTo>
                  <a:lnTo>
                    <a:pt x="596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17830"/>
                  </a:lnTo>
                  <a:lnTo>
                    <a:pt x="190" y="417830"/>
                  </a:lnTo>
                  <a:lnTo>
                    <a:pt x="190" y="420370"/>
                  </a:lnTo>
                  <a:lnTo>
                    <a:pt x="63068" y="420370"/>
                  </a:lnTo>
                  <a:lnTo>
                    <a:pt x="63068" y="41783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59" y="438911"/>
              <a:ext cx="2100072" cy="91135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7127" y="469391"/>
              <a:ext cx="2021205" cy="33655"/>
            </a:xfrm>
            <a:custGeom>
              <a:avLst/>
              <a:gdLst/>
              <a:ahLst/>
              <a:cxnLst/>
              <a:rect l="l" t="t" r="r" b="b"/>
              <a:pathLst>
                <a:path w="2021205" h="33654">
                  <a:moveTo>
                    <a:pt x="2017014" y="0"/>
                  </a:moveTo>
                  <a:lnTo>
                    <a:pt x="3809" y="0"/>
                  </a:lnTo>
                  <a:lnTo>
                    <a:pt x="0" y="3682"/>
                  </a:lnTo>
                  <a:lnTo>
                    <a:pt x="0" y="29336"/>
                  </a:lnTo>
                  <a:lnTo>
                    <a:pt x="3809" y="33147"/>
                  </a:lnTo>
                  <a:lnTo>
                    <a:pt x="2017014" y="33147"/>
                  </a:lnTo>
                  <a:lnTo>
                    <a:pt x="2020824" y="30352"/>
                  </a:lnTo>
                  <a:lnTo>
                    <a:pt x="2020824" y="2794"/>
                  </a:lnTo>
                  <a:lnTo>
                    <a:pt x="2017014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183" y="548639"/>
              <a:ext cx="268223" cy="2682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9767" y="438911"/>
              <a:ext cx="2100072" cy="91135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248535" y="469391"/>
              <a:ext cx="2018030" cy="33655"/>
            </a:xfrm>
            <a:custGeom>
              <a:avLst/>
              <a:gdLst/>
              <a:ahLst/>
              <a:cxnLst/>
              <a:rect l="l" t="t" r="r" b="b"/>
              <a:pathLst>
                <a:path w="2018030" h="33654">
                  <a:moveTo>
                    <a:pt x="2013965" y="0"/>
                  </a:moveTo>
                  <a:lnTo>
                    <a:pt x="3682" y="0"/>
                  </a:lnTo>
                  <a:lnTo>
                    <a:pt x="0" y="2794"/>
                  </a:lnTo>
                  <a:lnTo>
                    <a:pt x="0" y="30352"/>
                  </a:lnTo>
                  <a:lnTo>
                    <a:pt x="3682" y="33147"/>
                  </a:lnTo>
                  <a:lnTo>
                    <a:pt x="2013965" y="33147"/>
                  </a:lnTo>
                  <a:lnTo>
                    <a:pt x="2017649" y="30352"/>
                  </a:lnTo>
                  <a:lnTo>
                    <a:pt x="2017649" y="2794"/>
                  </a:lnTo>
                  <a:lnTo>
                    <a:pt x="2013965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5591" y="548639"/>
              <a:ext cx="268224" cy="2682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359" y="1335023"/>
              <a:ext cx="2100072" cy="91135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7127" y="1365503"/>
              <a:ext cx="2021205" cy="36195"/>
            </a:xfrm>
            <a:custGeom>
              <a:avLst/>
              <a:gdLst/>
              <a:ahLst/>
              <a:cxnLst/>
              <a:rect l="l" t="t" r="r" b="b"/>
              <a:pathLst>
                <a:path w="2021205" h="36194">
                  <a:moveTo>
                    <a:pt x="2017014" y="0"/>
                  </a:moveTo>
                  <a:lnTo>
                    <a:pt x="3809" y="0"/>
                  </a:lnTo>
                  <a:lnTo>
                    <a:pt x="0" y="4063"/>
                  </a:lnTo>
                  <a:lnTo>
                    <a:pt x="0" y="32003"/>
                  </a:lnTo>
                  <a:lnTo>
                    <a:pt x="3809" y="36067"/>
                  </a:lnTo>
                  <a:lnTo>
                    <a:pt x="2017014" y="36067"/>
                  </a:lnTo>
                  <a:lnTo>
                    <a:pt x="2020824" y="33146"/>
                  </a:lnTo>
                  <a:lnTo>
                    <a:pt x="2020824" y="3047"/>
                  </a:lnTo>
                  <a:lnTo>
                    <a:pt x="2017014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4183" y="1444751"/>
              <a:ext cx="268223" cy="2682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9767" y="1335023"/>
              <a:ext cx="2100072" cy="91135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248535" y="1365503"/>
              <a:ext cx="2018030" cy="36195"/>
            </a:xfrm>
            <a:custGeom>
              <a:avLst/>
              <a:gdLst/>
              <a:ahLst/>
              <a:cxnLst/>
              <a:rect l="l" t="t" r="r" b="b"/>
              <a:pathLst>
                <a:path w="2018030" h="36194">
                  <a:moveTo>
                    <a:pt x="2013965" y="0"/>
                  </a:moveTo>
                  <a:lnTo>
                    <a:pt x="3682" y="0"/>
                  </a:lnTo>
                  <a:lnTo>
                    <a:pt x="0" y="3047"/>
                  </a:lnTo>
                  <a:lnTo>
                    <a:pt x="0" y="33146"/>
                  </a:lnTo>
                  <a:lnTo>
                    <a:pt x="3682" y="36067"/>
                  </a:lnTo>
                  <a:lnTo>
                    <a:pt x="2013965" y="36067"/>
                  </a:lnTo>
                  <a:lnTo>
                    <a:pt x="2017649" y="33146"/>
                  </a:lnTo>
                  <a:lnTo>
                    <a:pt x="2017649" y="3047"/>
                  </a:lnTo>
                  <a:lnTo>
                    <a:pt x="2013965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15591" y="1444751"/>
              <a:ext cx="268224" cy="26822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1277" y="2539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59"/>
                  </a:lnTo>
                  <a:lnTo>
                    <a:pt x="4310380" y="416559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87" y="2323464"/>
              <a:ext cx="4370070" cy="136525"/>
            </a:xfrm>
            <a:custGeom>
              <a:avLst/>
              <a:gdLst/>
              <a:ahLst/>
              <a:cxnLst/>
              <a:rect l="l" t="t" r="r" b="b"/>
              <a:pathLst>
                <a:path w="4370070" h="136525">
                  <a:moveTo>
                    <a:pt x="4370070" y="0"/>
                  </a:moveTo>
                  <a:lnTo>
                    <a:pt x="0" y="0"/>
                  </a:lnTo>
                  <a:lnTo>
                    <a:pt x="0" y="136525"/>
                  </a:lnTo>
                  <a:lnTo>
                    <a:pt x="4370070" y="136525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0" y="415924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0" y="888"/>
              <a:ext cx="4373245" cy="2460625"/>
            </a:xfrm>
            <a:custGeom>
              <a:avLst/>
              <a:gdLst/>
              <a:ahLst/>
              <a:cxnLst/>
              <a:rect l="l" t="t" r="r" b="b"/>
              <a:pathLst>
                <a:path w="4373245" h="2460625">
                  <a:moveTo>
                    <a:pt x="1587" y="0"/>
                  </a:moveTo>
                  <a:lnTo>
                    <a:pt x="1587" y="2460624"/>
                  </a:lnTo>
                </a:path>
                <a:path w="4373245" h="2460625">
                  <a:moveTo>
                    <a:pt x="4371594" y="0"/>
                  </a:moveTo>
                  <a:lnTo>
                    <a:pt x="4371594" y="2460624"/>
                  </a:lnTo>
                </a:path>
                <a:path w="4373245" h="2460625">
                  <a:moveTo>
                    <a:pt x="0" y="1650"/>
                  </a:moveTo>
                  <a:lnTo>
                    <a:pt x="4373245" y="1650"/>
                  </a:lnTo>
                </a:path>
                <a:path w="4373245" h="2460625">
                  <a:moveTo>
                    <a:pt x="0" y="2459100"/>
                  </a:moveTo>
                  <a:lnTo>
                    <a:pt x="4373245" y="24591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/>
              <a:t>Problem</a:t>
            </a:r>
            <a:r>
              <a:rPr dirty="0" sz="1000" spc="-25"/>
              <a:t> </a:t>
            </a:r>
            <a:r>
              <a:rPr dirty="0" sz="1000" spc="-10"/>
              <a:t>Statement</a:t>
            </a:r>
            <a:endParaRPr sz="1000"/>
          </a:p>
        </p:txBody>
      </p:sp>
      <p:sp>
        <p:nvSpPr>
          <p:cNvPr id="23" name="object 23" descr=""/>
          <p:cNvSpPr txBox="1"/>
          <p:nvPr/>
        </p:nvSpPr>
        <p:spPr>
          <a:xfrm>
            <a:off x="152527" y="260349"/>
            <a:ext cx="141160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Challenges</a:t>
            </a:r>
            <a:r>
              <a:rPr dirty="0" sz="500" spc="10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Facing</a:t>
            </a:r>
            <a:r>
              <a:rPr dirty="0" sz="500" spc="3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Modern</a:t>
            </a:r>
            <a:r>
              <a:rPr dirty="0" sz="500" spc="4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Healthcare</a:t>
            </a:r>
            <a:r>
              <a:rPr dirty="0" sz="500" spc="5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Systems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56387" y="571881"/>
            <a:ext cx="9436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Unstructured</a:t>
            </a:r>
            <a:r>
              <a:rPr dirty="0" sz="650" spc="-6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650" b="1">
                <a:solidFill>
                  <a:srgbClr val="091528"/>
                </a:solidFill>
                <a:latin typeface="Arial"/>
                <a:cs typeface="Arial"/>
              </a:rPr>
              <a:t>Data</a:t>
            </a:r>
            <a:r>
              <a:rPr dirty="0" sz="650" spc="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091528"/>
                </a:solidFill>
                <a:latin typeface="Arial"/>
                <a:cs typeface="Arial"/>
              </a:rPr>
              <a:t>Silos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679064" y="571881"/>
            <a:ext cx="775335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Delayed Diagnoses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29946" y="903807"/>
            <a:ext cx="1699895" cy="2647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65"/>
              </a:spcBef>
            </a:pP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50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notes,</a:t>
            </a:r>
            <a:r>
              <a:rPr dirty="0" sz="5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discharge</a:t>
            </a:r>
            <a:r>
              <a:rPr dirty="0" sz="50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summaries,</a:t>
            </a:r>
            <a:r>
              <a:rPr dirty="0" sz="50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lab</a:t>
            </a:r>
            <a:r>
              <a:rPr dirty="0" sz="50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reports</a:t>
            </a:r>
            <a:r>
              <a:rPr dirty="0" sz="50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exist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as</a:t>
            </a:r>
            <a:r>
              <a:rPr dirty="0" sz="5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unstructured</a:t>
            </a:r>
            <a:r>
              <a:rPr dirty="0" sz="5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text</a:t>
            </a:r>
            <a:r>
              <a:rPr dirty="0" sz="50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—</a:t>
            </a:r>
            <a:r>
              <a:rPr dirty="0" sz="50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inaccessible</a:t>
            </a:r>
            <a:r>
              <a:rPr dirty="0" sz="50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conventional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analytics</a:t>
            </a:r>
            <a:r>
              <a:rPr dirty="0" sz="50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tools.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349500" y="903807"/>
            <a:ext cx="1607820" cy="2647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65"/>
              </a:spcBef>
            </a:pP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Radiologists</a:t>
            </a:r>
            <a:r>
              <a:rPr dirty="0" sz="50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00" spc="9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clinicians</a:t>
            </a:r>
            <a:r>
              <a:rPr dirty="0" sz="50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face</a:t>
            </a:r>
            <a:r>
              <a:rPr dirty="0" sz="50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information</a:t>
            </a:r>
            <a:r>
              <a:rPr dirty="0" sz="50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overload,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leading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missed</a:t>
            </a:r>
            <a:r>
              <a:rPr dirty="0" sz="5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critical</a:t>
            </a:r>
            <a:r>
              <a:rPr dirty="0" sz="50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findings</a:t>
            </a:r>
            <a:r>
              <a:rPr dirty="0" sz="50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slower</a:t>
            </a:r>
            <a:r>
              <a:rPr dirty="0" sz="50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treatment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decisions.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56387" y="1489709"/>
            <a:ext cx="852169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Fragmented</a:t>
            </a:r>
            <a:r>
              <a:rPr dirty="0" sz="650" spc="-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Systems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679064" y="1489709"/>
            <a:ext cx="995044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b="1">
                <a:solidFill>
                  <a:srgbClr val="091528"/>
                </a:solidFill>
                <a:latin typeface="Arial"/>
                <a:cs typeface="Arial"/>
              </a:rPr>
              <a:t>Manual</a:t>
            </a:r>
            <a:r>
              <a:rPr dirty="0" sz="650" spc="1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Imaging</a:t>
            </a:r>
            <a:r>
              <a:rPr dirty="0" sz="650" spc="-9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091528"/>
                </a:solidFill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29946" y="1861819"/>
            <a:ext cx="1619885" cy="18161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80"/>
              </a:spcBef>
            </a:pP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50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50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scattered</a:t>
            </a:r>
            <a:r>
              <a:rPr dirty="0" sz="50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across</a:t>
            </a:r>
            <a:r>
              <a:rPr dirty="0" sz="50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EHR</a:t>
            </a:r>
            <a:r>
              <a:rPr dirty="0" sz="500" spc="10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systems,</a:t>
            </a:r>
            <a:r>
              <a:rPr dirty="0" sz="50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imaging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archives,</a:t>
            </a:r>
            <a:r>
              <a:rPr dirty="0" sz="50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lab</a:t>
            </a:r>
            <a:r>
              <a:rPr dirty="0" sz="50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platforms</a:t>
            </a:r>
            <a:r>
              <a:rPr dirty="0" sz="50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5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no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unified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5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20">
                <a:solidFill>
                  <a:srgbClr val="334153"/>
                </a:solidFill>
                <a:latin typeface="Arial MT"/>
                <a:cs typeface="Arial MT"/>
              </a:rPr>
              <a:t>view.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49500" y="1861819"/>
            <a:ext cx="1763395" cy="18161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80"/>
              </a:spcBef>
            </a:pP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50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image</a:t>
            </a:r>
            <a:r>
              <a:rPr dirty="0" sz="50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review</a:t>
            </a:r>
            <a:r>
              <a:rPr dirty="0" sz="5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50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time-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intensive</a:t>
            </a:r>
            <a:r>
              <a:rPr dirty="0" sz="50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50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difficult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5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scale,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creating</a:t>
            </a:r>
            <a:r>
              <a:rPr dirty="0" sz="5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bottlenecks</a:t>
            </a:r>
            <a:r>
              <a:rPr dirty="0" sz="5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50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radiology</a:t>
            </a:r>
            <a:r>
              <a:rPr dirty="0" sz="5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workflows.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4373245" cy="2459990"/>
            <a:chOff x="0" y="0"/>
            <a:chExt cx="4373245" cy="2459990"/>
          </a:xfrm>
        </p:grpSpPr>
        <p:sp>
          <p:nvSpPr>
            <p:cNvPr id="3" name="object 3" descr=""/>
            <p:cNvSpPr/>
            <p:nvPr/>
          </p:nvSpPr>
          <p:spPr>
            <a:xfrm>
              <a:off x="2159" y="634"/>
              <a:ext cx="4370705" cy="2328545"/>
            </a:xfrm>
            <a:custGeom>
              <a:avLst/>
              <a:gdLst/>
              <a:ahLst/>
              <a:cxnLst/>
              <a:rect l="l" t="t" r="r" b="b"/>
              <a:pathLst>
                <a:path w="4370705" h="2328545">
                  <a:moveTo>
                    <a:pt x="4370578" y="0"/>
                  </a:moveTo>
                  <a:lnTo>
                    <a:pt x="0" y="0"/>
                  </a:lnTo>
                  <a:lnTo>
                    <a:pt x="0" y="2328291"/>
                  </a:lnTo>
                  <a:lnTo>
                    <a:pt x="4370578" y="2328291"/>
                  </a:lnTo>
                  <a:lnTo>
                    <a:pt x="4370578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59" y="126"/>
              <a:ext cx="63500" cy="420370"/>
            </a:xfrm>
            <a:custGeom>
              <a:avLst/>
              <a:gdLst/>
              <a:ahLst/>
              <a:cxnLst/>
              <a:rect l="l" t="t" r="r" b="b"/>
              <a:pathLst>
                <a:path w="63500" h="420370">
                  <a:moveTo>
                    <a:pt x="63068" y="417830"/>
                  </a:moveTo>
                  <a:lnTo>
                    <a:pt x="59118" y="417830"/>
                  </a:lnTo>
                  <a:lnTo>
                    <a:pt x="59118" y="1270"/>
                  </a:lnTo>
                  <a:lnTo>
                    <a:pt x="59664" y="1270"/>
                  </a:lnTo>
                  <a:lnTo>
                    <a:pt x="596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17830"/>
                  </a:lnTo>
                  <a:lnTo>
                    <a:pt x="190" y="417830"/>
                  </a:lnTo>
                  <a:lnTo>
                    <a:pt x="190" y="420370"/>
                  </a:lnTo>
                  <a:lnTo>
                    <a:pt x="63068" y="420370"/>
                  </a:lnTo>
                  <a:lnTo>
                    <a:pt x="63068" y="41783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1887" y="460882"/>
              <a:ext cx="4151629" cy="396240"/>
            </a:xfrm>
            <a:custGeom>
              <a:avLst/>
              <a:gdLst/>
              <a:ahLst/>
              <a:cxnLst/>
              <a:rect l="l" t="t" r="r" b="b"/>
              <a:pathLst>
                <a:path w="4151629" h="396240">
                  <a:moveTo>
                    <a:pt x="4151376" y="0"/>
                  </a:moveTo>
                  <a:lnTo>
                    <a:pt x="0" y="0"/>
                  </a:lnTo>
                  <a:lnTo>
                    <a:pt x="0" y="395986"/>
                  </a:lnTo>
                  <a:lnTo>
                    <a:pt x="4151376" y="395986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791" y="457834"/>
              <a:ext cx="4160520" cy="401955"/>
            </a:xfrm>
            <a:custGeom>
              <a:avLst/>
              <a:gdLst/>
              <a:ahLst/>
              <a:cxnLst/>
              <a:rect l="l" t="t" r="r" b="b"/>
              <a:pathLst>
                <a:path w="4160520" h="401955">
                  <a:moveTo>
                    <a:pt x="4160266" y="2794"/>
                  </a:moveTo>
                  <a:lnTo>
                    <a:pt x="4159885" y="1905"/>
                  </a:lnTo>
                  <a:lnTo>
                    <a:pt x="4158488" y="508"/>
                  </a:lnTo>
                  <a:lnTo>
                    <a:pt x="4157218" y="0"/>
                  </a:lnTo>
                  <a:lnTo>
                    <a:pt x="4152773" y="0"/>
                  </a:lnTo>
                  <a:lnTo>
                    <a:pt x="4152773" y="7632"/>
                  </a:lnTo>
                  <a:lnTo>
                    <a:pt x="4152773" y="394462"/>
                  </a:lnTo>
                  <a:lnTo>
                    <a:pt x="7620" y="394462"/>
                  </a:lnTo>
                  <a:lnTo>
                    <a:pt x="7620" y="7632"/>
                  </a:lnTo>
                  <a:lnTo>
                    <a:pt x="4152773" y="7632"/>
                  </a:lnTo>
                  <a:lnTo>
                    <a:pt x="4152773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127" y="399288"/>
                  </a:lnTo>
                  <a:lnTo>
                    <a:pt x="508" y="400177"/>
                  </a:lnTo>
                  <a:lnTo>
                    <a:pt x="1905" y="401574"/>
                  </a:lnTo>
                  <a:lnTo>
                    <a:pt x="2832" y="401955"/>
                  </a:lnTo>
                  <a:lnTo>
                    <a:pt x="4157599" y="401955"/>
                  </a:lnTo>
                  <a:lnTo>
                    <a:pt x="4158488" y="401574"/>
                  </a:lnTo>
                  <a:lnTo>
                    <a:pt x="4159885" y="400177"/>
                  </a:lnTo>
                  <a:lnTo>
                    <a:pt x="4160266" y="399288"/>
                  </a:lnTo>
                  <a:lnTo>
                    <a:pt x="4160266" y="398272"/>
                  </a:lnTo>
                  <a:lnTo>
                    <a:pt x="4160266" y="394462"/>
                  </a:lnTo>
                  <a:lnTo>
                    <a:pt x="4160266" y="7632"/>
                  </a:lnTo>
                  <a:lnTo>
                    <a:pt x="4160266" y="3810"/>
                  </a:lnTo>
                  <a:lnTo>
                    <a:pt x="4160266" y="2794"/>
                  </a:lnTo>
                  <a:close/>
                </a:path>
              </a:pathLst>
            </a:custGeom>
            <a:solidFill>
              <a:srgbClr val="1A48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1887" y="896746"/>
              <a:ext cx="4151629" cy="396240"/>
            </a:xfrm>
            <a:custGeom>
              <a:avLst/>
              <a:gdLst/>
              <a:ahLst/>
              <a:cxnLst/>
              <a:rect l="l" t="t" r="r" b="b"/>
              <a:pathLst>
                <a:path w="4151629" h="396240">
                  <a:moveTo>
                    <a:pt x="4151376" y="0"/>
                  </a:moveTo>
                  <a:lnTo>
                    <a:pt x="0" y="0"/>
                  </a:lnTo>
                  <a:lnTo>
                    <a:pt x="0" y="395731"/>
                  </a:lnTo>
                  <a:lnTo>
                    <a:pt x="4151376" y="395731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095D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5791" y="893698"/>
              <a:ext cx="4160520" cy="401955"/>
            </a:xfrm>
            <a:custGeom>
              <a:avLst/>
              <a:gdLst/>
              <a:ahLst/>
              <a:cxnLst/>
              <a:rect l="l" t="t" r="r" b="b"/>
              <a:pathLst>
                <a:path w="4160520" h="401955">
                  <a:moveTo>
                    <a:pt x="4160266" y="2794"/>
                  </a:moveTo>
                  <a:lnTo>
                    <a:pt x="4159885" y="1905"/>
                  </a:lnTo>
                  <a:lnTo>
                    <a:pt x="4158488" y="508"/>
                  </a:lnTo>
                  <a:lnTo>
                    <a:pt x="4157218" y="0"/>
                  </a:lnTo>
                  <a:lnTo>
                    <a:pt x="4152773" y="0"/>
                  </a:lnTo>
                  <a:lnTo>
                    <a:pt x="4152773" y="7620"/>
                  </a:lnTo>
                  <a:lnTo>
                    <a:pt x="4152773" y="394462"/>
                  </a:lnTo>
                  <a:lnTo>
                    <a:pt x="7620" y="394462"/>
                  </a:lnTo>
                  <a:lnTo>
                    <a:pt x="7620" y="7620"/>
                  </a:lnTo>
                  <a:lnTo>
                    <a:pt x="4152773" y="7620"/>
                  </a:lnTo>
                  <a:lnTo>
                    <a:pt x="4152773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127" y="399288"/>
                  </a:lnTo>
                  <a:lnTo>
                    <a:pt x="508" y="400177"/>
                  </a:lnTo>
                  <a:lnTo>
                    <a:pt x="1905" y="401574"/>
                  </a:lnTo>
                  <a:lnTo>
                    <a:pt x="2832" y="401955"/>
                  </a:lnTo>
                  <a:lnTo>
                    <a:pt x="4157599" y="401955"/>
                  </a:lnTo>
                  <a:lnTo>
                    <a:pt x="4158488" y="401574"/>
                  </a:lnTo>
                  <a:lnTo>
                    <a:pt x="4159885" y="400177"/>
                  </a:lnTo>
                  <a:lnTo>
                    <a:pt x="4160266" y="399288"/>
                  </a:lnTo>
                  <a:lnTo>
                    <a:pt x="4160266" y="398272"/>
                  </a:lnTo>
                  <a:lnTo>
                    <a:pt x="4160266" y="394462"/>
                  </a:lnTo>
                  <a:lnTo>
                    <a:pt x="4160266" y="7620"/>
                  </a:lnTo>
                  <a:lnTo>
                    <a:pt x="4160266" y="3810"/>
                  </a:lnTo>
                  <a:lnTo>
                    <a:pt x="4160266" y="2794"/>
                  </a:lnTo>
                  <a:close/>
                </a:path>
              </a:pathLst>
            </a:custGeom>
            <a:solidFill>
              <a:srgbClr val="1A48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1887" y="1335658"/>
              <a:ext cx="4151629" cy="393065"/>
            </a:xfrm>
            <a:custGeom>
              <a:avLst/>
              <a:gdLst/>
              <a:ahLst/>
              <a:cxnLst/>
              <a:rect l="l" t="t" r="r" b="b"/>
              <a:pathLst>
                <a:path w="4151629" h="393064">
                  <a:moveTo>
                    <a:pt x="4151376" y="0"/>
                  </a:moveTo>
                  <a:lnTo>
                    <a:pt x="0" y="0"/>
                  </a:lnTo>
                  <a:lnTo>
                    <a:pt x="0" y="392683"/>
                  </a:lnTo>
                  <a:lnTo>
                    <a:pt x="4151376" y="392683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054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5791" y="1332610"/>
              <a:ext cx="4160520" cy="399415"/>
            </a:xfrm>
            <a:custGeom>
              <a:avLst/>
              <a:gdLst/>
              <a:ahLst/>
              <a:cxnLst/>
              <a:rect l="l" t="t" r="r" b="b"/>
              <a:pathLst>
                <a:path w="4160520" h="399414">
                  <a:moveTo>
                    <a:pt x="4160266" y="2794"/>
                  </a:moveTo>
                  <a:lnTo>
                    <a:pt x="4159885" y="1905"/>
                  </a:lnTo>
                  <a:lnTo>
                    <a:pt x="4158488" y="508"/>
                  </a:lnTo>
                  <a:lnTo>
                    <a:pt x="4157218" y="0"/>
                  </a:lnTo>
                  <a:lnTo>
                    <a:pt x="4152773" y="0"/>
                  </a:lnTo>
                  <a:lnTo>
                    <a:pt x="4152773" y="3810"/>
                  </a:lnTo>
                  <a:lnTo>
                    <a:pt x="4152773" y="7620"/>
                  </a:lnTo>
                  <a:lnTo>
                    <a:pt x="4152773" y="391439"/>
                  </a:lnTo>
                  <a:lnTo>
                    <a:pt x="7620" y="391439"/>
                  </a:lnTo>
                  <a:lnTo>
                    <a:pt x="7620" y="7620"/>
                  </a:lnTo>
                  <a:lnTo>
                    <a:pt x="4152773" y="7620"/>
                  </a:lnTo>
                  <a:lnTo>
                    <a:pt x="4152773" y="3835"/>
                  </a:lnTo>
                  <a:lnTo>
                    <a:pt x="7620" y="3835"/>
                  </a:lnTo>
                  <a:lnTo>
                    <a:pt x="4152773" y="3810"/>
                  </a:lnTo>
                  <a:lnTo>
                    <a:pt x="4152773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127" y="396240"/>
                  </a:lnTo>
                  <a:lnTo>
                    <a:pt x="1117" y="398018"/>
                  </a:lnTo>
                  <a:lnTo>
                    <a:pt x="2832" y="398907"/>
                  </a:lnTo>
                  <a:lnTo>
                    <a:pt x="4157599" y="398907"/>
                  </a:lnTo>
                  <a:lnTo>
                    <a:pt x="4159250" y="398018"/>
                  </a:lnTo>
                  <a:lnTo>
                    <a:pt x="4160266" y="396240"/>
                  </a:lnTo>
                  <a:lnTo>
                    <a:pt x="4160266" y="395224"/>
                  </a:lnTo>
                  <a:lnTo>
                    <a:pt x="4160266" y="391541"/>
                  </a:lnTo>
                  <a:lnTo>
                    <a:pt x="4160266" y="7620"/>
                  </a:lnTo>
                  <a:lnTo>
                    <a:pt x="4160266" y="3810"/>
                  </a:lnTo>
                  <a:lnTo>
                    <a:pt x="4160266" y="2794"/>
                  </a:lnTo>
                  <a:close/>
                </a:path>
              </a:pathLst>
            </a:custGeom>
            <a:solidFill>
              <a:srgbClr val="1A48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8839" y="1774570"/>
              <a:ext cx="4154804" cy="393065"/>
            </a:xfrm>
            <a:custGeom>
              <a:avLst/>
              <a:gdLst/>
              <a:ahLst/>
              <a:cxnLst/>
              <a:rect l="l" t="t" r="r" b="b"/>
              <a:pathLst>
                <a:path w="4154804" h="393064">
                  <a:moveTo>
                    <a:pt x="4154424" y="0"/>
                  </a:moveTo>
                  <a:lnTo>
                    <a:pt x="0" y="0"/>
                  </a:lnTo>
                  <a:lnTo>
                    <a:pt x="0" y="392684"/>
                  </a:lnTo>
                  <a:lnTo>
                    <a:pt x="4154424" y="392684"/>
                  </a:lnTo>
                  <a:lnTo>
                    <a:pt x="4154424" y="0"/>
                  </a:lnTo>
                  <a:close/>
                </a:path>
              </a:pathLst>
            </a:custGeom>
            <a:solidFill>
              <a:srgbClr val="042C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5791" y="1768474"/>
              <a:ext cx="4160520" cy="401955"/>
            </a:xfrm>
            <a:custGeom>
              <a:avLst/>
              <a:gdLst/>
              <a:ahLst/>
              <a:cxnLst/>
              <a:rect l="l" t="t" r="r" b="b"/>
              <a:pathLst>
                <a:path w="4160520" h="401955">
                  <a:moveTo>
                    <a:pt x="4160266" y="2794"/>
                  </a:moveTo>
                  <a:lnTo>
                    <a:pt x="4159885" y="1905"/>
                  </a:lnTo>
                  <a:lnTo>
                    <a:pt x="4158488" y="508"/>
                  </a:lnTo>
                  <a:lnTo>
                    <a:pt x="4157218" y="0"/>
                  </a:lnTo>
                  <a:lnTo>
                    <a:pt x="4152773" y="0"/>
                  </a:lnTo>
                  <a:lnTo>
                    <a:pt x="4152773" y="7620"/>
                  </a:lnTo>
                  <a:lnTo>
                    <a:pt x="4152773" y="394462"/>
                  </a:lnTo>
                  <a:lnTo>
                    <a:pt x="7620" y="394462"/>
                  </a:lnTo>
                  <a:lnTo>
                    <a:pt x="7620" y="7620"/>
                  </a:lnTo>
                  <a:lnTo>
                    <a:pt x="4152773" y="7620"/>
                  </a:lnTo>
                  <a:lnTo>
                    <a:pt x="4152773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127" y="399288"/>
                  </a:lnTo>
                  <a:lnTo>
                    <a:pt x="508" y="400177"/>
                  </a:lnTo>
                  <a:lnTo>
                    <a:pt x="1905" y="401574"/>
                  </a:lnTo>
                  <a:lnTo>
                    <a:pt x="2832" y="401955"/>
                  </a:lnTo>
                  <a:lnTo>
                    <a:pt x="4157599" y="401955"/>
                  </a:lnTo>
                  <a:lnTo>
                    <a:pt x="4158488" y="401574"/>
                  </a:lnTo>
                  <a:lnTo>
                    <a:pt x="4159885" y="400177"/>
                  </a:lnTo>
                  <a:lnTo>
                    <a:pt x="4160266" y="399288"/>
                  </a:lnTo>
                  <a:lnTo>
                    <a:pt x="4160266" y="398272"/>
                  </a:lnTo>
                  <a:lnTo>
                    <a:pt x="4160266" y="394462"/>
                  </a:lnTo>
                  <a:lnTo>
                    <a:pt x="4160266" y="7620"/>
                  </a:lnTo>
                  <a:lnTo>
                    <a:pt x="4160266" y="3810"/>
                  </a:lnTo>
                  <a:lnTo>
                    <a:pt x="4160266" y="2794"/>
                  </a:lnTo>
                  <a:close/>
                </a:path>
              </a:pathLst>
            </a:custGeom>
            <a:solidFill>
              <a:srgbClr val="1A48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85494" y="491362"/>
              <a:ext cx="966469" cy="316865"/>
            </a:xfrm>
            <a:custGeom>
              <a:avLst/>
              <a:gdLst/>
              <a:ahLst/>
              <a:cxnLst/>
              <a:rect l="l" t="t" r="r" b="b"/>
              <a:pathLst>
                <a:path w="966469" h="316865">
                  <a:moveTo>
                    <a:pt x="966088" y="0"/>
                  </a:moveTo>
                  <a:lnTo>
                    <a:pt x="0" y="0"/>
                  </a:lnTo>
                  <a:lnTo>
                    <a:pt x="0" y="316865"/>
                  </a:lnTo>
                  <a:lnTo>
                    <a:pt x="966088" y="316865"/>
                  </a:lnTo>
                  <a:lnTo>
                    <a:pt x="966088" y="0"/>
                  </a:lnTo>
                  <a:close/>
                </a:path>
              </a:pathLst>
            </a:custGeom>
            <a:solidFill>
              <a:srgbClr val="125E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5495" y="488314"/>
              <a:ext cx="969010" cy="323215"/>
            </a:xfrm>
            <a:custGeom>
              <a:avLst/>
              <a:gdLst/>
              <a:ahLst/>
              <a:cxnLst/>
              <a:rect l="l" t="t" r="r" b="b"/>
              <a:pathLst>
                <a:path w="969010" h="323215">
                  <a:moveTo>
                    <a:pt x="968883" y="2794"/>
                  </a:moveTo>
                  <a:lnTo>
                    <a:pt x="968502" y="1905"/>
                  </a:lnTo>
                  <a:lnTo>
                    <a:pt x="967105" y="508"/>
                  </a:lnTo>
                  <a:lnTo>
                    <a:pt x="965835" y="0"/>
                  </a:lnTo>
                  <a:lnTo>
                    <a:pt x="961390" y="0"/>
                  </a:lnTo>
                  <a:lnTo>
                    <a:pt x="961390" y="3810"/>
                  </a:lnTo>
                  <a:lnTo>
                    <a:pt x="961390" y="319151"/>
                  </a:lnTo>
                  <a:lnTo>
                    <a:pt x="961339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61339" y="7620"/>
                  </a:lnTo>
                  <a:lnTo>
                    <a:pt x="961339" y="3810"/>
                  </a:lnTo>
                  <a:lnTo>
                    <a:pt x="961390" y="0"/>
                  </a:lnTo>
                  <a:lnTo>
                    <a:pt x="2997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990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65200" y="322961"/>
                  </a:lnTo>
                  <a:lnTo>
                    <a:pt x="967867" y="321818"/>
                  </a:lnTo>
                  <a:lnTo>
                    <a:pt x="968502" y="321056"/>
                  </a:lnTo>
                  <a:lnTo>
                    <a:pt x="968883" y="320040"/>
                  </a:lnTo>
                  <a:lnTo>
                    <a:pt x="968883" y="319151"/>
                  </a:lnTo>
                  <a:lnTo>
                    <a:pt x="968883" y="315341"/>
                  </a:lnTo>
                  <a:lnTo>
                    <a:pt x="968883" y="7620"/>
                  </a:lnTo>
                  <a:lnTo>
                    <a:pt x="968883" y="3810"/>
                  </a:lnTo>
                  <a:lnTo>
                    <a:pt x="968883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071" y="512698"/>
              <a:ext cx="140208" cy="14020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925447" y="491362"/>
              <a:ext cx="960119" cy="316865"/>
            </a:xfrm>
            <a:custGeom>
              <a:avLst/>
              <a:gdLst/>
              <a:ahLst/>
              <a:cxnLst/>
              <a:rect l="l" t="t" r="r" b="b"/>
              <a:pathLst>
                <a:path w="960119" h="316865">
                  <a:moveTo>
                    <a:pt x="959739" y="0"/>
                  </a:moveTo>
                  <a:lnTo>
                    <a:pt x="0" y="0"/>
                  </a:lnTo>
                  <a:lnTo>
                    <a:pt x="0" y="316865"/>
                  </a:lnTo>
                  <a:lnTo>
                    <a:pt x="959739" y="316865"/>
                  </a:lnTo>
                  <a:lnTo>
                    <a:pt x="959739" y="0"/>
                  </a:lnTo>
                  <a:close/>
                </a:path>
              </a:pathLst>
            </a:custGeom>
            <a:solidFill>
              <a:srgbClr val="125E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19351" y="488314"/>
              <a:ext cx="972185" cy="323215"/>
            </a:xfrm>
            <a:custGeom>
              <a:avLst/>
              <a:gdLst/>
              <a:ahLst/>
              <a:cxnLst/>
              <a:rect l="l" t="t" r="r" b="b"/>
              <a:pathLst>
                <a:path w="972185" h="323215">
                  <a:moveTo>
                    <a:pt x="971931" y="2794"/>
                  </a:moveTo>
                  <a:lnTo>
                    <a:pt x="971029" y="1143"/>
                  </a:lnTo>
                  <a:lnTo>
                    <a:pt x="969010" y="0"/>
                  </a:lnTo>
                  <a:lnTo>
                    <a:pt x="964438" y="0"/>
                  </a:lnTo>
                  <a:lnTo>
                    <a:pt x="964438" y="7620"/>
                  </a:lnTo>
                  <a:lnTo>
                    <a:pt x="964438" y="315341"/>
                  </a:lnTo>
                  <a:lnTo>
                    <a:pt x="7620" y="315341"/>
                  </a:lnTo>
                  <a:lnTo>
                    <a:pt x="7620" y="7620"/>
                  </a:lnTo>
                  <a:lnTo>
                    <a:pt x="964438" y="7620"/>
                  </a:lnTo>
                  <a:lnTo>
                    <a:pt x="964438" y="0"/>
                  </a:lnTo>
                  <a:lnTo>
                    <a:pt x="3175" y="0"/>
                  </a:lnTo>
                  <a:lnTo>
                    <a:pt x="0" y="3810"/>
                  </a:lnTo>
                  <a:lnTo>
                    <a:pt x="0" y="319151"/>
                  </a:lnTo>
                  <a:lnTo>
                    <a:pt x="2794" y="322707"/>
                  </a:lnTo>
                  <a:lnTo>
                    <a:pt x="3810" y="322961"/>
                  </a:lnTo>
                  <a:lnTo>
                    <a:pt x="968248" y="322961"/>
                  </a:lnTo>
                  <a:lnTo>
                    <a:pt x="969264" y="322707"/>
                  </a:lnTo>
                  <a:lnTo>
                    <a:pt x="971029" y="321818"/>
                  </a:lnTo>
                  <a:lnTo>
                    <a:pt x="971931" y="320040"/>
                  </a:lnTo>
                  <a:lnTo>
                    <a:pt x="971931" y="319151"/>
                  </a:lnTo>
                  <a:lnTo>
                    <a:pt x="971931" y="315341"/>
                  </a:lnTo>
                  <a:lnTo>
                    <a:pt x="971931" y="7620"/>
                  </a:lnTo>
                  <a:lnTo>
                    <a:pt x="971931" y="3810"/>
                  </a:lnTo>
                  <a:lnTo>
                    <a:pt x="971931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8975" y="512698"/>
              <a:ext cx="140207" cy="14020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062351" y="491362"/>
              <a:ext cx="960119" cy="316865"/>
            </a:xfrm>
            <a:custGeom>
              <a:avLst/>
              <a:gdLst/>
              <a:ahLst/>
              <a:cxnLst/>
              <a:rect l="l" t="t" r="r" b="b"/>
              <a:pathLst>
                <a:path w="960119" h="316865">
                  <a:moveTo>
                    <a:pt x="959738" y="0"/>
                  </a:moveTo>
                  <a:lnTo>
                    <a:pt x="0" y="0"/>
                  </a:lnTo>
                  <a:lnTo>
                    <a:pt x="0" y="316865"/>
                  </a:lnTo>
                  <a:lnTo>
                    <a:pt x="959738" y="316865"/>
                  </a:lnTo>
                  <a:lnTo>
                    <a:pt x="959738" y="0"/>
                  </a:lnTo>
                  <a:close/>
                </a:path>
              </a:pathLst>
            </a:custGeom>
            <a:solidFill>
              <a:srgbClr val="125E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6255" y="488314"/>
              <a:ext cx="972185" cy="323215"/>
            </a:xfrm>
            <a:custGeom>
              <a:avLst/>
              <a:gdLst/>
              <a:ahLst/>
              <a:cxnLst/>
              <a:rect l="l" t="t" r="r" b="b"/>
              <a:pathLst>
                <a:path w="972185" h="323215">
                  <a:moveTo>
                    <a:pt x="971804" y="2794"/>
                  </a:moveTo>
                  <a:lnTo>
                    <a:pt x="970915" y="1143"/>
                  </a:lnTo>
                  <a:lnTo>
                    <a:pt x="968883" y="0"/>
                  </a:lnTo>
                  <a:lnTo>
                    <a:pt x="964311" y="0"/>
                  </a:lnTo>
                  <a:lnTo>
                    <a:pt x="964311" y="7620"/>
                  </a:lnTo>
                  <a:lnTo>
                    <a:pt x="964311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64311" y="7620"/>
                  </a:lnTo>
                  <a:lnTo>
                    <a:pt x="964311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1016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68121" y="322961"/>
                  </a:lnTo>
                  <a:lnTo>
                    <a:pt x="969137" y="322707"/>
                  </a:lnTo>
                  <a:lnTo>
                    <a:pt x="970915" y="321818"/>
                  </a:lnTo>
                  <a:lnTo>
                    <a:pt x="971804" y="320040"/>
                  </a:lnTo>
                  <a:lnTo>
                    <a:pt x="971804" y="319151"/>
                  </a:lnTo>
                  <a:lnTo>
                    <a:pt x="971804" y="315341"/>
                  </a:lnTo>
                  <a:lnTo>
                    <a:pt x="971804" y="7620"/>
                  </a:lnTo>
                  <a:lnTo>
                    <a:pt x="971804" y="3810"/>
                  </a:lnTo>
                  <a:lnTo>
                    <a:pt x="971804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5879" y="512698"/>
              <a:ext cx="140208" cy="14020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785494" y="927226"/>
              <a:ext cx="966469" cy="316865"/>
            </a:xfrm>
            <a:custGeom>
              <a:avLst/>
              <a:gdLst/>
              <a:ahLst/>
              <a:cxnLst/>
              <a:rect l="l" t="t" r="r" b="b"/>
              <a:pathLst>
                <a:path w="966469" h="316865">
                  <a:moveTo>
                    <a:pt x="966088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66088" y="316864"/>
                  </a:lnTo>
                  <a:lnTo>
                    <a:pt x="966088" y="0"/>
                  </a:lnTo>
                  <a:close/>
                </a:path>
              </a:pathLst>
            </a:custGeom>
            <a:solidFill>
              <a:srgbClr val="0D48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85495" y="924178"/>
              <a:ext cx="969010" cy="323215"/>
            </a:xfrm>
            <a:custGeom>
              <a:avLst/>
              <a:gdLst/>
              <a:ahLst/>
              <a:cxnLst/>
              <a:rect l="l" t="t" r="r" b="b"/>
              <a:pathLst>
                <a:path w="969010" h="323215">
                  <a:moveTo>
                    <a:pt x="968883" y="2794"/>
                  </a:moveTo>
                  <a:lnTo>
                    <a:pt x="968502" y="1905"/>
                  </a:lnTo>
                  <a:lnTo>
                    <a:pt x="967105" y="508"/>
                  </a:lnTo>
                  <a:lnTo>
                    <a:pt x="965835" y="0"/>
                  </a:lnTo>
                  <a:lnTo>
                    <a:pt x="961390" y="0"/>
                  </a:lnTo>
                  <a:lnTo>
                    <a:pt x="961390" y="3810"/>
                  </a:lnTo>
                  <a:lnTo>
                    <a:pt x="961390" y="319151"/>
                  </a:lnTo>
                  <a:lnTo>
                    <a:pt x="961339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61339" y="7620"/>
                  </a:lnTo>
                  <a:lnTo>
                    <a:pt x="961339" y="3810"/>
                  </a:lnTo>
                  <a:lnTo>
                    <a:pt x="961390" y="0"/>
                  </a:lnTo>
                  <a:lnTo>
                    <a:pt x="2997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990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65200" y="322961"/>
                  </a:lnTo>
                  <a:lnTo>
                    <a:pt x="967867" y="321818"/>
                  </a:lnTo>
                  <a:lnTo>
                    <a:pt x="968502" y="321056"/>
                  </a:lnTo>
                  <a:lnTo>
                    <a:pt x="968883" y="320040"/>
                  </a:lnTo>
                  <a:lnTo>
                    <a:pt x="968883" y="319151"/>
                  </a:lnTo>
                  <a:lnTo>
                    <a:pt x="968883" y="315341"/>
                  </a:lnTo>
                  <a:lnTo>
                    <a:pt x="968883" y="7620"/>
                  </a:lnTo>
                  <a:lnTo>
                    <a:pt x="968883" y="3810"/>
                  </a:lnTo>
                  <a:lnTo>
                    <a:pt x="968883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071" y="951610"/>
              <a:ext cx="140208" cy="14020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925447" y="927226"/>
              <a:ext cx="960119" cy="316865"/>
            </a:xfrm>
            <a:custGeom>
              <a:avLst/>
              <a:gdLst/>
              <a:ahLst/>
              <a:cxnLst/>
              <a:rect l="l" t="t" r="r" b="b"/>
              <a:pathLst>
                <a:path w="960119" h="316865">
                  <a:moveTo>
                    <a:pt x="959739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59739" y="316864"/>
                  </a:lnTo>
                  <a:lnTo>
                    <a:pt x="959739" y="0"/>
                  </a:lnTo>
                  <a:close/>
                </a:path>
              </a:pathLst>
            </a:custGeom>
            <a:solidFill>
              <a:srgbClr val="0D48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19351" y="924178"/>
              <a:ext cx="972185" cy="323215"/>
            </a:xfrm>
            <a:custGeom>
              <a:avLst/>
              <a:gdLst/>
              <a:ahLst/>
              <a:cxnLst/>
              <a:rect l="l" t="t" r="r" b="b"/>
              <a:pathLst>
                <a:path w="972185" h="323215">
                  <a:moveTo>
                    <a:pt x="971931" y="2794"/>
                  </a:moveTo>
                  <a:lnTo>
                    <a:pt x="971029" y="1143"/>
                  </a:lnTo>
                  <a:lnTo>
                    <a:pt x="969010" y="0"/>
                  </a:lnTo>
                  <a:lnTo>
                    <a:pt x="964438" y="0"/>
                  </a:lnTo>
                  <a:lnTo>
                    <a:pt x="964438" y="7620"/>
                  </a:lnTo>
                  <a:lnTo>
                    <a:pt x="964438" y="315341"/>
                  </a:lnTo>
                  <a:lnTo>
                    <a:pt x="7620" y="315341"/>
                  </a:lnTo>
                  <a:lnTo>
                    <a:pt x="7620" y="7620"/>
                  </a:lnTo>
                  <a:lnTo>
                    <a:pt x="964438" y="7620"/>
                  </a:lnTo>
                  <a:lnTo>
                    <a:pt x="964438" y="0"/>
                  </a:lnTo>
                  <a:lnTo>
                    <a:pt x="3175" y="0"/>
                  </a:lnTo>
                  <a:lnTo>
                    <a:pt x="0" y="3810"/>
                  </a:lnTo>
                  <a:lnTo>
                    <a:pt x="0" y="319151"/>
                  </a:lnTo>
                  <a:lnTo>
                    <a:pt x="2794" y="322707"/>
                  </a:lnTo>
                  <a:lnTo>
                    <a:pt x="3810" y="322961"/>
                  </a:lnTo>
                  <a:lnTo>
                    <a:pt x="968248" y="322961"/>
                  </a:lnTo>
                  <a:lnTo>
                    <a:pt x="969264" y="322707"/>
                  </a:lnTo>
                  <a:lnTo>
                    <a:pt x="971029" y="321818"/>
                  </a:lnTo>
                  <a:lnTo>
                    <a:pt x="971931" y="320040"/>
                  </a:lnTo>
                  <a:lnTo>
                    <a:pt x="971931" y="319151"/>
                  </a:lnTo>
                  <a:lnTo>
                    <a:pt x="971931" y="315341"/>
                  </a:lnTo>
                  <a:lnTo>
                    <a:pt x="971931" y="7620"/>
                  </a:lnTo>
                  <a:lnTo>
                    <a:pt x="971931" y="3810"/>
                  </a:lnTo>
                  <a:lnTo>
                    <a:pt x="971931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8975" y="951610"/>
              <a:ext cx="140207" cy="14020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062351" y="927226"/>
              <a:ext cx="960119" cy="316865"/>
            </a:xfrm>
            <a:custGeom>
              <a:avLst/>
              <a:gdLst/>
              <a:ahLst/>
              <a:cxnLst/>
              <a:rect l="l" t="t" r="r" b="b"/>
              <a:pathLst>
                <a:path w="960119" h="316865">
                  <a:moveTo>
                    <a:pt x="959738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59738" y="316864"/>
                  </a:lnTo>
                  <a:lnTo>
                    <a:pt x="959738" y="0"/>
                  </a:lnTo>
                  <a:close/>
                </a:path>
              </a:pathLst>
            </a:custGeom>
            <a:solidFill>
              <a:srgbClr val="0D48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56255" y="924178"/>
              <a:ext cx="972185" cy="323215"/>
            </a:xfrm>
            <a:custGeom>
              <a:avLst/>
              <a:gdLst/>
              <a:ahLst/>
              <a:cxnLst/>
              <a:rect l="l" t="t" r="r" b="b"/>
              <a:pathLst>
                <a:path w="972185" h="323215">
                  <a:moveTo>
                    <a:pt x="971804" y="2794"/>
                  </a:moveTo>
                  <a:lnTo>
                    <a:pt x="970915" y="1143"/>
                  </a:lnTo>
                  <a:lnTo>
                    <a:pt x="968883" y="0"/>
                  </a:lnTo>
                  <a:lnTo>
                    <a:pt x="964311" y="0"/>
                  </a:lnTo>
                  <a:lnTo>
                    <a:pt x="964311" y="7620"/>
                  </a:lnTo>
                  <a:lnTo>
                    <a:pt x="964311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64311" y="7620"/>
                  </a:lnTo>
                  <a:lnTo>
                    <a:pt x="964311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1016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68121" y="322961"/>
                  </a:lnTo>
                  <a:lnTo>
                    <a:pt x="969137" y="322707"/>
                  </a:lnTo>
                  <a:lnTo>
                    <a:pt x="970915" y="321818"/>
                  </a:lnTo>
                  <a:lnTo>
                    <a:pt x="971804" y="320040"/>
                  </a:lnTo>
                  <a:lnTo>
                    <a:pt x="971804" y="319151"/>
                  </a:lnTo>
                  <a:lnTo>
                    <a:pt x="971804" y="315341"/>
                  </a:lnTo>
                  <a:lnTo>
                    <a:pt x="971804" y="7620"/>
                  </a:lnTo>
                  <a:lnTo>
                    <a:pt x="971804" y="3810"/>
                  </a:lnTo>
                  <a:lnTo>
                    <a:pt x="971804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5879" y="951610"/>
              <a:ext cx="140208" cy="14020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97231" y="1366138"/>
              <a:ext cx="941705" cy="316865"/>
            </a:xfrm>
            <a:custGeom>
              <a:avLst/>
              <a:gdLst/>
              <a:ahLst/>
              <a:cxnLst/>
              <a:rect l="l" t="t" r="r" b="b"/>
              <a:pathLst>
                <a:path w="941705" h="316864">
                  <a:moveTo>
                    <a:pt x="941705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41705" y="316864"/>
                  </a:lnTo>
                  <a:lnTo>
                    <a:pt x="941705" y="0"/>
                  </a:lnTo>
                  <a:close/>
                </a:path>
              </a:pathLst>
            </a:custGeom>
            <a:solidFill>
              <a:srgbClr val="073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4183" y="1363090"/>
              <a:ext cx="947419" cy="323215"/>
            </a:xfrm>
            <a:custGeom>
              <a:avLst/>
              <a:gdLst/>
              <a:ahLst/>
              <a:cxnLst/>
              <a:rect l="l" t="t" r="r" b="b"/>
              <a:pathLst>
                <a:path w="947419" h="323214">
                  <a:moveTo>
                    <a:pt x="947293" y="3810"/>
                  </a:moveTo>
                  <a:lnTo>
                    <a:pt x="944245" y="0"/>
                  </a:lnTo>
                  <a:lnTo>
                    <a:pt x="939673" y="0"/>
                  </a:lnTo>
                  <a:lnTo>
                    <a:pt x="939673" y="7620"/>
                  </a:lnTo>
                  <a:lnTo>
                    <a:pt x="939673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39673" y="7620"/>
                  </a:lnTo>
                  <a:lnTo>
                    <a:pt x="939673" y="0"/>
                  </a:lnTo>
                  <a:lnTo>
                    <a:pt x="3009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990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43483" y="322961"/>
                  </a:lnTo>
                  <a:lnTo>
                    <a:pt x="944499" y="322707"/>
                  </a:lnTo>
                  <a:lnTo>
                    <a:pt x="946277" y="321818"/>
                  </a:lnTo>
                  <a:lnTo>
                    <a:pt x="946785" y="321056"/>
                  </a:lnTo>
                  <a:lnTo>
                    <a:pt x="947293" y="319151"/>
                  </a:lnTo>
                  <a:lnTo>
                    <a:pt x="947293" y="315341"/>
                  </a:lnTo>
                  <a:lnTo>
                    <a:pt x="947293" y="7620"/>
                  </a:lnTo>
                  <a:lnTo>
                    <a:pt x="947293" y="381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59" y="1390522"/>
              <a:ext cx="140208" cy="13716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218311" y="1366138"/>
              <a:ext cx="938530" cy="316865"/>
            </a:xfrm>
            <a:custGeom>
              <a:avLst/>
              <a:gdLst/>
              <a:ahLst/>
              <a:cxnLst/>
              <a:rect l="l" t="t" r="r" b="b"/>
              <a:pathLst>
                <a:path w="938530" h="316864">
                  <a:moveTo>
                    <a:pt x="938403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38403" y="316864"/>
                  </a:lnTo>
                  <a:lnTo>
                    <a:pt x="938403" y="0"/>
                  </a:lnTo>
                  <a:close/>
                </a:path>
              </a:pathLst>
            </a:custGeom>
            <a:solidFill>
              <a:srgbClr val="073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12215" y="1363090"/>
              <a:ext cx="947419" cy="323215"/>
            </a:xfrm>
            <a:custGeom>
              <a:avLst/>
              <a:gdLst/>
              <a:ahLst/>
              <a:cxnLst/>
              <a:rect l="l" t="t" r="r" b="b"/>
              <a:pathLst>
                <a:path w="947419" h="323214">
                  <a:moveTo>
                    <a:pt x="947293" y="2794"/>
                  </a:moveTo>
                  <a:lnTo>
                    <a:pt x="946404" y="1143"/>
                  </a:lnTo>
                  <a:lnTo>
                    <a:pt x="944372" y="0"/>
                  </a:lnTo>
                  <a:lnTo>
                    <a:pt x="939800" y="0"/>
                  </a:lnTo>
                  <a:lnTo>
                    <a:pt x="939800" y="7620"/>
                  </a:lnTo>
                  <a:lnTo>
                    <a:pt x="939800" y="315341"/>
                  </a:lnTo>
                  <a:lnTo>
                    <a:pt x="7620" y="315341"/>
                  </a:lnTo>
                  <a:lnTo>
                    <a:pt x="7620" y="7620"/>
                  </a:lnTo>
                  <a:lnTo>
                    <a:pt x="939800" y="7620"/>
                  </a:lnTo>
                  <a:lnTo>
                    <a:pt x="939800" y="0"/>
                  </a:lnTo>
                  <a:lnTo>
                    <a:pt x="3175" y="0"/>
                  </a:lnTo>
                  <a:lnTo>
                    <a:pt x="0" y="3810"/>
                  </a:lnTo>
                  <a:lnTo>
                    <a:pt x="0" y="319151"/>
                  </a:lnTo>
                  <a:lnTo>
                    <a:pt x="2794" y="322707"/>
                  </a:lnTo>
                  <a:lnTo>
                    <a:pt x="3810" y="322961"/>
                  </a:lnTo>
                  <a:lnTo>
                    <a:pt x="943610" y="322961"/>
                  </a:lnTo>
                  <a:lnTo>
                    <a:pt x="944626" y="322707"/>
                  </a:lnTo>
                  <a:lnTo>
                    <a:pt x="946404" y="321818"/>
                  </a:lnTo>
                  <a:lnTo>
                    <a:pt x="947293" y="320040"/>
                  </a:lnTo>
                  <a:lnTo>
                    <a:pt x="947293" y="319151"/>
                  </a:lnTo>
                  <a:lnTo>
                    <a:pt x="947293" y="315341"/>
                  </a:lnTo>
                  <a:lnTo>
                    <a:pt x="947293" y="7620"/>
                  </a:lnTo>
                  <a:lnTo>
                    <a:pt x="947293" y="3810"/>
                  </a:lnTo>
                  <a:lnTo>
                    <a:pt x="947293" y="2794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1839" y="1390522"/>
              <a:ext cx="140207" cy="13716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233295" y="1366138"/>
              <a:ext cx="941705" cy="316865"/>
            </a:xfrm>
            <a:custGeom>
              <a:avLst/>
              <a:gdLst/>
              <a:ahLst/>
              <a:cxnLst/>
              <a:rect l="l" t="t" r="r" b="b"/>
              <a:pathLst>
                <a:path w="941705" h="316864">
                  <a:moveTo>
                    <a:pt x="941705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41705" y="316864"/>
                  </a:lnTo>
                  <a:lnTo>
                    <a:pt x="941705" y="0"/>
                  </a:lnTo>
                  <a:close/>
                </a:path>
              </a:pathLst>
            </a:custGeom>
            <a:solidFill>
              <a:srgbClr val="073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230247" y="1363090"/>
              <a:ext cx="947419" cy="323215"/>
            </a:xfrm>
            <a:custGeom>
              <a:avLst/>
              <a:gdLst/>
              <a:ahLst/>
              <a:cxnLst/>
              <a:rect l="l" t="t" r="r" b="b"/>
              <a:pathLst>
                <a:path w="947419" h="323214">
                  <a:moveTo>
                    <a:pt x="947420" y="3810"/>
                  </a:moveTo>
                  <a:lnTo>
                    <a:pt x="944372" y="0"/>
                  </a:lnTo>
                  <a:lnTo>
                    <a:pt x="939800" y="0"/>
                  </a:lnTo>
                  <a:lnTo>
                    <a:pt x="939800" y="7620"/>
                  </a:lnTo>
                  <a:lnTo>
                    <a:pt x="939800" y="315341"/>
                  </a:lnTo>
                  <a:lnTo>
                    <a:pt x="7620" y="315341"/>
                  </a:lnTo>
                  <a:lnTo>
                    <a:pt x="7620" y="7620"/>
                  </a:lnTo>
                  <a:lnTo>
                    <a:pt x="939800" y="7620"/>
                  </a:lnTo>
                  <a:lnTo>
                    <a:pt x="939800" y="0"/>
                  </a:lnTo>
                  <a:lnTo>
                    <a:pt x="3175" y="0"/>
                  </a:lnTo>
                  <a:lnTo>
                    <a:pt x="0" y="3810"/>
                  </a:lnTo>
                  <a:lnTo>
                    <a:pt x="0" y="319151"/>
                  </a:lnTo>
                  <a:lnTo>
                    <a:pt x="2794" y="322707"/>
                  </a:lnTo>
                  <a:lnTo>
                    <a:pt x="3810" y="322961"/>
                  </a:lnTo>
                  <a:lnTo>
                    <a:pt x="943610" y="322961"/>
                  </a:lnTo>
                  <a:lnTo>
                    <a:pt x="944626" y="322707"/>
                  </a:lnTo>
                  <a:lnTo>
                    <a:pt x="946404" y="321818"/>
                  </a:lnTo>
                  <a:lnTo>
                    <a:pt x="946912" y="321056"/>
                  </a:lnTo>
                  <a:lnTo>
                    <a:pt x="947420" y="319151"/>
                  </a:lnTo>
                  <a:lnTo>
                    <a:pt x="947420" y="315341"/>
                  </a:lnTo>
                  <a:lnTo>
                    <a:pt x="947420" y="7620"/>
                  </a:lnTo>
                  <a:lnTo>
                    <a:pt x="947420" y="381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69870" y="1390522"/>
              <a:ext cx="140207" cy="13716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254375" y="1366138"/>
              <a:ext cx="939165" cy="316865"/>
            </a:xfrm>
            <a:custGeom>
              <a:avLst/>
              <a:gdLst/>
              <a:ahLst/>
              <a:cxnLst/>
              <a:rect l="l" t="t" r="r" b="b"/>
              <a:pathLst>
                <a:path w="939164" h="316864">
                  <a:moveTo>
                    <a:pt x="938657" y="0"/>
                  </a:moveTo>
                  <a:lnTo>
                    <a:pt x="0" y="0"/>
                  </a:lnTo>
                  <a:lnTo>
                    <a:pt x="0" y="316864"/>
                  </a:lnTo>
                  <a:lnTo>
                    <a:pt x="938657" y="316864"/>
                  </a:lnTo>
                  <a:lnTo>
                    <a:pt x="938657" y="0"/>
                  </a:lnTo>
                  <a:close/>
                </a:path>
              </a:pathLst>
            </a:custGeom>
            <a:solidFill>
              <a:srgbClr val="0735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251327" y="1363090"/>
              <a:ext cx="944880" cy="323215"/>
            </a:xfrm>
            <a:custGeom>
              <a:avLst/>
              <a:gdLst/>
              <a:ahLst/>
              <a:cxnLst/>
              <a:rect l="l" t="t" r="r" b="b"/>
              <a:pathLst>
                <a:path w="944880" h="323214">
                  <a:moveTo>
                    <a:pt x="944753" y="2794"/>
                  </a:moveTo>
                  <a:lnTo>
                    <a:pt x="943864" y="1143"/>
                  </a:lnTo>
                  <a:lnTo>
                    <a:pt x="941832" y="0"/>
                  </a:lnTo>
                  <a:lnTo>
                    <a:pt x="937387" y="0"/>
                  </a:lnTo>
                  <a:lnTo>
                    <a:pt x="937387" y="3810"/>
                  </a:lnTo>
                  <a:lnTo>
                    <a:pt x="937387" y="319151"/>
                  </a:lnTo>
                  <a:lnTo>
                    <a:pt x="937348" y="315341"/>
                  </a:lnTo>
                  <a:lnTo>
                    <a:pt x="7493" y="315341"/>
                  </a:lnTo>
                  <a:lnTo>
                    <a:pt x="7493" y="7620"/>
                  </a:lnTo>
                  <a:lnTo>
                    <a:pt x="937348" y="7620"/>
                  </a:lnTo>
                  <a:lnTo>
                    <a:pt x="937348" y="3810"/>
                  </a:lnTo>
                  <a:lnTo>
                    <a:pt x="937387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20040"/>
                  </a:lnTo>
                  <a:lnTo>
                    <a:pt x="381" y="321056"/>
                  </a:lnTo>
                  <a:lnTo>
                    <a:pt x="1016" y="321818"/>
                  </a:lnTo>
                  <a:lnTo>
                    <a:pt x="1778" y="322326"/>
                  </a:lnTo>
                  <a:lnTo>
                    <a:pt x="3683" y="322961"/>
                  </a:lnTo>
                  <a:lnTo>
                    <a:pt x="941070" y="322961"/>
                  </a:lnTo>
                  <a:lnTo>
                    <a:pt x="942086" y="322707"/>
                  </a:lnTo>
                  <a:lnTo>
                    <a:pt x="943864" y="321818"/>
                  </a:lnTo>
                  <a:lnTo>
                    <a:pt x="944753" y="320040"/>
                  </a:lnTo>
                  <a:lnTo>
                    <a:pt x="944753" y="319151"/>
                  </a:lnTo>
                  <a:lnTo>
                    <a:pt x="944753" y="315341"/>
                  </a:lnTo>
                  <a:lnTo>
                    <a:pt x="944753" y="7620"/>
                  </a:lnTo>
                  <a:lnTo>
                    <a:pt x="944753" y="3810"/>
                  </a:lnTo>
                  <a:lnTo>
                    <a:pt x="944753" y="2794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87903" y="1390522"/>
              <a:ext cx="140208" cy="137160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85494" y="1805050"/>
              <a:ext cx="966469" cy="304800"/>
            </a:xfrm>
            <a:custGeom>
              <a:avLst/>
              <a:gdLst/>
              <a:ahLst/>
              <a:cxnLst/>
              <a:rect l="l" t="t" r="r" b="b"/>
              <a:pathLst>
                <a:path w="966469" h="304800">
                  <a:moveTo>
                    <a:pt x="966088" y="0"/>
                  </a:moveTo>
                  <a:lnTo>
                    <a:pt x="0" y="0"/>
                  </a:lnTo>
                  <a:lnTo>
                    <a:pt x="0" y="304419"/>
                  </a:lnTo>
                  <a:lnTo>
                    <a:pt x="966088" y="304419"/>
                  </a:lnTo>
                  <a:lnTo>
                    <a:pt x="966088" y="0"/>
                  </a:lnTo>
                  <a:close/>
                </a:path>
              </a:pathLst>
            </a:custGeom>
            <a:solidFill>
              <a:srgbClr val="041E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85495" y="1798954"/>
              <a:ext cx="969010" cy="314325"/>
            </a:xfrm>
            <a:custGeom>
              <a:avLst/>
              <a:gdLst/>
              <a:ahLst/>
              <a:cxnLst/>
              <a:rect l="l" t="t" r="r" b="b"/>
              <a:pathLst>
                <a:path w="969010" h="314325">
                  <a:moveTo>
                    <a:pt x="968883" y="2794"/>
                  </a:moveTo>
                  <a:lnTo>
                    <a:pt x="968502" y="1905"/>
                  </a:lnTo>
                  <a:lnTo>
                    <a:pt x="967105" y="508"/>
                  </a:lnTo>
                  <a:lnTo>
                    <a:pt x="965835" y="0"/>
                  </a:lnTo>
                  <a:lnTo>
                    <a:pt x="961390" y="0"/>
                  </a:lnTo>
                  <a:lnTo>
                    <a:pt x="961390" y="3810"/>
                  </a:lnTo>
                  <a:lnTo>
                    <a:pt x="961390" y="310134"/>
                  </a:lnTo>
                  <a:lnTo>
                    <a:pt x="961339" y="306324"/>
                  </a:lnTo>
                  <a:lnTo>
                    <a:pt x="7493" y="306324"/>
                  </a:lnTo>
                  <a:lnTo>
                    <a:pt x="7493" y="7620"/>
                  </a:lnTo>
                  <a:lnTo>
                    <a:pt x="961339" y="7620"/>
                  </a:lnTo>
                  <a:lnTo>
                    <a:pt x="961339" y="3810"/>
                  </a:lnTo>
                  <a:lnTo>
                    <a:pt x="961390" y="0"/>
                  </a:lnTo>
                  <a:lnTo>
                    <a:pt x="2997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8" y="313436"/>
                  </a:lnTo>
                  <a:lnTo>
                    <a:pt x="2692" y="313817"/>
                  </a:lnTo>
                  <a:lnTo>
                    <a:pt x="966089" y="313817"/>
                  </a:lnTo>
                  <a:lnTo>
                    <a:pt x="967105" y="313436"/>
                  </a:lnTo>
                  <a:lnTo>
                    <a:pt x="968502" y="312039"/>
                  </a:lnTo>
                  <a:lnTo>
                    <a:pt x="968883" y="311023"/>
                  </a:lnTo>
                  <a:lnTo>
                    <a:pt x="968883" y="310134"/>
                  </a:lnTo>
                  <a:lnTo>
                    <a:pt x="968883" y="306324"/>
                  </a:lnTo>
                  <a:lnTo>
                    <a:pt x="968883" y="7620"/>
                  </a:lnTo>
                  <a:lnTo>
                    <a:pt x="968883" y="3810"/>
                  </a:lnTo>
                  <a:lnTo>
                    <a:pt x="968883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071" y="1826386"/>
              <a:ext cx="131064" cy="128016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925447" y="1805050"/>
              <a:ext cx="960119" cy="304800"/>
            </a:xfrm>
            <a:custGeom>
              <a:avLst/>
              <a:gdLst/>
              <a:ahLst/>
              <a:cxnLst/>
              <a:rect l="l" t="t" r="r" b="b"/>
              <a:pathLst>
                <a:path w="960119" h="304800">
                  <a:moveTo>
                    <a:pt x="959739" y="0"/>
                  </a:moveTo>
                  <a:lnTo>
                    <a:pt x="0" y="0"/>
                  </a:lnTo>
                  <a:lnTo>
                    <a:pt x="0" y="304419"/>
                  </a:lnTo>
                  <a:lnTo>
                    <a:pt x="959739" y="304419"/>
                  </a:lnTo>
                  <a:lnTo>
                    <a:pt x="959739" y="0"/>
                  </a:lnTo>
                  <a:close/>
                </a:path>
              </a:pathLst>
            </a:custGeom>
            <a:solidFill>
              <a:srgbClr val="041E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919351" y="1798954"/>
              <a:ext cx="972185" cy="314325"/>
            </a:xfrm>
            <a:custGeom>
              <a:avLst/>
              <a:gdLst/>
              <a:ahLst/>
              <a:cxnLst/>
              <a:rect l="l" t="t" r="r" b="b"/>
              <a:pathLst>
                <a:path w="972185" h="314325">
                  <a:moveTo>
                    <a:pt x="971931" y="2794"/>
                  </a:moveTo>
                  <a:lnTo>
                    <a:pt x="971029" y="1143"/>
                  </a:lnTo>
                  <a:lnTo>
                    <a:pt x="969010" y="0"/>
                  </a:lnTo>
                  <a:lnTo>
                    <a:pt x="964438" y="0"/>
                  </a:lnTo>
                  <a:lnTo>
                    <a:pt x="964438" y="7620"/>
                  </a:lnTo>
                  <a:lnTo>
                    <a:pt x="964438" y="306324"/>
                  </a:lnTo>
                  <a:lnTo>
                    <a:pt x="7620" y="306324"/>
                  </a:lnTo>
                  <a:lnTo>
                    <a:pt x="7620" y="7620"/>
                  </a:lnTo>
                  <a:lnTo>
                    <a:pt x="964438" y="7620"/>
                  </a:lnTo>
                  <a:lnTo>
                    <a:pt x="964438" y="0"/>
                  </a:lnTo>
                  <a:lnTo>
                    <a:pt x="3175" y="0"/>
                  </a:lnTo>
                  <a:lnTo>
                    <a:pt x="0" y="3810"/>
                  </a:lnTo>
                  <a:lnTo>
                    <a:pt x="0" y="310134"/>
                  </a:lnTo>
                  <a:lnTo>
                    <a:pt x="508" y="312039"/>
                  </a:lnTo>
                  <a:lnTo>
                    <a:pt x="1905" y="313436"/>
                  </a:lnTo>
                  <a:lnTo>
                    <a:pt x="2794" y="313817"/>
                  </a:lnTo>
                  <a:lnTo>
                    <a:pt x="969264" y="313817"/>
                  </a:lnTo>
                  <a:lnTo>
                    <a:pt x="971029" y="312801"/>
                  </a:lnTo>
                  <a:lnTo>
                    <a:pt x="971931" y="311023"/>
                  </a:lnTo>
                  <a:lnTo>
                    <a:pt x="971931" y="310134"/>
                  </a:lnTo>
                  <a:lnTo>
                    <a:pt x="971931" y="306324"/>
                  </a:lnTo>
                  <a:lnTo>
                    <a:pt x="971931" y="7620"/>
                  </a:lnTo>
                  <a:lnTo>
                    <a:pt x="971931" y="3810"/>
                  </a:lnTo>
                  <a:lnTo>
                    <a:pt x="971931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58975" y="1826386"/>
              <a:ext cx="131063" cy="12801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3062351" y="1805050"/>
              <a:ext cx="960119" cy="304800"/>
            </a:xfrm>
            <a:custGeom>
              <a:avLst/>
              <a:gdLst/>
              <a:ahLst/>
              <a:cxnLst/>
              <a:rect l="l" t="t" r="r" b="b"/>
              <a:pathLst>
                <a:path w="960119" h="304800">
                  <a:moveTo>
                    <a:pt x="959738" y="0"/>
                  </a:moveTo>
                  <a:lnTo>
                    <a:pt x="0" y="0"/>
                  </a:lnTo>
                  <a:lnTo>
                    <a:pt x="0" y="304419"/>
                  </a:lnTo>
                  <a:lnTo>
                    <a:pt x="959738" y="304419"/>
                  </a:lnTo>
                  <a:lnTo>
                    <a:pt x="959738" y="0"/>
                  </a:lnTo>
                  <a:close/>
                </a:path>
              </a:pathLst>
            </a:custGeom>
            <a:solidFill>
              <a:srgbClr val="041E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56255" y="1798954"/>
              <a:ext cx="972185" cy="314325"/>
            </a:xfrm>
            <a:custGeom>
              <a:avLst/>
              <a:gdLst/>
              <a:ahLst/>
              <a:cxnLst/>
              <a:rect l="l" t="t" r="r" b="b"/>
              <a:pathLst>
                <a:path w="972185" h="314325">
                  <a:moveTo>
                    <a:pt x="971804" y="2794"/>
                  </a:moveTo>
                  <a:lnTo>
                    <a:pt x="970915" y="1143"/>
                  </a:lnTo>
                  <a:lnTo>
                    <a:pt x="968883" y="0"/>
                  </a:lnTo>
                  <a:lnTo>
                    <a:pt x="964311" y="0"/>
                  </a:lnTo>
                  <a:lnTo>
                    <a:pt x="964311" y="7620"/>
                  </a:lnTo>
                  <a:lnTo>
                    <a:pt x="964311" y="306324"/>
                  </a:lnTo>
                  <a:lnTo>
                    <a:pt x="7493" y="306324"/>
                  </a:lnTo>
                  <a:lnTo>
                    <a:pt x="7493" y="7620"/>
                  </a:lnTo>
                  <a:lnTo>
                    <a:pt x="964311" y="7620"/>
                  </a:lnTo>
                  <a:lnTo>
                    <a:pt x="964311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8" y="313436"/>
                  </a:lnTo>
                  <a:lnTo>
                    <a:pt x="2667" y="313817"/>
                  </a:lnTo>
                  <a:lnTo>
                    <a:pt x="969137" y="313817"/>
                  </a:lnTo>
                  <a:lnTo>
                    <a:pt x="970915" y="312801"/>
                  </a:lnTo>
                  <a:lnTo>
                    <a:pt x="971804" y="311023"/>
                  </a:lnTo>
                  <a:lnTo>
                    <a:pt x="971804" y="310134"/>
                  </a:lnTo>
                  <a:lnTo>
                    <a:pt x="971804" y="306324"/>
                  </a:lnTo>
                  <a:lnTo>
                    <a:pt x="971804" y="7620"/>
                  </a:lnTo>
                  <a:lnTo>
                    <a:pt x="971804" y="3810"/>
                  </a:lnTo>
                  <a:lnTo>
                    <a:pt x="971804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5879" y="1826386"/>
              <a:ext cx="131063" cy="12801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587" y="2325750"/>
              <a:ext cx="4370070" cy="132080"/>
            </a:xfrm>
            <a:custGeom>
              <a:avLst/>
              <a:gdLst/>
              <a:ahLst/>
              <a:cxnLst/>
              <a:rect l="l" t="t" r="r" b="b"/>
              <a:pathLst>
                <a:path w="4370070" h="132080">
                  <a:moveTo>
                    <a:pt x="4370070" y="0"/>
                  </a:moveTo>
                  <a:lnTo>
                    <a:pt x="0" y="0"/>
                  </a:lnTo>
                  <a:lnTo>
                    <a:pt x="0" y="132080"/>
                  </a:lnTo>
                  <a:lnTo>
                    <a:pt x="4370070" y="132080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0" y="0"/>
              <a:ext cx="4373245" cy="2459355"/>
            </a:xfrm>
            <a:custGeom>
              <a:avLst/>
              <a:gdLst/>
              <a:ahLst/>
              <a:cxnLst/>
              <a:rect l="l" t="t" r="r" b="b"/>
              <a:pathLst>
                <a:path w="4373245" h="2459355">
                  <a:moveTo>
                    <a:pt x="1587" y="0"/>
                  </a:moveTo>
                  <a:lnTo>
                    <a:pt x="1587" y="2459355"/>
                  </a:lnTo>
                </a:path>
                <a:path w="4373245" h="2459355">
                  <a:moveTo>
                    <a:pt x="4371594" y="0"/>
                  </a:moveTo>
                  <a:lnTo>
                    <a:pt x="4371594" y="2459355"/>
                  </a:lnTo>
                </a:path>
                <a:path w="4373245" h="2459355">
                  <a:moveTo>
                    <a:pt x="0" y="1650"/>
                  </a:moveTo>
                  <a:lnTo>
                    <a:pt x="4373245" y="16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0" y="2457830"/>
              <a:ext cx="4373245" cy="0"/>
            </a:xfrm>
            <a:custGeom>
              <a:avLst/>
              <a:gdLst/>
              <a:ahLst/>
              <a:cxnLst/>
              <a:rect l="l" t="t" r="r" b="b"/>
              <a:pathLst>
                <a:path w="4373245" h="0">
                  <a:moveTo>
                    <a:pt x="0" y="0"/>
                  </a:moveTo>
                  <a:lnTo>
                    <a:pt x="4373245" y="0"/>
                  </a:lnTo>
                </a:path>
              </a:pathLst>
            </a:custGeom>
            <a:ln w="3175">
              <a:solidFill>
                <a:srgbClr val="09152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/>
              <a:t>System</a:t>
            </a:r>
            <a:r>
              <a:rPr dirty="0" sz="1000" spc="-60"/>
              <a:t> </a:t>
            </a:r>
            <a:r>
              <a:rPr dirty="0" sz="1000" spc="-10"/>
              <a:t>Architecture</a:t>
            </a:r>
            <a:endParaRPr sz="1000"/>
          </a:p>
        </p:txBody>
      </p:sp>
      <p:sp>
        <p:nvSpPr>
          <p:cNvPr id="56" name="object 56" descr=""/>
          <p:cNvSpPr txBox="1"/>
          <p:nvPr/>
        </p:nvSpPr>
        <p:spPr>
          <a:xfrm>
            <a:off x="152527" y="260730"/>
            <a:ext cx="1070610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End-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to-End</a:t>
            </a:r>
            <a:r>
              <a:rPr dirty="0" sz="500" spc="6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AWS</a:t>
            </a:r>
            <a:r>
              <a:rPr dirty="0" sz="500" spc="4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Cloud</a:t>
            </a:r>
            <a:r>
              <a:rPr dirty="0" sz="500" spc="9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Architecture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09601" y="494791"/>
            <a:ext cx="414909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0"/>
              </a:spcBef>
            </a:pPr>
            <a:r>
              <a:rPr dirty="0" sz="350" b="1">
                <a:solidFill>
                  <a:srgbClr val="12A8BD"/>
                </a:solidFill>
                <a:latin typeface="Arial"/>
                <a:cs typeface="Arial"/>
              </a:rPr>
              <a:t>PRESENTATION</a:t>
            </a:r>
            <a:r>
              <a:rPr dirty="0" sz="350" spc="10" b="1">
                <a:solidFill>
                  <a:srgbClr val="12A8BD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2A8BD"/>
                </a:solidFill>
                <a:latin typeface="Arial"/>
                <a:cs typeface="Arial"/>
              </a:rPr>
              <a:t>LAYER</a:t>
            </a:r>
            <a:endParaRPr sz="35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789177" y="598423"/>
            <a:ext cx="9582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CloudFront</a:t>
            </a:r>
            <a:r>
              <a:rPr dirty="0" sz="4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CDN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923161" y="598423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S3</a:t>
            </a:r>
            <a:r>
              <a:rPr dirty="0" sz="4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Static</a:t>
            </a:r>
            <a:r>
              <a:rPr dirty="0" sz="4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3059938" y="598423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Web</a:t>
            </a:r>
            <a:r>
              <a:rPr dirty="0" sz="4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Mobile</a:t>
            </a:r>
            <a:r>
              <a:rPr dirty="0" sz="4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Clients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9601" y="940180"/>
            <a:ext cx="414909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0"/>
              </a:spcBef>
            </a:pPr>
            <a:r>
              <a:rPr dirty="0" sz="350" b="1">
                <a:solidFill>
                  <a:srgbClr val="12A8BD"/>
                </a:solidFill>
                <a:latin typeface="Arial"/>
                <a:cs typeface="Arial"/>
              </a:rPr>
              <a:t>APPLICATION</a:t>
            </a:r>
            <a:r>
              <a:rPr dirty="0" sz="350" spc="-10" b="1">
                <a:solidFill>
                  <a:srgbClr val="12A8BD"/>
                </a:solidFill>
                <a:latin typeface="Arial"/>
                <a:cs typeface="Arial"/>
              </a:rPr>
              <a:t> LAYER</a:t>
            </a:r>
            <a:endParaRPr sz="35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789177" y="1046860"/>
            <a:ext cx="9582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EC2</a:t>
            </a:r>
            <a:r>
              <a:rPr dirty="0" sz="4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4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923161" y="1046860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REST</a:t>
            </a:r>
            <a:r>
              <a:rPr dirty="0" sz="4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dirty="0" sz="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3059938" y="1046860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EHR</a:t>
            </a:r>
            <a:r>
              <a:rPr dirty="0" sz="4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Connectors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09601" y="1388236"/>
            <a:ext cx="414909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0"/>
              </a:spcBef>
            </a:pPr>
            <a:r>
              <a:rPr dirty="0" sz="350" spc="-25" b="1">
                <a:solidFill>
                  <a:srgbClr val="12A8BD"/>
                </a:solidFill>
                <a:latin typeface="Arial"/>
                <a:cs typeface="Arial"/>
              </a:rPr>
              <a:t>AI</a:t>
            </a:r>
            <a:endParaRPr sz="35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97866" y="1368043"/>
            <a:ext cx="935990" cy="2190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10"/>
              </a:spcBef>
            </a:pPr>
            <a:r>
              <a:rPr dirty="0" sz="350" b="1">
                <a:solidFill>
                  <a:srgbClr val="12A8BD"/>
                </a:solidFill>
                <a:latin typeface="Arial"/>
                <a:cs typeface="Arial"/>
              </a:rPr>
              <a:t>/</a:t>
            </a:r>
            <a:r>
              <a:rPr dirty="0" sz="350" spc="-5" b="1">
                <a:solidFill>
                  <a:srgbClr val="12A8BD"/>
                </a:solidFill>
                <a:latin typeface="Arial"/>
                <a:cs typeface="Arial"/>
              </a:rPr>
              <a:t> </a:t>
            </a:r>
            <a:r>
              <a:rPr dirty="0" sz="350" b="1">
                <a:solidFill>
                  <a:srgbClr val="12A8BD"/>
                </a:solidFill>
                <a:latin typeface="Arial"/>
                <a:cs typeface="Arial"/>
              </a:rPr>
              <a:t>ANALYTICS </a:t>
            </a:r>
            <a:r>
              <a:rPr dirty="0" sz="350" spc="-10" b="1">
                <a:solidFill>
                  <a:srgbClr val="12A8BD"/>
                </a:solidFill>
                <a:latin typeface="Arial"/>
                <a:cs typeface="Arial"/>
              </a:rPr>
              <a:t>LAYER</a:t>
            </a: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5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Bedrock</a:t>
            </a:r>
            <a:r>
              <a:rPr dirty="0" sz="4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LLM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KB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216025" y="1491868"/>
            <a:ext cx="93599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Comprehend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 Medical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234057" y="1491868"/>
            <a:ext cx="93599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5"/>
              </a:spcBef>
            </a:pP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HealthImaging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3255009" y="1491868"/>
            <a:ext cx="93408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OpenSearch</a:t>
            </a:r>
            <a:r>
              <a:rPr dirty="0" sz="4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RAG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09601" y="1836546"/>
            <a:ext cx="414909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0"/>
              </a:spcBef>
            </a:pPr>
            <a:r>
              <a:rPr dirty="0" sz="350" b="1">
                <a:solidFill>
                  <a:srgbClr val="12A8BD"/>
                </a:solidFill>
                <a:latin typeface="Arial"/>
                <a:cs typeface="Arial"/>
              </a:rPr>
              <a:t>DATA</a:t>
            </a:r>
            <a:r>
              <a:rPr dirty="0" sz="350" spc="-5" b="1">
                <a:solidFill>
                  <a:srgbClr val="12A8BD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2A8BD"/>
                </a:solidFill>
                <a:latin typeface="Arial"/>
                <a:cs typeface="Arial"/>
              </a:rPr>
              <a:t>LAYER</a:t>
            </a:r>
            <a:endParaRPr sz="35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89177" y="1927986"/>
            <a:ext cx="9582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S3</a:t>
            </a:r>
            <a:r>
              <a:rPr dirty="0" sz="4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4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FFFFFF"/>
                </a:solidFill>
                <a:latin typeface="Arial MT"/>
                <a:cs typeface="Arial MT"/>
              </a:rPr>
              <a:t>Lake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923161" y="1927986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IAM</a:t>
            </a:r>
            <a:r>
              <a:rPr dirty="0" sz="4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+ KMS</a:t>
            </a:r>
            <a:r>
              <a:rPr dirty="0" sz="4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Encryption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3059938" y="1927986"/>
            <a:ext cx="96075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VPC</a:t>
            </a:r>
            <a:r>
              <a:rPr dirty="0" sz="4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Private</a:t>
            </a:r>
            <a:r>
              <a:rPr dirty="0" sz="4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Subnets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59" y="2459989"/>
            <a:ext cx="4370705" cy="2540"/>
          </a:xfrm>
          <a:custGeom>
            <a:avLst/>
            <a:gdLst/>
            <a:ahLst/>
            <a:cxnLst/>
            <a:rect l="l" t="t" r="r" b="b"/>
            <a:pathLst>
              <a:path w="4370705" h="2539">
                <a:moveTo>
                  <a:pt x="0" y="2540"/>
                </a:moveTo>
                <a:lnTo>
                  <a:pt x="4370578" y="2540"/>
                </a:lnTo>
                <a:lnTo>
                  <a:pt x="4370578" y="0"/>
                </a:lnTo>
                <a:lnTo>
                  <a:pt x="0" y="0"/>
                </a:lnTo>
                <a:lnTo>
                  <a:pt x="0" y="254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-508"/>
            <a:ext cx="4373245" cy="2462530"/>
            <a:chOff x="0" y="-508"/>
            <a:chExt cx="4373245" cy="2462530"/>
          </a:xfrm>
        </p:grpSpPr>
        <p:sp>
          <p:nvSpPr>
            <p:cNvPr id="4" name="object 4" descr=""/>
            <p:cNvSpPr/>
            <p:nvPr/>
          </p:nvSpPr>
          <p:spPr>
            <a:xfrm>
              <a:off x="2159" y="3047"/>
              <a:ext cx="4370705" cy="2320925"/>
            </a:xfrm>
            <a:custGeom>
              <a:avLst/>
              <a:gdLst/>
              <a:ahLst/>
              <a:cxnLst/>
              <a:rect l="l" t="t" r="r" b="b"/>
              <a:pathLst>
                <a:path w="4370705" h="2320925">
                  <a:moveTo>
                    <a:pt x="0" y="2320416"/>
                  </a:moveTo>
                  <a:lnTo>
                    <a:pt x="4370578" y="2320416"/>
                  </a:lnTo>
                  <a:lnTo>
                    <a:pt x="4370578" y="0"/>
                  </a:lnTo>
                  <a:lnTo>
                    <a:pt x="0" y="0"/>
                  </a:lnTo>
                  <a:lnTo>
                    <a:pt x="0" y="2320416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59" y="-508"/>
              <a:ext cx="63500" cy="420370"/>
            </a:xfrm>
            <a:custGeom>
              <a:avLst/>
              <a:gdLst/>
              <a:ahLst/>
              <a:cxnLst/>
              <a:rect l="l" t="t" r="r" b="b"/>
              <a:pathLst>
                <a:path w="63500" h="420370">
                  <a:moveTo>
                    <a:pt x="63068" y="417830"/>
                  </a:moveTo>
                  <a:lnTo>
                    <a:pt x="59118" y="417830"/>
                  </a:lnTo>
                  <a:lnTo>
                    <a:pt x="59118" y="1270"/>
                  </a:lnTo>
                  <a:lnTo>
                    <a:pt x="59664" y="1270"/>
                  </a:lnTo>
                  <a:lnTo>
                    <a:pt x="596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17830"/>
                  </a:lnTo>
                  <a:lnTo>
                    <a:pt x="190" y="417830"/>
                  </a:lnTo>
                  <a:lnTo>
                    <a:pt x="190" y="420370"/>
                  </a:lnTo>
                  <a:lnTo>
                    <a:pt x="63068" y="420370"/>
                  </a:lnTo>
                  <a:lnTo>
                    <a:pt x="63068" y="41783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23" y="423671"/>
              <a:ext cx="1402080" cy="9204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5791" y="457199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355" y="0"/>
                  </a:moveTo>
                  <a:lnTo>
                    <a:pt x="3136" y="0"/>
                  </a:lnTo>
                  <a:lnTo>
                    <a:pt x="0" y="3810"/>
                  </a:lnTo>
                  <a:lnTo>
                    <a:pt x="0" y="212344"/>
                  </a:lnTo>
                  <a:lnTo>
                    <a:pt x="2832" y="215900"/>
                  </a:lnTo>
                  <a:lnTo>
                    <a:pt x="1316609" y="215900"/>
                  </a:lnTo>
                  <a:lnTo>
                    <a:pt x="1319403" y="212344"/>
                  </a:lnTo>
                  <a:lnTo>
                    <a:pt x="1319403" y="3810"/>
                  </a:lnTo>
                  <a:lnTo>
                    <a:pt x="1316355" y="0"/>
                  </a:lnTo>
                  <a:close/>
                </a:path>
              </a:pathLst>
            </a:custGeom>
            <a:solidFill>
              <a:srgbClr val="7A39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559" y="496823"/>
              <a:ext cx="140208" cy="13715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6055" y="423671"/>
              <a:ext cx="1402080" cy="92049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504822" y="457199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227" y="0"/>
                  </a:moveTo>
                  <a:lnTo>
                    <a:pt x="3047" y="0"/>
                  </a:lnTo>
                  <a:lnTo>
                    <a:pt x="1777" y="507"/>
                  </a:lnTo>
                  <a:lnTo>
                    <a:pt x="381" y="1904"/>
                  </a:lnTo>
                  <a:lnTo>
                    <a:pt x="0" y="2794"/>
                  </a:lnTo>
                  <a:lnTo>
                    <a:pt x="0" y="213232"/>
                  </a:lnTo>
                  <a:lnTo>
                    <a:pt x="381" y="214249"/>
                  </a:lnTo>
                  <a:lnTo>
                    <a:pt x="1015" y="215011"/>
                  </a:lnTo>
                  <a:lnTo>
                    <a:pt x="2666" y="215900"/>
                  </a:lnTo>
                  <a:lnTo>
                    <a:pt x="1316482" y="215900"/>
                  </a:lnTo>
                  <a:lnTo>
                    <a:pt x="1319276" y="212344"/>
                  </a:lnTo>
                  <a:lnTo>
                    <a:pt x="1319276" y="3810"/>
                  </a:lnTo>
                  <a:lnTo>
                    <a:pt x="1316227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591" y="496823"/>
              <a:ext cx="140207" cy="13715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5086" y="423671"/>
              <a:ext cx="1402079" cy="92049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903854" y="457199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355" y="0"/>
                  </a:moveTo>
                  <a:lnTo>
                    <a:pt x="3175" y="0"/>
                  </a:lnTo>
                  <a:lnTo>
                    <a:pt x="0" y="3810"/>
                  </a:lnTo>
                  <a:lnTo>
                    <a:pt x="0" y="212344"/>
                  </a:lnTo>
                  <a:lnTo>
                    <a:pt x="2794" y="215900"/>
                  </a:lnTo>
                  <a:lnTo>
                    <a:pt x="1316609" y="215900"/>
                  </a:lnTo>
                  <a:lnTo>
                    <a:pt x="1318387" y="215011"/>
                  </a:lnTo>
                  <a:lnTo>
                    <a:pt x="1319022" y="214249"/>
                  </a:lnTo>
                  <a:lnTo>
                    <a:pt x="1319403" y="213232"/>
                  </a:lnTo>
                  <a:lnTo>
                    <a:pt x="1319403" y="2794"/>
                  </a:lnTo>
                  <a:lnTo>
                    <a:pt x="1319022" y="1904"/>
                  </a:lnTo>
                  <a:lnTo>
                    <a:pt x="1317625" y="507"/>
                  </a:lnTo>
                  <a:lnTo>
                    <a:pt x="1316355" y="0"/>
                  </a:lnTo>
                  <a:close/>
                </a:path>
              </a:pathLst>
            </a:custGeom>
            <a:solidFill>
              <a:srgbClr val="0D92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2623" y="496823"/>
              <a:ext cx="140208" cy="13715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23" y="1319783"/>
              <a:ext cx="1402080" cy="92049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05791" y="1353311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355" y="0"/>
                  </a:moveTo>
                  <a:lnTo>
                    <a:pt x="3136" y="0"/>
                  </a:lnTo>
                  <a:lnTo>
                    <a:pt x="0" y="3810"/>
                  </a:lnTo>
                  <a:lnTo>
                    <a:pt x="0" y="212344"/>
                  </a:lnTo>
                  <a:lnTo>
                    <a:pt x="2832" y="215900"/>
                  </a:lnTo>
                  <a:lnTo>
                    <a:pt x="1316609" y="215900"/>
                  </a:lnTo>
                  <a:lnTo>
                    <a:pt x="1319403" y="212344"/>
                  </a:lnTo>
                  <a:lnTo>
                    <a:pt x="1319403" y="3810"/>
                  </a:lnTo>
                  <a:lnTo>
                    <a:pt x="1316355" y="0"/>
                  </a:lnTo>
                  <a:close/>
                </a:path>
              </a:pathLst>
            </a:custGeom>
            <a:solidFill>
              <a:srgbClr val="E86A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559" y="1392935"/>
              <a:ext cx="140208" cy="14020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6055" y="1319783"/>
              <a:ext cx="1402080" cy="9204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04822" y="1353311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227" y="0"/>
                  </a:moveTo>
                  <a:lnTo>
                    <a:pt x="3047" y="0"/>
                  </a:lnTo>
                  <a:lnTo>
                    <a:pt x="1777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213233"/>
                  </a:lnTo>
                  <a:lnTo>
                    <a:pt x="381" y="214249"/>
                  </a:lnTo>
                  <a:lnTo>
                    <a:pt x="1015" y="215011"/>
                  </a:lnTo>
                  <a:lnTo>
                    <a:pt x="2666" y="215900"/>
                  </a:lnTo>
                  <a:lnTo>
                    <a:pt x="1316482" y="215900"/>
                  </a:lnTo>
                  <a:lnTo>
                    <a:pt x="1319276" y="212344"/>
                  </a:lnTo>
                  <a:lnTo>
                    <a:pt x="1319276" y="3810"/>
                  </a:lnTo>
                  <a:lnTo>
                    <a:pt x="1316227" y="0"/>
                  </a:lnTo>
                  <a:close/>
                </a:path>
              </a:pathLst>
            </a:custGeom>
            <a:solidFill>
              <a:srgbClr val="0369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3591" y="1392935"/>
              <a:ext cx="140207" cy="14020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5086" y="1319783"/>
              <a:ext cx="1402079" cy="92049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903854" y="1353311"/>
              <a:ext cx="1319530" cy="215900"/>
            </a:xfrm>
            <a:custGeom>
              <a:avLst/>
              <a:gdLst/>
              <a:ahLst/>
              <a:cxnLst/>
              <a:rect l="l" t="t" r="r" b="b"/>
              <a:pathLst>
                <a:path w="1319530" h="215900">
                  <a:moveTo>
                    <a:pt x="1316355" y="0"/>
                  </a:moveTo>
                  <a:lnTo>
                    <a:pt x="3175" y="0"/>
                  </a:lnTo>
                  <a:lnTo>
                    <a:pt x="0" y="3810"/>
                  </a:lnTo>
                  <a:lnTo>
                    <a:pt x="0" y="212344"/>
                  </a:lnTo>
                  <a:lnTo>
                    <a:pt x="2794" y="215900"/>
                  </a:lnTo>
                  <a:lnTo>
                    <a:pt x="1316609" y="215900"/>
                  </a:lnTo>
                  <a:lnTo>
                    <a:pt x="1318387" y="215011"/>
                  </a:lnTo>
                  <a:lnTo>
                    <a:pt x="1319022" y="214249"/>
                  </a:lnTo>
                  <a:lnTo>
                    <a:pt x="1319403" y="213233"/>
                  </a:lnTo>
                  <a:lnTo>
                    <a:pt x="1319403" y="2794"/>
                  </a:lnTo>
                  <a:lnTo>
                    <a:pt x="1319022" y="1905"/>
                  </a:lnTo>
                  <a:lnTo>
                    <a:pt x="1317625" y="508"/>
                  </a:lnTo>
                  <a:lnTo>
                    <a:pt x="1316355" y="0"/>
                  </a:lnTo>
                  <a:close/>
                </a:path>
              </a:pathLst>
            </a:custGeom>
            <a:solidFill>
              <a:srgbClr val="BC1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52623" y="1392935"/>
              <a:ext cx="140208" cy="14020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1277" y="2539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59"/>
                  </a:lnTo>
                  <a:lnTo>
                    <a:pt x="4310380" y="416559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87" y="2323464"/>
              <a:ext cx="4370070" cy="136525"/>
            </a:xfrm>
            <a:custGeom>
              <a:avLst/>
              <a:gdLst/>
              <a:ahLst/>
              <a:cxnLst/>
              <a:rect l="l" t="t" r="r" b="b"/>
              <a:pathLst>
                <a:path w="4370070" h="136525">
                  <a:moveTo>
                    <a:pt x="4370070" y="0"/>
                  </a:moveTo>
                  <a:lnTo>
                    <a:pt x="0" y="0"/>
                  </a:lnTo>
                  <a:lnTo>
                    <a:pt x="0" y="136525"/>
                  </a:lnTo>
                  <a:lnTo>
                    <a:pt x="4370070" y="136525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0" y="415924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0" y="888"/>
              <a:ext cx="4373245" cy="2460625"/>
            </a:xfrm>
            <a:custGeom>
              <a:avLst/>
              <a:gdLst/>
              <a:ahLst/>
              <a:cxnLst/>
              <a:rect l="l" t="t" r="r" b="b"/>
              <a:pathLst>
                <a:path w="4373245" h="2460625">
                  <a:moveTo>
                    <a:pt x="1587" y="0"/>
                  </a:moveTo>
                  <a:lnTo>
                    <a:pt x="1587" y="2460624"/>
                  </a:lnTo>
                </a:path>
                <a:path w="4373245" h="2460625">
                  <a:moveTo>
                    <a:pt x="4371594" y="0"/>
                  </a:moveTo>
                  <a:lnTo>
                    <a:pt x="4371594" y="2460624"/>
                  </a:lnTo>
                </a:path>
                <a:path w="4373245" h="2460625">
                  <a:moveTo>
                    <a:pt x="0" y="1650"/>
                  </a:moveTo>
                  <a:lnTo>
                    <a:pt x="4373245" y="1650"/>
                  </a:lnTo>
                </a:path>
                <a:path w="4373245" h="2460625">
                  <a:moveTo>
                    <a:pt x="0" y="2459100"/>
                  </a:moveTo>
                  <a:lnTo>
                    <a:pt x="4373245" y="24591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/>
              <a:t>Core</a:t>
            </a:r>
            <a:r>
              <a:rPr dirty="0" sz="1000" spc="-70"/>
              <a:t> </a:t>
            </a:r>
            <a:r>
              <a:rPr dirty="0" sz="1000" spc="-25"/>
              <a:t>AWS</a:t>
            </a:r>
            <a:r>
              <a:rPr dirty="0" sz="1000" spc="-30"/>
              <a:t> </a:t>
            </a:r>
            <a:r>
              <a:rPr dirty="0" sz="1000"/>
              <a:t>AI</a:t>
            </a:r>
            <a:r>
              <a:rPr dirty="0" sz="1000" spc="10"/>
              <a:t> </a:t>
            </a:r>
            <a:r>
              <a:rPr dirty="0" sz="1000" spc="-10"/>
              <a:t>Services</a:t>
            </a:r>
            <a:endParaRPr sz="1000"/>
          </a:p>
        </p:txBody>
      </p:sp>
      <p:sp>
        <p:nvSpPr>
          <p:cNvPr id="29" name="object 29" descr=""/>
          <p:cNvSpPr txBox="1"/>
          <p:nvPr/>
        </p:nvSpPr>
        <p:spPr>
          <a:xfrm>
            <a:off x="152527" y="260349"/>
            <a:ext cx="113665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Intelligence</a:t>
            </a:r>
            <a:r>
              <a:rPr dirty="0" sz="500" spc="5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Layer</a:t>
            </a:r>
            <a:r>
              <a:rPr dirty="0" sz="500" spc="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—</a:t>
            </a:r>
            <a:r>
              <a:rPr dirty="0" sz="500" spc="4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Key</a:t>
            </a:r>
            <a:r>
              <a:rPr dirty="0" sz="500" spc="6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Components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5791" y="457199"/>
            <a:ext cx="1319530" cy="2159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515"/>
              </a:spcBef>
            </a:pP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Amazon</a:t>
            </a: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Bedrock</a:t>
            </a:r>
            <a:endParaRPr sz="5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04822" y="457199"/>
            <a:ext cx="1319530" cy="2159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515"/>
              </a:spcBef>
            </a:pP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Comprehend</a:t>
            </a:r>
            <a:r>
              <a:rPr dirty="0" sz="5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903854" y="457199"/>
            <a:ext cx="1319530" cy="2159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515"/>
              </a:spcBef>
            </a:pP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AWS</a:t>
            </a:r>
            <a:r>
              <a:rPr dirty="0" sz="5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HealthImaging</a:t>
            </a:r>
            <a:endParaRPr sz="5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84226" y="835914"/>
            <a:ext cx="1076325" cy="3086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8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Managed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LLM</a:t>
            </a:r>
            <a:r>
              <a:rPr dirty="0" sz="4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service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(Claude).</a:t>
            </a:r>
            <a:r>
              <a:rPr dirty="0" sz="45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Powers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report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generation,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treatment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recommendations,</a:t>
            </a:r>
            <a:r>
              <a:rPr dirty="0" sz="450" spc="-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Q&amp;A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context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from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records.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584197" y="835914"/>
            <a:ext cx="1114425" cy="3086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8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NLP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service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extracting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entities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solidFill>
                  <a:srgbClr val="334153"/>
                </a:solidFill>
                <a:latin typeface="Arial MT"/>
                <a:cs typeface="Arial MT"/>
              </a:rPr>
              <a:t>—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diagnoses,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medications,</a:t>
            </a:r>
            <a:r>
              <a:rPr dirty="0" sz="450" spc="9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procedures,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dosages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—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from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unstructured</a:t>
            </a:r>
            <a:r>
              <a:rPr dirty="0" sz="45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text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discharge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summaries.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984119" y="835914"/>
            <a:ext cx="1105535" cy="3086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8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HIPAA-eligible managed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imaging</a:t>
            </a:r>
            <a:r>
              <a:rPr dirty="0" sz="4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service.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Stores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8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retrieves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DICOM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images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at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scale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450" spc="9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sub-second</a:t>
            </a:r>
            <a:r>
              <a:rPr dirty="0" sz="45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access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integrated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ML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analysis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support.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05791" y="1353311"/>
            <a:ext cx="13195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55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OpenSearch</a:t>
            </a:r>
            <a:r>
              <a:rPr dirty="0" sz="5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(Vector</a:t>
            </a:r>
            <a:r>
              <a:rPr dirty="0" sz="5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 b="1">
                <a:solidFill>
                  <a:srgbClr val="FFFFFF"/>
                </a:solidFill>
                <a:latin typeface="Arial"/>
                <a:cs typeface="Arial"/>
              </a:rPr>
              <a:t>RAG)</a:t>
            </a:r>
            <a:endParaRPr sz="5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504822" y="1353311"/>
            <a:ext cx="13195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5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Bedrock</a:t>
            </a:r>
            <a:r>
              <a:rPr dirty="0" sz="5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5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903854" y="1353311"/>
            <a:ext cx="13195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550">
              <a:latin typeface="Times New Roman"/>
              <a:cs typeface="Times New Roman"/>
            </a:endParaRPr>
          </a:p>
          <a:p>
            <a:pPr marL="269240">
              <a:lnSpc>
                <a:spcPct val="100000"/>
              </a:lnSpc>
            </a:pP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5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dirty="0" sz="5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84226" y="1756054"/>
            <a:ext cx="1109345" cy="312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1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Vector</a:t>
            </a:r>
            <a:r>
              <a:rPr dirty="0" sz="45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database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for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semantic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search.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4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records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are</a:t>
            </a:r>
            <a:r>
              <a:rPr dirty="0" sz="450" spc="9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embedded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indexed,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enabling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4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RAG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pipeline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retrieve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relevant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context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for LLM</a:t>
            </a:r>
            <a:r>
              <a:rPr dirty="0" sz="4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prompts.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584197" y="1756054"/>
            <a:ext cx="1097915" cy="312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1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Managed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RAG with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automatic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chunking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1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embedding.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Connects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LLMs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to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guidelines and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history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stored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S3.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984119" y="1756054"/>
            <a:ext cx="1127760" cy="312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1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Orchestrates</a:t>
            </a:r>
            <a:r>
              <a:rPr dirty="0" sz="45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Comprehend</a:t>
            </a:r>
            <a:r>
              <a:rPr dirty="0" sz="4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4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solidFill>
                  <a:srgbClr val="334153"/>
                </a:solidFill>
                <a:latin typeface="Arial MT"/>
                <a:cs typeface="Arial MT"/>
              </a:rPr>
              <a:t>+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HealthImaging</a:t>
            </a:r>
            <a:r>
              <a:rPr dirty="0" sz="45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+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LLM to</a:t>
            </a:r>
            <a:r>
              <a:rPr dirty="0" sz="450" spc="6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generate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prioritised,</a:t>
            </a:r>
            <a:r>
              <a:rPr dirty="0" sz="45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evidence-backed</a:t>
            </a:r>
            <a:r>
              <a:rPr dirty="0" sz="450" spc="9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diagnostic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insights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for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clinicians.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159" y="3682"/>
            <a:ext cx="4370705" cy="2325370"/>
            <a:chOff x="2159" y="3682"/>
            <a:chExt cx="4370705" cy="2325370"/>
          </a:xfrm>
        </p:grpSpPr>
        <p:sp>
          <p:nvSpPr>
            <p:cNvPr id="3" name="object 3" descr=""/>
            <p:cNvSpPr/>
            <p:nvPr/>
          </p:nvSpPr>
          <p:spPr>
            <a:xfrm>
              <a:off x="2159" y="418210"/>
              <a:ext cx="4370705" cy="1910714"/>
            </a:xfrm>
            <a:custGeom>
              <a:avLst/>
              <a:gdLst/>
              <a:ahLst/>
              <a:cxnLst/>
              <a:rect l="l" t="t" r="r" b="b"/>
              <a:pathLst>
                <a:path w="4370705" h="1910714">
                  <a:moveTo>
                    <a:pt x="4370578" y="0"/>
                  </a:moveTo>
                  <a:lnTo>
                    <a:pt x="0" y="0"/>
                  </a:lnTo>
                  <a:lnTo>
                    <a:pt x="0" y="1910588"/>
                  </a:lnTo>
                  <a:lnTo>
                    <a:pt x="4370578" y="1910588"/>
                  </a:lnTo>
                  <a:lnTo>
                    <a:pt x="4370578" y="0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59" y="3682"/>
              <a:ext cx="63500" cy="417195"/>
            </a:xfrm>
            <a:custGeom>
              <a:avLst/>
              <a:gdLst/>
              <a:ahLst/>
              <a:cxnLst/>
              <a:rect l="l" t="t" r="r" b="b"/>
              <a:pathLst>
                <a:path w="63500" h="417195">
                  <a:moveTo>
                    <a:pt x="63500" y="413131"/>
                  </a:moveTo>
                  <a:lnTo>
                    <a:pt x="59118" y="413131"/>
                  </a:lnTo>
                  <a:lnTo>
                    <a:pt x="59118" y="409448"/>
                  </a:lnTo>
                  <a:lnTo>
                    <a:pt x="59118" y="3810"/>
                  </a:lnTo>
                  <a:lnTo>
                    <a:pt x="59118" y="0"/>
                  </a:lnTo>
                  <a:lnTo>
                    <a:pt x="56172" y="0"/>
                  </a:lnTo>
                  <a:lnTo>
                    <a:pt x="56172" y="3810"/>
                  </a:lnTo>
                  <a:lnTo>
                    <a:pt x="56172" y="409448"/>
                  </a:lnTo>
                  <a:lnTo>
                    <a:pt x="56172" y="413131"/>
                  </a:lnTo>
                  <a:lnTo>
                    <a:pt x="3733" y="413131"/>
                  </a:lnTo>
                  <a:lnTo>
                    <a:pt x="0" y="409448"/>
                  </a:lnTo>
                  <a:lnTo>
                    <a:pt x="0" y="416941"/>
                  </a:lnTo>
                  <a:lnTo>
                    <a:pt x="59893" y="416941"/>
                  </a:lnTo>
                  <a:lnTo>
                    <a:pt x="60858" y="416814"/>
                  </a:lnTo>
                  <a:lnTo>
                    <a:pt x="61760" y="416433"/>
                  </a:lnTo>
                  <a:lnTo>
                    <a:pt x="62547" y="415925"/>
                  </a:lnTo>
                  <a:lnTo>
                    <a:pt x="63131" y="415036"/>
                  </a:lnTo>
                  <a:lnTo>
                    <a:pt x="63500" y="414147"/>
                  </a:lnTo>
                  <a:lnTo>
                    <a:pt x="63500" y="413131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871" y="433450"/>
              <a:ext cx="167640" cy="16764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12927" y="485926"/>
            <a:ext cx="32384" cy="64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5"/>
              </a:lnSpc>
            </a:pPr>
            <a:r>
              <a:rPr dirty="0" sz="450" spc="-50" b="1">
                <a:solidFill>
                  <a:srgbClr val="0D7A8F"/>
                </a:solidFill>
                <a:latin typeface="Arial"/>
                <a:cs typeface="Arial"/>
              </a:rPr>
              <a:t>1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9695" y="433450"/>
            <a:ext cx="1640205" cy="1021080"/>
            <a:chOff x="99695" y="433450"/>
            <a:chExt cx="1640205" cy="102108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215" y="515746"/>
              <a:ext cx="167640" cy="1645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31" y="448690"/>
              <a:ext cx="810768" cy="52425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695" y="948562"/>
              <a:ext cx="853440" cy="50596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8463" y="982090"/>
              <a:ext cx="771525" cy="33020"/>
            </a:xfrm>
            <a:custGeom>
              <a:avLst/>
              <a:gdLst/>
              <a:ahLst/>
              <a:cxnLst/>
              <a:rect l="l" t="t" r="r" b="b"/>
              <a:pathLst>
                <a:path w="771525" h="33019">
                  <a:moveTo>
                    <a:pt x="767969" y="0"/>
                  </a:moveTo>
                  <a:lnTo>
                    <a:pt x="3098" y="0"/>
                  </a:lnTo>
                  <a:lnTo>
                    <a:pt x="0" y="3682"/>
                  </a:lnTo>
                  <a:lnTo>
                    <a:pt x="0" y="29337"/>
                  </a:lnTo>
                  <a:lnTo>
                    <a:pt x="2806" y="33019"/>
                  </a:lnTo>
                  <a:lnTo>
                    <a:pt x="768222" y="33019"/>
                  </a:lnTo>
                  <a:lnTo>
                    <a:pt x="771016" y="29337"/>
                  </a:lnTo>
                  <a:lnTo>
                    <a:pt x="771016" y="3682"/>
                  </a:lnTo>
                  <a:lnTo>
                    <a:pt x="767969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92175" y="671194"/>
              <a:ext cx="112395" cy="52069"/>
            </a:xfrm>
            <a:custGeom>
              <a:avLst/>
              <a:gdLst/>
              <a:ahLst/>
              <a:cxnLst/>
              <a:rect l="l" t="t" r="r" b="b"/>
              <a:pathLst>
                <a:path w="112394" h="52070">
                  <a:moveTo>
                    <a:pt x="109093" y="0"/>
                  </a:moveTo>
                  <a:lnTo>
                    <a:pt x="2921" y="0"/>
                  </a:lnTo>
                  <a:lnTo>
                    <a:pt x="1778" y="507"/>
                  </a:lnTo>
                  <a:lnTo>
                    <a:pt x="381" y="1904"/>
                  </a:lnTo>
                  <a:lnTo>
                    <a:pt x="0" y="2793"/>
                  </a:lnTo>
                  <a:lnTo>
                    <a:pt x="0" y="48894"/>
                  </a:lnTo>
                  <a:lnTo>
                    <a:pt x="3682" y="51688"/>
                  </a:lnTo>
                  <a:lnTo>
                    <a:pt x="108331" y="51688"/>
                  </a:lnTo>
                  <a:lnTo>
                    <a:pt x="112140" y="47878"/>
                  </a:lnTo>
                  <a:lnTo>
                    <a:pt x="112140" y="3809"/>
                  </a:lnTo>
                  <a:lnTo>
                    <a:pt x="109093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1878" y="433450"/>
              <a:ext cx="167639" cy="16764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639823" y="485926"/>
            <a:ext cx="32384" cy="64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5"/>
              </a:lnSpc>
            </a:pPr>
            <a:r>
              <a:rPr dirty="0" sz="450" spc="-50" b="1">
                <a:solidFill>
                  <a:srgbClr val="03699F"/>
                </a:solidFill>
                <a:latin typeface="Arial"/>
                <a:cs typeface="Arial"/>
              </a:rPr>
              <a:t>2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25702" y="433450"/>
            <a:ext cx="1640205" cy="1021080"/>
            <a:chOff x="925702" y="433450"/>
            <a:chExt cx="1640205" cy="1021080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6222" y="515746"/>
              <a:ext cx="167639" cy="16459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038" y="448690"/>
              <a:ext cx="810768" cy="52425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702" y="948562"/>
              <a:ext cx="853440" cy="50596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74470" y="982090"/>
              <a:ext cx="771525" cy="33020"/>
            </a:xfrm>
            <a:custGeom>
              <a:avLst/>
              <a:gdLst/>
              <a:ahLst/>
              <a:cxnLst/>
              <a:rect l="l" t="t" r="r" b="b"/>
              <a:pathLst>
                <a:path w="771525" h="33019">
                  <a:moveTo>
                    <a:pt x="767968" y="0"/>
                  </a:moveTo>
                  <a:lnTo>
                    <a:pt x="3047" y="0"/>
                  </a:lnTo>
                  <a:lnTo>
                    <a:pt x="0" y="3682"/>
                  </a:lnTo>
                  <a:lnTo>
                    <a:pt x="0" y="29337"/>
                  </a:lnTo>
                  <a:lnTo>
                    <a:pt x="2793" y="33019"/>
                  </a:lnTo>
                  <a:lnTo>
                    <a:pt x="768222" y="33019"/>
                  </a:lnTo>
                  <a:lnTo>
                    <a:pt x="771016" y="29337"/>
                  </a:lnTo>
                  <a:lnTo>
                    <a:pt x="771016" y="3682"/>
                  </a:lnTo>
                  <a:lnTo>
                    <a:pt x="767968" y="0"/>
                  </a:lnTo>
                  <a:close/>
                </a:path>
              </a:pathLst>
            </a:custGeom>
            <a:solidFill>
              <a:srgbClr val="0369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18183" y="671194"/>
              <a:ext cx="112395" cy="52069"/>
            </a:xfrm>
            <a:custGeom>
              <a:avLst/>
              <a:gdLst/>
              <a:ahLst/>
              <a:cxnLst/>
              <a:rect l="l" t="t" r="r" b="b"/>
              <a:pathLst>
                <a:path w="112394" h="52070">
                  <a:moveTo>
                    <a:pt x="109219" y="0"/>
                  </a:moveTo>
                  <a:lnTo>
                    <a:pt x="3175" y="0"/>
                  </a:lnTo>
                  <a:lnTo>
                    <a:pt x="0" y="3809"/>
                  </a:lnTo>
                  <a:lnTo>
                    <a:pt x="0" y="47878"/>
                  </a:lnTo>
                  <a:lnTo>
                    <a:pt x="3810" y="51688"/>
                  </a:lnTo>
                  <a:lnTo>
                    <a:pt x="108457" y="51688"/>
                  </a:lnTo>
                  <a:lnTo>
                    <a:pt x="112141" y="48894"/>
                  </a:lnTo>
                  <a:lnTo>
                    <a:pt x="112141" y="2793"/>
                  </a:lnTo>
                  <a:lnTo>
                    <a:pt x="111760" y="1904"/>
                  </a:lnTo>
                  <a:lnTo>
                    <a:pt x="110362" y="507"/>
                  </a:lnTo>
                  <a:lnTo>
                    <a:pt x="10921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7886" y="433450"/>
              <a:ext cx="167639" cy="16764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2466467" y="485926"/>
            <a:ext cx="32384" cy="64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5"/>
              </a:lnSpc>
            </a:pPr>
            <a:r>
              <a:rPr dirty="0" sz="450" spc="-50" b="1">
                <a:solidFill>
                  <a:srgbClr val="7A39EB"/>
                </a:solidFill>
                <a:latin typeface="Arial"/>
                <a:cs typeface="Arial"/>
              </a:rPr>
              <a:t>3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751711" y="433450"/>
            <a:ext cx="1640205" cy="1021080"/>
            <a:chOff x="1751711" y="433450"/>
            <a:chExt cx="1640205" cy="1021080"/>
          </a:xfrm>
        </p:grpSpPr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5279" y="515746"/>
              <a:ext cx="164592" cy="16459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3047" y="448690"/>
              <a:ext cx="810768" cy="52425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1711" y="948562"/>
              <a:ext cx="853439" cy="50596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800479" y="982090"/>
              <a:ext cx="774065" cy="33020"/>
            </a:xfrm>
            <a:custGeom>
              <a:avLst/>
              <a:gdLst/>
              <a:ahLst/>
              <a:cxnLst/>
              <a:rect l="l" t="t" r="r" b="b"/>
              <a:pathLst>
                <a:path w="774064" h="33019">
                  <a:moveTo>
                    <a:pt x="770889" y="0"/>
                  </a:moveTo>
                  <a:lnTo>
                    <a:pt x="3047" y="0"/>
                  </a:lnTo>
                  <a:lnTo>
                    <a:pt x="1777" y="507"/>
                  </a:lnTo>
                  <a:lnTo>
                    <a:pt x="381" y="1905"/>
                  </a:lnTo>
                  <a:lnTo>
                    <a:pt x="0" y="2793"/>
                  </a:lnTo>
                  <a:lnTo>
                    <a:pt x="0" y="30353"/>
                  </a:lnTo>
                  <a:lnTo>
                    <a:pt x="381" y="31242"/>
                  </a:lnTo>
                  <a:lnTo>
                    <a:pt x="1777" y="32638"/>
                  </a:lnTo>
                  <a:lnTo>
                    <a:pt x="2666" y="33019"/>
                  </a:lnTo>
                  <a:lnTo>
                    <a:pt x="771144" y="33019"/>
                  </a:lnTo>
                  <a:lnTo>
                    <a:pt x="772921" y="32004"/>
                  </a:lnTo>
                  <a:lnTo>
                    <a:pt x="773810" y="30353"/>
                  </a:lnTo>
                  <a:lnTo>
                    <a:pt x="773810" y="2793"/>
                  </a:lnTo>
                  <a:lnTo>
                    <a:pt x="772921" y="1143"/>
                  </a:lnTo>
                  <a:lnTo>
                    <a:pt x="770889" y="0"/>
                  </a:lnTo>
                  <a:close/>
                </a:path>
              </a:pathLst>
            </a:custGeom>
            <a:solidFill>
              <a:srgbClr val="7A3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544191" y="671194"/>
              <a:ext cx="112395" cy="52069"/>
            </a:xfrm>
            <a:custGeom>
              <a:avLst/>
              <a:gdLst/>
              <a:ahLst/>
              <a:cxnLst/>
              <a:rect l="l" t="t" r="r" b="b"/>
              <a:pathLst>
                <a:path w="112394" h="52070">
                  <a:moveTo>
                    <a:pt x="108966" y="0"/>
                  </a:moveTo>
                  <a:lnTo>
                    <a:pt x="2921" y="0"/>
                  </a:lnTo>
                  <a:lnTo>
                    <a:pt x="1778" y="507"/>
                  </a:lnTo>
                  <a:lnTo>
                    <a:pt x="381" y="1904"/>
                  </a:lnTo>
                  <a:lnTo>
                    <a:pt x="0" y="2793"/>
                  </a:lnTo>
                  <a:lnTo>
                    <a:pt x="0" y="48894"/>
                  </a:lnTo>
                  <a:lnTo>
                    <a:pt x="3683" y="51688"/>
                  </a:lnTo>
                  <a:lnTo>
                    <a:pt x="108331" y="51688"/>
                  </a:lnTo>
                  <a:lnTo>
                    <a:pt x="112141" y="47878"/>
                  </a:lnTo>
                  <a:lnTo>
                    <a:pt x="112141" y="3809"/>
                  </a:lnTo>
                  <a:lnTo>
                    <a:pt x="108966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23895" y="433450"/>
              <a:ext cx="167639" cy="167640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3293364" y="485926"/>
            <a:ext cx="32384" cy="64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5"/>
              </a:lnSpc>
            </a:pPr>
            <a:r>
              <a:rPr dirty="0" sz="450" spc="-50" b="1">
                <a:solidFill>
                  <a:srgbClr val="F49F1F"/>
                </a:solidFill>
                <a:latin typeface="Arial"/>
                <a:cs typeface="Arial"/>
              </a:rPr>
              <a:t>4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577719" y="433450"/>
            <a:ext cx="1643380" cy="1021080"/>
            <a:chOff x="2577719" y="433450"/>
            <a:chExt cx="1643380" cy="1021080"/>
          </a:xfrm>
        </p:grpSpPr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31287" y="515746"/>
              <a:ext cx="164591" cy="164592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99055" y="448690"/>
              <a:ext cx="810768" cy="52425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77719" y="948562"/>
              <a:ext cx="853440" cy="50596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626487" y="671194"/>
              <a:ext cx="856615" cy="344170"/>
            </a:xfrm>
            <a:custGeom>
              <a:avLst/>
              <a:gdLst/>
              <a:ahLst/>
              <a:cxnLst/>
              <a:rect l="l" t="t" r="r" b="b"/>
              <a:pathLst>
                <a:path w="856614" h="344169">
                  <a:moveTo>
                    <a:pt x="773938" y="313182"/>
                  </a:moveTo>
                  <a:lnTo>
                    <a:pt x="773315" y="313182"/>
                  </a:lnTo>
                  <a:lnTo>
                    <a:pt x="773315" y="311912"/>
                  </a:lnTo>
                  <a:lnTo>
                    <a:pt x="771690" y="311912"/>
                  </a:lnTo>
                  <a:lnTo>
                    <a:pt x="771690" y="310642"/>
                  </a:lnTo>
                  <a:lnTo>
                    <a:pt x="2844" y="310642"/>
                  </a:lnTo>
                  <a:lnTo>
                    <a:pt x="2844" y="311912"/>
                  </a:lnTo>
                  <a:lnTo>
                    <a:pt x="1739" y="311912"/>
                  </a:lnTo>
                  <a:lnTo>
                    <a:pt x="1739" y="313182"/>
                  </a:lnTo>
                  <a:lnTo>
                    <a:pt x="647" y="313182"/>
                  </a:lnTo>
                  <a:lnTo>
                    <a:pt x="647" y="314452"/>
                  </a:lnTo>
                  <a:lnTo>
                    <a:pt x="0" y="314452"/>
                  </a:lnTo>
                  <a:lnTo>
                    <a:pt x="0" y="339852"/>
                  </a:lnTo>
                  <a:lnTo>
                    <a:pt x="190" y="339852"/>
                  </a:lnTo>
                  <a:lnTo>
                    <a:pt x="190" y="341122"/>
                  </a:lnTo>
                  <a:lnTo>
                    <a:pt x="1155" y="341122"/>
                  </a:lnTo>
                  <a:lnTo>
                    <a:pt x="1155" y="342392"/>
                  </a:lnTo>
                  <a:lnTo>
                    <a:pt x="2108" y="342392"/>
                  </a:lnTo>
                  <a:lnTo>
                    <a:pt x="2108" y="343662"/>
                  </a:lnTo>
                  <a:lnTo>
                    <a:pt x="772820" y="343662"/>
                  </a:lnTo>
                  <a:lnTo>
                    <a:pt x="772820" y="342392"/>
                  </a:lnTo>
                  <a:lnTo>
                    <a:pt x="773658" y="342392"/>
                  </a:lnTo>
                  <a:lnTo>
                    <a:pt x="773658" y="341122"/>
                  </a:lnTo>
                  <a:lnTo>
                    <a:pt x="773938" y="341122"/>
                  </a:lnTo>
                  <a:lnTo>
                    <a:pt x="773938" y="339852"/>
                  </a:lnTo>
                  <a:lnTo>
                    <a:pt x="773938" y="314452"/>
                  </a:lnTo>
                  <a:lnTo>
                    <a:pt x="773938" y="313182"/>
                  </a:lnTo>
                  <a:close/>
                </a:path>
                <a:path w="856614" h="344169">
                  <a:moveTo>
                    <a:pt x="856361" y="2794"/>
                  </a:moveTo>
                  <a:lnTo>
                    <a:pt x="855980" y="1905"/>
                  </a:lnTo>
                  <a:lnTo>
                    <a:pt x="854583" y="508"/>
                  </a:lnTo>
                  <a:lnTo>
                    <a:pt x="853313" y="0"/>
                  </a:lnTo>
                  <a:lnTo>
                    <a:pt x="746760" y="0"/>
                  </a:lnTo>
                  <a:lnTo>
                    <a:pt x="745490" y="508"/>
                  </a:lnTo>
                  <a:lnTo>
                    <a:pt x="744093" y="1905"/>
                  </a:lnTo>
                  <a:lnTo>
                    <a:pt x="743712" y="2794"/>
                  </a:lnTo>
                  <a:lnTo>
                    <a:pt x="743712" y="48895"/>
                  </a:lnTo>
                  <a:lnTo>
                    <a:pt x="747395" y="51689"/>
                  </a:lnTo>
                  <a:lnTo>
                    <a:pt x="852678" y="51689"/>
                  </a:lnTo>
                  <a:lnTo>
                    <a:pt x="856361" y="48895"/>
                  </a:lnTo>
                  <a:lnTo>
                    <a:pt x="856361" y="2794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49902" y="433450"/>
              <a:ext cx="170687" cy="16764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4120007" y="485926"/>
            <a:ext cx="32384" cy="64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05"/>
              </a:lnSpc>
            </a:pPr>
            <a:r>
              <a:rPr dirty="0" sz="450" spc="-50" b="1">
                <a:solidFill>
                  <a:srgbClr val="0D9286"/>
                </a:solidFill>
                <a:latin typeface="Arial"/>
                <a:cs typeface="Arial"/>
              </a:rPr>
              <a:t>5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0" y="0"/>
            <a:ext cx="4373245" cy="2459990"/>
            <a:chOff x="0" y="0"/>
            <a:chExt cx="4373245" cy="2459990"/>
          </a:xfrm>
        </p:grpSpPr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57295" y="515746"/>
              <a:ext cx="164591" cy="16459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25063" y="448690"/>
              <a:ext cx="810768" cy="524255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03727" y="948562"/>
              <a:ext cx="853439" cy="50596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452495" y="982090"/>
              <a:ext cx="774065" cy="33020"/>
            </a:xfrm>
            <a:custGeom>
              <a:avLst/>
              <a:gdLst/>
              <a:ahLst/>
              <a:cxnLst/>
              <a:rect l="l" t="t" r="r" b="b"/>
              <a:pathLst>
                <a:path w="774064" h="33019">
                  <a:moveTo>
                    <a:pt x="770889" y="0"/>
                  </a:moveTo>
                  <a:lnTo>
                    <a:pt x="3047" y="0"/>
                  </a:lnTo>
                  <a:lnTo>
                    <a:pt x="1777" y="507"/>
                  </a:lnTo>
                  <a:lnTo>
                    <a:pt x="380" y="1905"/>
                  </a:lnTo>
                  <a:lnTo>
                    <a:pt x="0" y="2793"/>
                  </a:lnTo>
                  <a:lnTo>
                    <a:pt x="0" y="30353"/>
                  </a:lnTo>
                  <a:lnTo>
                    <a:pt x="380" y="31242"/>
                  </a:lnTo>
                  <a:lnTo>
                    <a:pt x="1777" y="32638"/>
                  </a:lnTo>
                  <a:lnTo>
                    <a:pt x="2666" y="33019"/>
                  </a:lnTo>
                  <a:lnTo>
                    <a:pt x="771143" y="33019"/>
                  </a:lnTo>
                  <a:lnTo>
                    <a:pt x="772032" y="32638"/>
                  </a:lnTo>
                  <a:lnTo>
                    <a:pt x="773429" y="31242"/>
                  </a:lnTo>
                  <a:lnTo>
                    <a:pt x="773810" y="30353"/>
                  </a:lnTo>
                  <a:lnTo>
                    <a:pt x="773810" y="2793"/>
                  </a:lnTo>
                  <a:lnTo>
                    <a:pt x="773429" y="1905"/>
                  </a:lnTo>
                  <a:lnTo>
                    <a:pt x="772032" y="507"/>
                  </a:lnTo>
                  <a:lnTo>
                    <a:pt x="770889" y="0"/>
                  </a:lnTo>
                  <a:close/>
                </a:path>
              </a:pathLst>
            </a:custGeom>
            <a:solidFill>
              <a:srgbClr val="0D92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1031" y="1445386"/>
              <a:ext cx="4111752" cy="79552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587" y="1650"/>
              <a:ext cx="59690" cy="416559"/>
            </a:xfrm>
            <a:custGeom>
              <a:avLst/>
              <a:gdLst/>
              <a:ahLst/>
              <a:cxnLst/>
              <a:rect l="l" t="t" r="r" b="b"/>
              <a:pathLst>
                <a:path w="59690" h="416559">
                  <a:moveTo>
                    <a:pt x="59689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59689" y="416560"/>
                  </a:lnTo>
                  <a:lnTo>
                    <a:pt x="5968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277" y="1650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4310380" y="416560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87" y="2325750"/>
              <a:ext cx="4370070" cy="132080"/>
            </a:xfrm>
            <a:custGeom>
              <a:avLst/>
              <a:gdLst/>
              <a:ahLst/>
              <a:cxnLst/>
              <a:rect l="l" t="t" r="r" b="b"/>
              <a:pathLst>
                <a:path w="4370070" h="132080">
                  <a:moveTo>
                    <a:pt x="4370070" y="0"/>
                  </a:moveTo>
                  <a:lnTo>
                    <a:pt x="0" y="0"/>
                  </a:lnTo>
                  <a:lnTo>
                    <a:pt x="0" y="132080"/>
                  </a:lnTo>
                  <a:lnTo>
                    <a:pt x="4370070" y="132080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0" y="415035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0" y="0"/>
              <a:ext cx="4373245" cy="2459355"/>
            </a:xfrm>
            <a:custGeom>
              <a:avLst/>
              <a:gdLst/>
              <a:ahLst/>
              <a:cxnLst/>
              <a:rect l="l" t="t" r="r" b="b"/>
              <a:pathLst>
                <a:path w="4373245" h="2459355">
                  <a:moveTo>
                    <a:pt x="1587" y="0"/>
                  </a:moveTo>
                  <a:lnTo>
                    <a:pt x="1587" y="2459355"/>
                  </a:lnTo>
                </a:path>
                <a:path w="4373245" h="2459355">
                  <a:moveTo>
                    <a:pt x="4371594" y="0"/>
                  </a:moveTo>
                  <a:lnTo>
                    <a:pt x="4371594" y="2459355"/>
                  </a:lnTo>
                </a:path>
                <a:path w="4373245" h="2459355">
                  <a:moveTo>
                    <a:pt x="0" y="1650"/>
                  </a:moveTo>
                  <a:lnTo>
                    <a:pt x="4373245" y="16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0" y="2457830"/>
              <a:ext cx="4373245" cy="0"/>
            </a:xfrm>
            <a:custGeom>
              <a:avLst/>
              <a:gdLst/>
              <a:ahLst/>
              <a:cxnLst/>
              <a:rect l="l" t="t" r="r" b="b"/>
              <a:pathLst>
                <a:path w="4373245" h="0">
                  <a:moveTo>
                    <a:pt x="0" y="0"/>
                  </a:moveTo>
                  <a:lnTo>
                    <a:pt x="4373245" y="0"/>
                  </a:lnTo>
                </a:path>
              </a:pathLst>
            </a:custGeom>
            <a:ln w="3175">
              <a:solidFill>
                <a:srgbClr val="F7F8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/>
              <a:t>RAG</a:t>
            </a:r>
            <a:r>
              <a:rPr dirty="0" sz="1000" spc="20"/>
              <a:t> </a:t>
            </a:r>
            <a:r>
              <a:rPr dirty="0" sz="1000"/>
              <a:t>Pipeline</a:t>
            </a:r>
            <a:r>
              <a:rPr dirty="0" sz="1000" spc="-65"/>
              <a:t> </a:t>
            </a:r>
            <a:r>
              <a:rPr dirty="0" sz="1000"/>
              <a:t>—</a:t>
            </a:r>
            <a:r>
              <a:rPr dirty="0" sz="1000" spc="-10"/>
              <a:t> </a:t>
            </a:r>
            <a:r>
              <a:rPr dirty="0" sz="1000"/>
              <a:t>How</a:t>
            </a:r>
            <a:r>
              <a:rPr dirty="0" sz="1000" spc="-5"/>
              <a:t> </a:t>
            </a:r>
            <a:r>
              <a:rPr dirty="0" sz="1000"/>
              <a:t>It</a:t>
            </a:r>
            <a:r>
              <a:rPr dirty="0" sz="1000" spc="-10"/>
              <a:t> </a:t>
            </a:r>
            <a:r>
              <a:rPr dirty="0" sz="1000" spc="-20"/>
              <a:t>Works</a:t>
            </a:r>
            <a:endParaRPr sz="1000"/>
          </a:p>
        </p:txBody>
      </p:sp>
      <p:sp>
        <p:nvSpPr>
          <p:cNvPr id="51" name="object 51" descr=""/>
          <p:cNvSpPr txBox="1"/>
          <p:nvPr/>
        </p:nvSpPr>
        <p:spPr>
          <a:xfrm>
            <a:off x="152527" y="260730"/>
            <a:ext cx="146240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Retrieval-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Augmented</a:t>
            </a:r>
            <a:r>
              <a:rPr dirty="0" sz="500" spc="11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Generation</a:t>
            </a:r>
            <a:r>
              <a:rPr dirty="0" sz="500" spc="5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for</a:t>
            </a:r>
            <a:r>
              <a:rPr dirty="0" sz="500" spc="7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Clinical</a:t>
            </a:r>
            <a:r>
              <a:rPr dirty="0" sz="500" spc="114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2A8BD"/>
                </a:solidFill>
                <a:latin typeface="Arial MT"/>
                <a:cs typeface="Arial MT"/>
              </a:rPr>
              <a:t>Q&amp;A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400938" y="718565"/>
            <a:ext cx="262255" cy="162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8895" marR="5080" indent="-36830">
              <a:lnSpc>
                <a:spcPts val="530"/>
              </a:lnSpc>
              <a:spcBef>
                <a:spcPts val="130"/>
              </a:spcBef>
            </a:pP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Clinician</a:t>
            </a:r>
            <a:r>
              <a:rPr dirty="0" sz="45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Query</a:t>
            </a:r>
            <a:endParaRPr sz="45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251585" y="718565"/>
            <a:ext cx="219710" cy="162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5715">
              <a:lnSpc>
                <a:spcPts val="530"/>
              </a:lnSpc>
              <a:spcBef>
                <a:spcPts val="130"/>
              </a:spcBef>
            </a:pP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Vector</a:t>
            </a:r>
            <a:r>
              <a:rPr dirty="0" sz="45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endParaRPr sz="45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2053844" y="718565"/>
            <a:ext cx="267335" cy="162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12065">
              <a:lnSpc>
                <a:spcPts val="530"/>
              </a:lnSpc>
              <a:spcBef>
                <a:spcPts val="130"/>
              </a:spcBef>
            </a:pP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dirty="0" sz="45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Retrieval</a:t>
            </a:r>
            <a:endParaRPr sz="45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2874136" y="718565"/>
            <a:ext cx="280035" cy="162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535"/>
              </a:lnSpc>
              <a:spcBef>
                <a:spcPts val="105"/>
              </a:spcBef>
            </a:pPr>
            <a:r>
              <a:rPr dirty="0" sz="450" spc="-25" b="1">
                <a:solidFill>
                  <a:srgbClr val="FFFFFF"/>
                </a:solidFill>
                <a:latin typeface="Arial"/>
                <a:cs typeface="Arial"/>
              </a:rPr>
              <a:t>LLM</a:t>
            </a:r>
            <a:endParaRPr sz="450">
              <a:latin typeface="Arial"/>
              <a:cs typeface="Arial"/>
            </a:endParaRPr>
          </a:p>
          <a:p>
            <a:pPr algn="ctr">
              <a:lnSpc>
                <a:spcPts val="535"/>
              </a:lnSpc>
            </a:pP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Inference</a:t>
            </a:r>
            <a:endParaRPr sz="45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3697604" y="718565"/>
            <a:ext cx="283210" cy="162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36195">
              <a:lnSpc>
                <a:spcPts val="530"/>
              </a:lnSpc>
              <a:spcBef>
                <a:spcPts val="130"/>
              </a:spcBef>
            </a:pP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r>
              <a:rPr dirty="0" sz="45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10" b="1">
                <a:solidFill>
                  <a:srgbClr val="FFFFFF"/>
                </a:solidFill>
                <a:latin typeface="Arial"/>
                <a:cs typeface="Arial"/>
              </a:rPr>
              <a:t>Delivered</a:t>
            </a:r>
            <a:endParaRPr sz="45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248234" y="1108709"/>
            <a:ext cx="554355" cy="2190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12700" marR="5080">
              <a:lnSpc>
                <a:spcPct val="107500"/>
              </a:lnSpc>
              <a:spcBef>
                <a:spcPts val="70"/>
              </a:spcBef>
            </a:pP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Doctor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asks</a:t>
            </a:r>
            <a:r>
              <a:rPr dirty="0" sz="40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</a:t>
            </a:r>
            <a:r>
              <a:rPr dirty="0" sz="40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question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about</a:t>
            </a:r>
            <a:r>
              <a:rPr dirty="0" sz="4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</a:t>
            </a:r>
            <a:r>
              <a:rPr dirty="0" sz="4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patient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via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25">
                <a:solidFill>
                  <a:srgbClr val="334153"/>
                </a:solidFill>
                <a:latin typeface="Arial MT"/>
                <a:cs typeface="Arial MT"/>
              </a:rPr>
              <a:t>the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web</a:t>
            </a:r>
            <a:r>
              <a:rPr dirty="0" sz="4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dashboard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056513" y="1108709"/>
            <a:ext cx="604520" cy="2190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12700" marR="5080" indent="635">
              <a:lnSpc>
                <a:spcPct val="107500"/>
              </a:lnSpc>
              <a:spcBef>
                <a:spcPts val="70"/>
              </a:spcBef>
            </a:pP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Query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is</a:t>
            </a:r>
            <a:r>
              <a:rPr dirty="0" sz="40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embedded</a:t>
            </a:r>
            <a:r>
              <a:rPr dirty="0" sz="400" spc="9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25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semantically</a:t>
            </a:r>
            <a:r>
              <a:rPr dirty="0" sz="400" spc="1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searched</a:t>
            </a:r>
            <a:r>
              <a:rPr dirty="0" sz="400" spc="8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25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OpenSearch</a:t>
            </a:r>
            <a:r>
              <a:rPr dirty="0" sz="40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20">
                <a:solidFill>
                  <a:srgbClr val="334153"/>
                </a:solidFill>
                <a:latin typeface="Arial MT"/>
                <a:cs typeface="Arial MT"/>
              </a:rPr>
              <a:t>index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901444" y="1108709"/>
            <a:ext cx="558165" cy="2190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12700" marR="5080">
              <a:lnSpc>
                <a:spcPct val="107500"/>
              </a:lnSpc>
              <a:spcBef>
                <a:spcPts val="70"/>
              </a:spcBef>
            </a:pP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Relevant</a:t>
            </a:r>
            <a:r>
              <a:rPr dirty="0" sz="400" spc="10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clinical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notes,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guidelines,</a:t>
            </a:r>
            <a:r>
              <a:rPr dirty="0" sz="400" spc="9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history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fetched</a:t>
            </a:r>
            <a:r>
              <a:rPr dirty="0" sz="40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from</a:t>
            </a:r>
            <a:r>
              <a:rPr dirty="0" sz="40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25">
                <a:solidFill>
                  <a:srgbClr val="334153"/>
                </a:solidFill>
                <a:latin typeface="Arial MT"/>
                <a:cs typeface="Arial MT"/>
              </a:rPr>
              <a:t>S3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685161" y="1108709"/>
            <a:ext cx="640080" cy="2190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12700" marR="5080">
              <a:lnSpc>
                <a:spcPct val="107500"/>
              </a:lnSpc>
              <a:spcBef>
                <a:spcPts val="70"/>
              </a:spcBef>
            </a:pP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4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Claude</a:t>
            </a:r>
            <a:r>
              <a:rPr dirty="0" sz="40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generates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a</a:t>
            </a:r>
            <a:r>
              <a:rPr dirty="0" sz="4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grounded,</a:t>
            </a:r>
            <a:r>
              <a:rPr dirty="0" sz="40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contextual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answer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3529965" y="1108709"/>
            <a:ext cx="612775" cy="21907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12700" marR="5080" indent="-6350">
              <a:lnSpc>
                <a:spcPct val="107500"/>
              </a:lnSpc>
              <a:spcBef>
                <a:spcPts val="70"/>
              </a:spcBef>
            </a:pP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Structured</a:t>
            </a:r>
            <a:r>
              <a:rPr dirty="0" sz="40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insight</a:t>
            </a:r>
            <a:r>
              <a:rPr dirty="0" sz="40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shown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40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dashboard</a:t>
            </a:r>
            <a:r>
              <a:rPr dirty="0" sz="400" spc="9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40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source</a:t>
            </a:r>
            <a:r>
              <a:rPr dirty="0" sz="4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334153"/>
                </a:solidFill>
                <a:latin typeface="Arial MT"/>
                <a:cs typeface="Arial MT"/>
              </a:rPr>
              <a:t>citations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251282" y="1581403"/>
            <a:ext cx="3656965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b="1">
                <a:solidFill>
                  <a:srgbClr val="F49F1F"/>
                </a:solidFill>
                <a:latin typeface="Arial"/>
                <a:cs typeface="Arial"/>
              </a:rPr>
              <a:t>Key</a:t>
            </a:r>
            <a:r>
              <a:rPr dirty="0" sz="500" spc="4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49F1F"/>
                </a:solidFill>
                <a:latin typeface="Arial"/>
                <a:cs typeface="Arial"/>
              </a:rPr>
              <a:t>Benefit: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500">
              <a:latin typeface="Arial"/>
              <a:cs typeface="Arial"/>
            </a:endParaRPr>
          </a:p>
          <a:p>
            <a:pPr marL="55244" marR="5080">
              <a:lnSpc>
                <a:spcPct val="100000"/>
              </a:lnSpc>
              <a:spcBef>
                <a:spcPts val="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Unlike</a:t>
            </a:r>
            <a:r>
              <a:rPr dirty="0" sz="5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standalone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 LLMs,</a:t>
            </a:r>
            <a:r>
              <a:rPr dirty="0" sz="5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RAG</a:t>
            </a:r>
            <a:r>
              <a:rPr dirty="0" sz="5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pipeline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grounds</a:t>
            </a:r>
            <a:r>
              <a:rPr dirty="0" sz="5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response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5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patient's actual</a:t>
            </a:r>
            <a:r>
              <a:rPr dirty="0" sz="5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medical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 clinical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guidelines.</a:t>
            </a:r>
            <a:r>
              <a:rPr dirty="0" sz="5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Hallucinations</a:t>
            </a:r>
            <a:r>
              <a:rPr dirty="0" sz="5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5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minimised,</a:t>
            </a:r>
            <a:r>
              <a:rPr dirty="0" sz="5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answers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traceable</a:t>
            </a:r>
            <a:r>
              <a:rPr dirty="0" sz="5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5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dirty="0" sz="5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documents,</a:t>
            </a:r>
            <a:r>
              <a:rPr dirty="0" sz="5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clinicians</a:t>
            </a:r>
            <a:r>
              <a:rPr dirty="0" sz="5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receive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citations</a:t>
            </a:r>
            <a:r>
              <a:rPr dirty="0" sz="5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alongside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 every </a:t>
            </a:r>
            <a:r>
              <a:rPr dirty="0" sz="50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5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generated</a:t>
            </a:r>
            <a:r>
              <a:rPr dirty="0" sz="5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insight.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/>
              <a:t>Data</a:t>
            </a:r>
            <a:r>
              <a:rPr dirty="0" sz="1000" spc="10"/>
              <a:t> </a:t>
            </a:r>
            <a:r>
              <a:rPr dirty="0" sz="1000"/>
              <a:t>Flow</a:t>
            </a:r>
            <a:r>
              <a:rPr dirty="0" sz="1000" spc="-50"/>
              <a:t> </a:t>
            </a:r>
            <a:r>
              <a:rPr dirty="0" sz="1000"/>
              <a:t>&amp;</a:t>
            </a:r>
            <a:r>
              <a:rPr dirty="0" sz="1000" spc="15"/>
              <a:t> </a:t>
            </a:r>
            <a:r>
              <a:rPr dirty="0" sz="1000"/>
              <a:t>Storage</a:t>
            </a:r>
            <a:r>
              <a:rPr dirty="0" sz="1000" spc="-65"/>
              <a:t> </a:t>
            </a:r>
            <a:r>
              <a:rPr dirty="0" sz="1000" spc="-10"/>
              <a:t>Architecture</a:t>
            </a:r>
            <a:endParaRPr sz="1000"/>
          </a:p>
        </p:txBody>
      </p:sp>
      <p:sp>
        <p:nvSpPr>
          <p:cNvPr id="3" name="object 3" descr=""/>
          <p:cNvSpPr txBox="1"/>
          <p:nvPr/>
        </p:nvSpPr>
        <p:spPr>
          <a:xfrm>
            <a:off x="152527" y="260349"/>
            <a:ext cx="106807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From</a:t>
            </a:r>
            <a:r>
              <a:rPr dirty="0" sz="500" spc="1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Patient</a:t>
            </a:r>
            <a:r>
              <a:rPr dirty="0" sz="500" spc="1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Data</a:t>
            </a:r>
            <a:r>
              <a:rPr dirty="0" sz="500" spc="3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to</a:t>
            </a:r>
            <a:r>
              <a:rPr dirty="0" sz="500" spc="6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Clinical</a:t>
            </a:r>
            <a:r>
              <a:rPr dirty="0" sz="500" spc="4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Insight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179" y="517905"/>
            <a:ext cx="49657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b="1">
                <a:solidFill>
                  <a:srgbClr val="F49F1F"/>
                </a:solidFill>
                <a:latin typeface="Arial"/>
                <a:cs typeface="Arial"/>
              </a:rPr>
              <a:t>INPUT</a:t>
            </a:r>
            <a:r>
              <a:rPr dirty="0" sz="450" spc="-3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450" spc="-10" b="1">
                <a:solidFill>
                  <a:srgbClr val="F49F1F"/>
                </a:solidFill>
                <a:latin typeface="Arial"/>
                <a:cs typeface="Arial"/>
              </a:rPr>
              <a:t>SOURCES</a:t>
            </a:r>
            <a:endParaRPr sz="4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93389" y="517905"/>
            <a:ext cx="30162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10" b="1">
                <a:solidFill>
                  <a:srgbClr val="F49F1F"/>
                </a:solidFill>
                <a:latin typeface="Arial"/>
                <a:cs typeface="Arial"/>
              </a:rPr>
              <a:t>OUTPUTS</a:t>
            </a:r>
            <a:endParaRPr sz="4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7500" y="780033"/>
            <a:ext cx="991869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EHR</a:t>
            </a:r>
            <a:r>
              <a:rPr dirty="0" sz="5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74542" y="783081"/>
            <a:ext cx="112268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dirty="0" sz="4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7500" y="1073022"/>
            <a:ext cx="991869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dirty="0" sz="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Notes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74542" y="1085215"/>
            <a:ext cx="112268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LLM-Generated</a:t>
            </a:r>
            <a:r>
              <a:rPr dirty="0" sz="4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Reports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7500" y="1365630"/>
            <a:ext cx="991869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8295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Lab</a:t>
            </a:r>
            <a:r>
              <a:rPr dirty="0" sz="5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74542" y="1386966"/>
            <a:ext cx="112268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Alert</a:t>
            </a:r>
            <a:r>
              <a:rPr dirty="0" sz="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Notifications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7500" y="1636902"/>
            <a:ext cx="991869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DICOM</a:t>
            </a:r>
            <a:r>
              <a:rPr dirty="0" sz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74542" y="1685670"/>
            <a:ext cx="112268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Imaging</a:t>
            </a:r>
            <a:r>
              <a:rPr dirty="0" sz="4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Annotations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7500" y="1929764"/>
            <a:ext cx="991869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Patient</a:t>
            </a:r>
            <a:r>
              <a:rPr dirty="0" sz="5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</a:rPr>
              <a:t>History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98777" y="517905"/>
            <a:ext cx="1439545" cy="1578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5"/>
              </a:spcBef>
            </a:pPr>
            <a:r>
              <a:rPr dirty="0" sz="450" spc="-10" b="1">
                <a:solidFill>
                  <a:srgbClr val="0D7A8F"/>
                </a:solidFill>
                <a:latin typeface="Arial"/>
                <a:cs typeface="Arial"/>
              </a:rPr>
              <a:t>PROCESSING</a:t>
            </a:r>
            <a:endParaRPr sz="450">
              <a:latin typeface="Arial"/>
              <a:cs typeface="Arial"/>
            </a:endParaRPr>
          </a:p>
          <a:p>
            <a:pPr marL="167640" marR="615315">
              <a:lnSpc>
                <a:spcPts val="2350"/>
              </a:lnSpc>
              <a:spcBef>
                <a:spcPts val="190"/>
              </a:spcBef>
            </a:pP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S3</a:t>
            </a:r>
            <a:r>
              <a:rPr dirty="0" sz="50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Ingestion</a:t>
            </a:r>
            <a:r>
              <a:rPr dirty="0" sz="500" spc="-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&amp;</a:t>
            </a:r>
            <a:r>
              <a:rPr dirty="0" sz="500" spc="-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Storage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EC2</a:t>
            </a:r>
            <a:r>
              <a:rPr dirty="0" sz="50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Application</a:t>
            </a:r>
            <a:r>
              <a:rPr dirty="0" sz="50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Logic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5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Comprehend</a:t>
            </a:r>
            <a:r>
              <a:rPr dirty="0" sz="50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Medical</a:t>
            </a:r>
            <a:r>
              <a:rPr dirty="0" sz="500" spc="-25">
                <a:solidFill>
                  <a:srgbClr val="334153"/>
                </a:solidFill>
                <a:latin typeface="Arial MT"/>
                <a:cs typeface="Arial MT"/>
              </a:rPr>
              <a:t> NLP</a:t>
            </a:r>
            <a:endParaRPr sz="500">
              <a:latin typeface="Arial MT"/>
              <a:cs typeface="Arial MT"/>
            </a:endParaRPr>
          </a:p>
          <a:p>
            <a:pPr marL="167640" marR="342265">
              <a:lnSpc>
                <a:spcPct val="384300"/>
              </a:lnSpc>
              <a:spcBef>
                <a:spcPts val="90"/>
              </a:spcBef>
            </a:pP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HealthImaging</a:t>
            </a:r>
            <a:r>
              <a:rPr dirty="0" sz="50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DICOM</a:t>
            </a:r>
            <a:r>
              <a:rPr dirty="0" sz="50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Pipeline</a:t>
            </a:r>
            <a:r>
              <a:rPr dirty="0" sz="50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Bedrock</a:t>
            </a:r>
            <a:r>
              <a:rPr dirty="0" sz="500" spc="-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334153"/>
                </a:solidFill>
                <a:latin typeface="Arial MT"/>
                <a:cs typeface="Arial MT"/>
              </a:rPr>
              <a:t>Knowledge</a:t>
            </a:r>
            <a:r>
              <a:rPr dirty="0" sz="50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Base</a:t>
            </a:r>
            <a:r>
              <a:rPr dirty="0" sz="500" spc="-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34153"/>
                </a:solidFill>
                <a:latin typeface="Arial MT"/>
                <a:cs typeface="Arial MT"/>
              </a:rPr>
              <a:t>+</a:t>
            </a:r>
            <a:r>
              <a:rPr dirty="0" sz="50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334153"/>
                </a:solidFill>
                <a:latin typeface="Arial MT"/>
                <a:cs typeface="Arial MT"/>
              </a:rPr>
              <a:t>RAG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74542" y="1978532"/>
            <a:ext cx="112268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4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4373245" cy="2459990"/>
            <a:chOff x="0" y="0"/>
            <a:chExt cx="4373245" cy="2459990"/>
          </a:xfrm>
        </p:grpSpPr>
        <p:sp>
          <p:nvSpPr>
            <p:cNvPr id="3" name="object 3" descr=""/>
            <p:cNvSpPr/>
            <p:nvPr/>
          </p:nvSpPr>
          <p:spPr>
            <a:xfrm>
              <a:off x="2159" y="418210"/>
              <a:ext cx="4370705" cy="1910714"/>
            </a:xfrm>
            <a:custGeom>
              <a:avLst/>
              <a:gdLst/>
              <a:ahLst/>
              <a:cxnLst/>
              <a:rect l="l" t="t" r="r" b="b"/>
              <a:pathLst>
                <a:path w="4370705" h="1910714">
                  <a:moveTo>
                    <a:pt x="4370578" y="0"/>
                  </a:moveTo>
                  <a:lnTo>
                    <a:pt x="0" y="0"/>
                  </a:lnTo>
                  <a:lnTo>
                    <a:pt x="0" y="1910588"/>
                  </a:lnTo>
                  <a:lnTo>
                    <a:pt x="4370578" y="1910588"/>
                  </a:lnTo>
                  <a:lnTo>
                    <a:pt x="4370578" y="0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59" y="3682"/>
              <a:ext cx="63500" cy="417195"/>
            </a:xfrm>
            <a:custGeom>
              <a:avLst/>
              <a:gdLst/>
              <a:ahLst/>
              <a:cxnLst/>
              <a:rect l="l" t="t" r="r" b="b"/>
              <a:pathLst>
                <a:path w="63500" h="417195">
                  <a:moveTo>
                    <a:pt x="63500" y="413131"/>
                  </a:moveTo>
                  <a:lnTo>
                    <a:pt x="59118" y="413131"/>
                  </a:lnTo>
                  <a:lnTo>
                    <a:pt x="59118" y="409448"/>
                  </a:lnTo>
                  <a:lnTo>
                    <a:pt x="59118" y="3810"/>
                  </a:lnTo>
                  <a:lnTo>
                    <a:pt x="59118" y="0"/>
                  </a:lnTo>
                  <a:lnTo>
                    <a:pt x="56172" y="0"/>
                  </a:lnTo>
                  <a:lnTo>
                    <a:pt x="56172" y="3810"/>
                  </a:lnTo>
                  <a:lnTo>
                    <a:pt x="56172" y="409448"/>
                  </a:lnTo>
                  <a:lnTo>
                    <a:pt x="56172" y="413131"/>
                  </a:lnTo>
                  <a:lnTo>
                    <a:pt x="3733" y="413131"/>
                  </a:lnTo>
                  <a:lnTo>
                    <a:pt x="0" y="409448"/>
                  </a:lnTo>
                  <a:lnTo>
                    <a:pt x="0" y="416941"/>
                  </a:lnTo>
                  <a:lnTo>
                    <a:pt x="59893" y="416941"/>
                  </a:lnTo>
                  <a:lnTo>
                    <a:pt x="60858" y="416814"/>
                  </a:lnTo>
                  <a:lnTo>
                    <a:pt x="61760" y="416433"/>
                  </a:lnTo>
                  <a:lnTo>
                    <a:pt x="62547" y="415925"/>
                  </a:lnTo>
                  <a:lnTo>
                    <a:pt x="63131" y="415036"/>
                  </a:lnTo>
                  <a:lnTo>
                    <a:pt x="63500" y="414147"/>
                  </a:lnTo>
                  <a:lnTo>
                    <a:pt x="63500" y="413131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23" y="427354"/>
              <a:ext cx="2078736" cy="187756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5791" y="457834"/>
              <a:ext cx="1996439" cy="234315"/>
            </a:xfrm>
            <a:custGeom>
              <a:avLst/>
              <a:gdLst/>
              <a:ahLst/>
              <a:cxnLst/>
              <a:rect l="l" t="t" r="r" b="b"/>
              <a:pathLst>
                <a:path w="1996439" h="234315">
                  <a:moveTo>
                    <a:pt x="1993138" y="0"/>
                  </a:moveTo>
                  <a:lnTo>
                    <a:pt x="3136" y="0"/>
                  </a:lnTo>
                  <a:lnTo>
                    <a:pt x="0" y="3810"/>
                  </a:lnTo>
                  <a:lnTo>
                    <a:pt x="0" y="230250"/>
                  </a:lnTo>
                  <a:lnTo>
                    <a:pt x="3809" y="234061"/>
                  </a:lnTo>
                  <a:lnTo>
                    <a:pt x="1992376" y="234061"/>
                  </a:lnTo>
                  <a:lnTo>
                    <a:pt x="1996059" y="231267"/>
                  </a:lnTo>
                  <a:lnTo>
                    <a:pt x="1996059" y="2794"/>
                  </a:lnTo>
                  <a:lnTo>
                    <a:pt x="1995170" y="1142"/>
                  </a:lnTo>
                  <a:lnTo>
                    <a:pt x="1993138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6751" y="735202"/>
              <a:ext cx="1871345" cy="307975"/>
            </a:xfrm>
            <a:custGeom>
              <a:avLst/>
              <a:gdLst/>
              <a:ahLst/>
              <a:cxnLst/>
              <a:rect l="l" t="t" r="r" b="b"/>
              <a:pathLst>
                <a:path w="1871345" h="307975">
                  <a:moveTo>
                    <a:pt x="1870964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870964" y="307467"/>
                  </a:lnTo>
                  <a:lnTo>
                    <a:pt x="1870964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3703" y="732154"/>
              <a:ext cx="1877695" cy="314325"/>
            </a:xfrm>
            <a:custGeom>
              <a:avLst/>
              <a:gdLst/>
              <a:ahLst/>
              <a:cxnLst/>
              <a:rect l="l" t="t" r="r" b="b"/>
              <a:pathLst>
                <a:path w="1877695" h="314325">
                  <a:moveTo>
                    <a:pt x="1877314" y="2794"/>
                  </a:moveTo>
                  <a:lnTo>
                    <a:pt x="1873631" y="0"/>
                  </a:lnTo>
                  <a:lnTo>
                    <a:pt x="1869821" y="0"/>
                  </a:lnTo>
                  <a:lnTo>
                    <a:pt x="1869821" y="7620"/>
                  </a:lnTo>
                  <a:lnTo>
                    <a:pt x="1869821" y="306324"/>
                  </a:lnTo>
                  <a:lnTo>
                    <a:pt x="7620" y="306324"/>
                  </a:lnTo>
                  <a:lnTo>
                    <a:pt x="7620" y="7620"/>
                  </a:lnTo>
                  <a:lnTo>
                    <a:pt x="1869821" y="7620"/>
                  </a:lnTo>
                  <a:lnTo>
                    <a:pt x="1869821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0" y="310134"/>
                  </a:lnTo>
                  <a:lnTo>
                    <a:pt x="520" y="312039"/>
                  </a:lnTo>
                  <a:lnTo>
                    <a:pt x="1905" y="313436"/>
                  </a:lnTo>
                  <a:lnTo>
                    <a:pt x="2832" y="313817"/>
                  </a:lnTo>
                  <a:lnTo>
                    <a:pt x="1874647" y="313817"/>
                  </a:lnTo>
                  <a:lnTo>
                    <a:pt x="1875536" y="313436"/>
                  </a:lnTo>
                  <a:lnTo>
                    <a:pt x="1876933" y="312039"/>
                  </a:lnTo>
                  <a:lnTo>
                    <a:pt x="1877314" y="311023"/>
                  </a:lnTo>
                  <a:lnTo>
                    <a:pt x="1877314" y="310134"/>
                  </a:lnTo>
                  <a:lnTo>
                    <a:pt x="1877314" y="306324"/>
                  </a:lnTo>
                  <a:lnTo>
                    <a:pt x="1877314" y="7620"/>
                  </a:lnTo>
                  <a:lnTo>
                    <a:pt x="1877314" y="3810"/>
                  </a:lnTo>
                  <a:lnTo>
                    <a:pt x="1877314" y="2794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6751" y="1094866"/>
              <a:ext cx="1871345" cy="307975"/>
            </a:xfrm>
            <a:custGeom>
              <a:avLst/>
              <a:gdLst/>
              <a:ahLst/>
              <a:cxnLst/>
              <a:rect l="l" t="t" r="r" b="b"/>
              <a:pathLst>
                <a:path w="1871345" h="307975">
                  <a:moveTo>
                    <a:pt x="1870964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870964" y="307467"/>
                  </a:lnTo>
                  <a:lnTo>
                    <a:pt x="1870964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3703" y="1091818"/>
              <a:ext cx="1877695" cy="314325"/>
            </a:xfrm>
            <a:custGeom>
              <a:avLst/>
              <a:gdLst/>
              <a:ahLst/>
              <a:cxnLst/>
              <a:rect l="l" t="t" r="r" b="b"/>
              <a:pathLst>
                <a:path w="1877695" h="314325">
                  <a:moveTo>
                    <a:pt x="1877314" y="2794"/>
                  </a:moveTo>
                  <a:lnTo>
                    <a:pt x="1876933" y="1905"/>
                  </a:lnTo>
                  <a:lnTo>
                    <a:pt x="1875536" y="508"/>
                  </a:lnTo>
                  <a:lnTo>
                    <a:pt x="1874266" y="0"/>
                  </a:lnTo>
                  <a:lnTo>
                    <a:pt x="1869821" y="0"/>
                  </a:lnTo>
                  <a:lnTo>
                    <a:pt x="1869821" y="7620"/>
                  </a:lnTo>
                  <a:lnTo>
                    <a:pt x="1869821" y="306324"/>
                  </a:lnTo>
                  <a:lnTo>
                    <a:pt x="7620" y="306324"/>
                  </a:lnTo>
                  <a:lnTo>
                    <a:pt x="7620" y="7620"/>
                  </a:lnTo>
                  <a:lnTo>
                    <a:pt x="1869821" y="7620"/>
                  </a:lnTo>
                  <a:lnTo>
                    <a:pt x="1869821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0" y="310134"/>
                  </a:lnTo>
                  <a:lnTo>
                    <a:pt x="2832" y="313817"/>
                  </a:lnTo>
                  <a:lnTo>
                    <a:pt x="1873631" y="313944"/>
                  </a:lnTo>
                  <a:lnTo>
                    <a:pt x="1874647" y="313817"/>
                  </a:lnTo>
                  <a:lnTo>
                    <a:pt x="1875536" y="313436"/>
                  </a:lnTo>
                  <a:lnTo>
                    <a:pt x="1876933" y="312039"/>
                  </a:lnTo>
                  <a:lnTo>
                    <a:pt x="1877314" y="311023"/>
                  </a:lnTo>
                  <a:lnTo>
                    <a:pt x="1877314" y="310134"/>
                  </a:lnTo>
                  <a:lnTo>
                    <a:pt x="1877314" y="306324"/>
                  </a:lnTo>
                  <a:lnTo>
                    <a:pt x="1877314" y="7620"/>
                  </a:lnTo>
                  <a:lnTo>
                    <a:pt x="1877314" y="3810"/>
                  </a:lnTo>
                  <a:lnTo>
                    <a:pt x="1877314" y="2794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6751" y="1454530"/>
              <a:ext cx="1871345" cy="304800"/>
            </a:xfrm>
            <a:custGeom>
              <a:avLst/>
              <a:gdLst/>
              <a:ahLst/>
              <a:cxnLst/>
              <a:rect l="l" t="t" r="r" b="b"/>
              <a:pathLst>
                <a:path w="1871345" h="304800">
                  <a:moveTo>
                    <a:pt x="1870964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870964" y="304800"/>
                  </a:lnTo>
                  <a:lnTo>
                    <a:pt x="1870964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3703" y="1451482"/>
              <a:ext cx="1877695" cy="311150"/>
            </a:xfrm>
            <a:custGeom>
              <a:avLst/>
              <a:gdLst/>
              <a:ahLst/>
              <a:cxnLst/>
              <a:rect l="l" t="t" r="r" b="b"/>
              <a:pathLst>
                <a:path w="1877695" h="311150">
                  <a:moveTo>
                    <a:pt x="1877314" y="2794"/>
                  </a:moveTo>
                  <a:lnTo>
                    <a:pt x="1876933" y="1905"/>
                  </a:lnTo>
                  <a:lnTo>
                    <a:pt x="1875536" y="508"/>
                  </a:lnTo>
                  <a:lnTo>
                    <a:pt x="1874266" y="0"/>
                  </a:lnTo>
                  <a:lnTo>
                    <a:pt x="1869821" y="0"/>
                  </a:lnTo>
                  <a:lnTo>
                    <a:pt x="1869821" y="7493"/>
                  </a:lnTo>
                  <a:lnTo>
                    <a:pt x="1869821" y="303314"/>
                  </a:lnTo>
                  <a:lnTo>
                    <a:pt x="7620" y="303314"/>
                  </a:lnTo>
                  <a:lnTo>
                    <a:pt x="7620" y="7493"/>
                  </a:lnTo>
                  <a:lnTo>
                    <a:pt x="1869821" y="7493"/>
                  </a:lnTo>
                  <a:lnTo>
                    <a:pt x="1869821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0" y="307086"/>
                  </a:lnTo>
                  <a:lnTo>
                    <a:pt x="139" y="308102"/>
                  </a:lnTo>
                  <a:lnTo>
                    <a:pt x="520" y="308991"/>
                  </a:lnTo>
                  <a:lnTo>
                    <a:pt x="1905" y="310388"/>
                  </a:lnTo>
                  <a:lnTo>
                    <a:pt x="2832" y="310769"/>
                  </a:lnTo>
                  <a:lnTo>
                    <a:pt x="1874647" y="310769"/>
                  </a:lnTo>
                  <a:lnTo>
                    <a:pt x="1875536" y="310388"/>
                  </a:lnTo>
                  <a:lnTo>
                    <a:pt x="1876933" y="308991"/>
                  </a:lnTo>
                  <a:lnTo>
                    <a:pt x="1877314" y="308102"/>
                  </a:lnTo>
                  <a:lnTo>
                    <a:pt x="1877314" y="307086"/>
                  </a:lnTo>
                  <a:lnTo>
                    <a:pt x="1877314" y="303276"/>
                  </a:lnTo>
                  <a:lnTo>
                    <a:pt x="1877314" y="7493"/>
                  </a:lnTo>
                  <a:lnTo>
                    <a:pt x="1877314" y="3810"/>
                  </a:lnTo>
                  <a:lnTo>
                    <a:pt x="1877314" y="2794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6751" y="1811146"/>
              <a:ext cx="1871345" cy="307975"/>
            </a:xfrm>
            <a:custGeom>
              <a:avLst/>
              <a:gdLst/>
              <a:ahLst/>
              <a:cxnLst/>
              <a:rect l="l" t="t" r="r" b="b"/>
              <a:pathLst>
                <a:path w="1871345" h="307975">
                  <a:moveTo>
                    <a:pt x="1870964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870964" y="307467"/>
                  </a:lnTo>
                  <a:lnTo>
                    <a:pt x="1870964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3703" y="1808098"/>
              <a:ext cx="1877695" cy="314325"/>
            </a:xfrm>
            <a:custGeom>
              <a:avLst/>
              <a:gdLst/>
              <a:ahLst/>
              <a:cxnLst/>
              <a:rect l="l" t="t" r="r" b="b"/>
              <a:pathLst>
                <a:path w="1877695" h="314325">
                  <a:moveTo>
                    <a:pt x="1877314" y="2794"/>
                  </a:moveTo>
                  <a:lnTo>
                    <a:pt x="1876933" y="1905"/>
                  </a:lnTo>
                  <a:lnTo>
                    <a:pt x="1875536" y="508"/>
                  </a:lnTo>
                  <a:lnTo>
                    <a:pt x="1874266" y="0"/>
                  </a:lnTo>
                  <a:lnTo>
                    <a:pt x="1869821" y="0"/>
                  </a:lnTo>
                  <a:lnTo>
                    <a:pt x="1869821" y="7620"/>
                  </a:lnTo>
                  <a:lnTo>
                    <a:pt x="1869821" y="306324"/>
                  </a:lnTo>
                  <a:lnTo>
                    <a:pt x="7620" y="306324"/>
                  </a:lnTo>
                  <a:lnTo>
                    <a:pt x="7620" y="7620"/>
                  </a:lnTo>
                  <a:lnTo>
                    <a:pt x="1869821" y="7620"/>
                  </a:lnTo>
                  <a:lnTo>
                    <a:pt x="1869821" y="0"/>
                  </a:lnTo>
                  <a:lnTo>
                    <a:pt x="3136" y="0"/>
                  </a:lnTo>
                  <a:lnTo>
                    <a:pt x="0" y="3810"/>
                  </a:lnTo>
                  <a:lnTo>
                    <a:pt x="0" y="310134"/>
                  </a:lnTo>
                  <a:lnTo>
                    <a:pt x="2832" y="313817"/>
                  </a:lnTo>
                  <a:lnTo>
                    <a:pt x="1873631" y="313944"/>
                  </a:lnTo>
                  <a:lnTo>
                    <a:pt x="1874647" y="313817"/>
                  </a:lnTo>
                  <a:lnTo>
                    <a:pt x="1875536" y="313436"/>
                  </a:lnTo>
                  <a:lnTo>
                    <a:pt x="1876933" y="312039"/>
                  </a:lnTo>
                  <a:lnTo>
                    <a:pt x="1877314" y="311023"/>
                  </a:lnTo>
                  <a:lnTo>
                    <a:pt x="1877314" y="310134"/>
                  </a:lnTo>
                  <a:lnTo>
                    <a:pt x="1877314" y="306324"/>
                  </a:lnTo>
                  <a:lnTo>
                    <a:pt x="1877314" y="7620"/>
                  </a:lnTo>
                  <a:lnTo>
                    <a:pt x="1877314" y="3810"/>
                  </a:lnTo>
                  <a:lnTo>
                    <a:pt x="1877314" y="2794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8430" y="424306"/>
              <a:ext cx="2121408" cy="188366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227198" y="457834"/>
              <a:ext cx="2038985" cy="234315"/>
            </a:xfrm>
            <a:custGeom>
              <a:avLst/>
              <a:gdLst/>
              <a:ahLst/>
              <a:cxnLst/>
              <a:rect l="l" t="t" r="r" b="b"/>
              <a:pathLst>
                <a:path w="2038985" h="234315">
                  <a:moveTo>
                    <a:pt x="2035683" y="0"/>
                  </a:moveTo>
                  <a:lnTo>
                    <a:pt x="3175" y="0"/>
                  </a:lnTo>
                  <a:lnTo>
                    <a:pt x="0" y="3810"/>
                  </a:lnTo>
                  <a:lnTo>
                    <a:pt x="0" y="230250"/>
                  </a:lnTo>
                  <a:lnTo>
                    <a:pt x="3809" y="234061"/>
                  </a:lnTo>
                  <a:lnTo>
                    <a:pt x="2035048" y="234061"/>
                  </a:lnTo>
                  <a:lnTo>
                    <a:pt x="2038730" y="231267"/>
                  </a:lnTo>
                  <a:lnTo>
                    <a:pt x="2038730" y="2794"/>
                  </a:lnTo>
                  <a:lnTo>
                    <a:pt x="2038350" y="1904"/>
                  </a:lnTo>
                  <a:lnTo>
                    <a:pt x="2036952" y="508"/>
                  </a:lnTo>
                  <a:lnTo>
                    <a:pt x="2035683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88158" y="735202"/>
              <a:ext cx="1914525" cy="307975"/>
            </a:xfrm>
            <a:custGeom>
              <a:avLst/>
              <a:gdLst/>
              <a:ahLst/>
              <a:cxnLst/>
              <a:rect l="l" t="t" r="r" b="b"/>
              <a:pathLst>
                <a:path w="1914525" h="307975">
                  <a:moveTo>
                    <a:pt x="1914017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914017" y="307467"/>
                  </a:lnTo>
                  <a:lnTo>
                    <a:pt x="1914017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285111" y="732154"/>
              <a:ext cx="1920239" cy="314325"/>
            </a:xfrm>
            <a:custGeom>
              <a:avLst/>
              <a:gdLst/>
              <a:ahLst/>
              <a:cxnLst/>
              <a:rect l="l" t="t" r="r" b="b"/>
              <a:pathLst>
                <a:path w="1920239" h="314325">
                  <a:moveTo>
                    <a:pt x="1919859" y="3810"/>
                  </a:moveTo>
                  <a:lnTo>
                    <a:pt x="1916049" y="0"/>
                  </a:lnTo>
                  <a:lnTo>
                    <a:pt x="1912239" y="0"/>
                  </a:lnTo>
                  <a:lnTo>
                    <a:pt x="1912239" y="7620"/>
                  </a:lnTo>
                  <a:lnTo>
                    <a:pt x="1912239" y="306324"/>
                  </a:lnTo>
                  <a:lnTo>
                    <a:pt x="7493" y="306324"/>
                  </a:lnTo>
                  <a:lnTo>
                    <a:pt x="7493" y="7620"/>
                  </a:lnTo>
                  <a:lnTo>
                    <a:pt x="1912239" y="7620"/>
                  </a:lnTo>
                  <a:lnTo>
                    <a:pt x="1912239" y="0"/>
                  </a:lnTo>
                  <a:lnTo>
                    <a:pt x="3683" y="0"/>
                  </a:lnTo>
                  <a:lnTo>
                    <a:pt x="0" y="2794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8" y="313436"/>
                  </a:lnTo>
                  <a:lnTo>
                    <a:pt x="2667" y="313817"/>
                  </a:lnTo>
                  <a:lnTo>
                    <a:pt x="1917065" y="313817"/>
                  </a:lnTo>
                  <a:lnTo>
                    <a:pt x="1917954" y="313436"/>
                  </a:lnTo>
                  <a:lnTo>
                    <a:pt x="1919351" y="312039"/>
                  </a:lnTo>
                  <a:lnTo>
                    <a:pt x="1919859" y="310134"/>
                  </a:lnTo>
                  <a:lnTo>
                    <a:pt x="1919859" y="306324"/>
                  </a:lnTo>
                  <a:lnTo>
                    <a:pt x="1919859" y="7620"/>
                  </a:lnTo>
                  <a:lnTo>
                    <a:pt x="1919859" y="3810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285110" y="732154"/>
              <a:ext cx="33655" cy="314325"/>
            </a:xfrm>
            <a:custGeom>
              <a:avLst/>
              <a:gdLst/>
              <a:ahLst/>
              <a:cxnLst/>
              <a:rect l="l" t="t" r="r" b="b"/>
              <a:pathLst>
                <a:path w="33655" h="314325">
                  <a:moveTo>
                    <a:pt x="29844" y="0"/>
                  </a:moveTo>
                  <a:lnTo>
                    <a:pt x="3682" y="0"/>
                  </a:lnTo>
                  <a:lnTo>
                    <a:pt x="0" y="2793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7" y="313436"/>
                  </a:lnTo>
                  <a:lnTo>
                    <a:pt x="2666" y="313817"/>
                  </a:lnTo>
                  <a:lnTo>
                    <a:pt x="30733" y="313817"/>
                  </a:lnTo>
                  <a:lnTo>
                    <a:pt x="31750" y="313436"/>
                  </a:lnTo>
                  <a:lnTo>
                    <a:pt x="33146" y="312039"/>
                  </a:lnTo>
                  <a:lnTo>
                    <a:pt x="33400" y="310134"/>
                  </a:lnTo>
                  <a:lnTo>
                    <a:pt x="33400" y="2793"/>
                  </a:lnTo>
                  <a:lnTo>
                    <a:pt x="29844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288158" y="1094866"/>
              <a:ext cx="1914525" cy="307975"/>
            </a:xfrm>
            <a:custGeom>
              <a:avLst/>
              <a:gdLst/>
              <a:ahLst/>
              <a:cxnLst/>
              <a:rect l="l" t="t" r="r" b="b"/>
              <a:pathLst>
                <a:path w="1914525" h="307975">
                  <a:moveTo>
                    <a:pt x="1914017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914017" y="307467"/>
                  </a:lnTo>
                  <a:lnTo>
                    <a:pt x="1914017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85111" y="1091818"/>
              <a:ext cx="1920239" cy="314325"/>
            </a:xfrm>
            <a:custGeom>
              <a:avLst/>
              <a:gdLst/>
              <a:ahLst/>
              <a:cxnLst/>
              <a:rect l="l" t="t" r="r" b="b"/>
              <a:pathLst>
                <a:path w="1920239" h="314325">
                  <a:moveTo>
                    <a:pt x="1919859" y="3810"/>
                  </a:moveTo>
                  <a:lnTo>
                    <a:pt x="1916811" y="0"/>
                  </a:lnTo>
                  <a:lnTo>
                    <a:pt x="1912239" y="0"/>
                  </a:lnTo>
                  <a:lnTo>
                    <a:pt x="1912239" y="7620"/>
                  </a:lnTo>
                  <a:lnTo>
                    <a:pt x="1912239" y="306324"/>
                  </a:lnTo>
                  <a:lnTo>
                    <a:pt x="7493" y="306324"/>
                  </a:lnTo>
                  <a:lnTo>
                    <a:pt x="7493" y="7620"/>
                  </a:lnTo>
                  <a:lnTo>
                    <a:pt x="1912239" y="7620"/>
                  </a:lnTo>
                  <a:lnTo>
                    <a:pt x="1912239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8" y="313436"/>
                  </a:lnTo>
                  <a:lnTo>
                    <a:pt x="2667" y="313817"/>
                  </a:lnTo>
                  <a:lnTo>
                    <a:pt x="1916049" y="313944"/>
                  </a:lnTo>
                  <a:lnTo>
                    <a:pt x="1917065" y="313817"/>
                  </a:lnTo>
                  <a:lnTo>
                    <a:pt x="1917954" y="313436"/>
                  </a:lnTo>
                  <a:lnTo>
                    <a:pt x="1919351" y="312039"/>
                  </a:lnTo>
                  <a:lnTo>
                    <a:pt x="1919859" y="310134"/>
                  </a:lnTo>
                  <a:lnTo>
                    <a:pt x="1919859" y="306324"/>
                  </a:lnTo>
                  <a:lnTo>
                    <a:pt x="1919859" y="7620"/>
                  </a:lnTo>
                  <a:lnTo>
                    <a:pt x="1919859" y="3810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85110" y="1091818"/>
              <a:ext cx="33655" cy="314325"/>
            </a:xfrm>
            <a:custGeom>
              <a:avLst/>
              <a:gdLst/>
              <a:ahLst/>
              <a:cxnLst/>
              <a:rect l="l" t="t" r="r" b="b"/>
              <a:pathLst>
                <a:path w="33655" h="314325">
                  <a:moveTo>
                    <a:pt x="30479" y="0"/>
                  </a:moveTo>
                  <a:lnTo>
                    <a:pt x="2920" y="0"/>
                  </a:lnTo>
                  <a:lnTo>
                    <a:pt x="1777" y="507"/>
                  </a:lnTo>
                  <a:lnTo>
                    <a:pt x="381" y="1904"/>
                  </a:lnTo>
                  <a:lnTo>
                    <a:pt x="0" y="2793"/>
                  </a:lnTo>
                  <a:lnTo>
                    <a:pt x="0" y="311022"/>
                  </a:lnTo>
                  <a:lnTo>
                    <a:pt x="3682" y="313944"/>
                  </a:lnTo>
                  <a:lnTo>
                    <a:pt x="29844" y="313944"/>
                  </a:lnTo>
                  <a:lnTo>
                    <a:pt x="33400" y="311022"/>
                  </a:lnTo>
                  <a:lnTo>
                    <a:pt x="33400" y="2793"/>
                  </a:lnTo>
                  <a:lnTo>
                    <a:pt x="33146" y="1904"/>
                  </a:lnTo>
                  <a:lnTo>
                    <a:pt x="31750" y="50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88158" y="1454530"/>
              <a:ext cx="1914525" cy="304800"/>
            </a:xfrm>
            <a:custGeom>
              <a:avLst/>
              <a:gdLst/>
              <a:ahLst/>
              <a:cxnLst/>
              <a:rect l="l" t="t" r="r" b="b"/>
              <a:pathLst>
                <a:path w="1914525" h="304800">
                  <a:moveTo>
                    <a:pt x="191401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914017" y="304800"/>
                  </a:lnTo>
                  <a:lnTo>
                    <a:pt x="1914017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85111" y="1451482"/>
              <a:ext cx="1920239" cy="311150"/>
            </a:xfrm>
            <a:custGeom>
              <a:avLst/>
              <a:gdLst/>
              <a:ahLst/>
              <a:cxnLst/>
              <a:rect l="l" t="t" r="r" b="b"/>
              <a:pathLst>
                <a:path w="1920239" h="311150">
                  <a:moveTo>
                    <a:pt x="1919859" y="3810"/>
                  </a:moveTo>
                  <a:lnTo>
                    <a:pt x="1916811" y="0"/>
                  </a:lnTo>
                  <a:lnTo>
                    <a:pt x="1912239" y="0"/>
                  </a:lnTo>
                  <a:lnTo>
                    <a:pt x="1912239" y="7493"/>
                  </a:lnTo>
                  <a:lnTo>
                    <a:pt x="1912239" y="303314"/>
                  </a:lnTo>
                  <a:lnTo>
                    <a:pt x="7493" y="303314"/>
                  </a:lnTo>
                  <a:lnTo>
                    <a:pt x="7493" y="7493"/>
                  </a:lnTo>
                  <a:lnTo>
                    <a:pt x="1912239" y="7493"/>
                  </a:lnTo>
                  <a:lnTo>
                    <a:pt x="1912239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08102"/>
                  </a:lnTo>
                  <a:lnTo>
                    <a:pt x="381" y="308991"/>
                  </a:lnTo>
                  <a:lnTo>
                    <a:pt x="1778" y="310388"/>
                  </a:lnTo>
                  <a:lnTo>
                    <a:pt x="2667" y="310769"/>
                  </a:lnTo>
                  <a:lnTo>
                    <a:pt x="1917065" y="310769"/>
                  </a:lnTo>
                  <a:lnTo>
                    <a:pt x="1917954" y="310388"/>
                  </a:lnTo>
                  <a:lnTo>
                    <a:pt x="1919351" y="308991"/>
                  </a:lnTo>
                  <a:lnTo>
                    <a:pt x="1919732" y="308102"/>
                  </a:lnTo>
                  <a:lnTo>
                    <a:pt x="1919859" y="307086"/>
                  </a:lnTo>
                  <a:lnTo>
                    <a:pt x="1919859" y="303276"/>
                  </a:lnTo>
                  <a:lnTo>
                    <a:pt x="1919859" y="7493"/>
                  </a:lnTo>
                  <a:lnTo>
                    <a:pt x="1919859" y="3810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285110" y="1451482"/>
              <a:ext cx="33655" cy="311150"/>
            </a:xfrm>
            <a:custGeom>
              <a:avLst/>
              <a:gdLst/>
              <a:ahLst/>
              <a:cxnLst/>
              <a:rect l="l" t="t" r="r" b="b"/>
              <a:pathLst>
                <a:path w="33655" h="311150">
                  <a:moveTo>
                    <a:pt x="30479" y="0"/>
                  </a:moveTo>
                  <a:lnTo>
                    <a:pt x="3047" y="0"/>
                  </a:lnTo>
                  <a:lnTo>
                    <a:pt x="1777" y="507"/>
                  </a:lnTo>
                  <a:lnTo>
                    <a:pt x="381" y="1905"/>
                  </a:lnTo>
                  <a:lnTo>
                    <a:pt x="0" y="2793"/>
                  </a:lnTo>
                  <a:lnTo>
                    <a:pt x="0" y="308101"/>
                  </a:lnTo>
                  <a:lnTo>
                    <a:pt x="381" y="308990"/>
                  </a:lnTo>
                  <a:lnTo>
                    <a:pt x="1777" y="310388"/>
                  </a:lnTo>
                  <a:lnTo>
                    <a:pt x="2666" y="310769"/>
                  </a:lnTo>
                  <a:lnTo>
                    <a:pt x="30733" y="310769"/>
                  </a:lnTo>
                  <a:lnTo>
                    <a:pt x="31750" y="310388"/>
                  </a:lnTo>
                  <a:lnTo>
                    <a:pt x="33146" y="308990"/>
                  </a:lnTo>
                  <a:lnTo>
                    <a:pt x="33400" y="308101"/>
                  </a:lnTo>
                  <a:lnTo>
                    <a:pt x="33400" y="2793"/>
                  </a:lnTo>
                  <a:lnTo>
                    <a:pt x="33146" y="1905"/>
                  </a:lnTo>
                  <a:lnTo>
                    <a:pt x="31750" y="50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288158" y="1811146"/>
              <a:ext cx="1914525" cy="307975"/>
            </a:xfrm>
            <a:custGeom>
              <a:avLst/>
              <a:gdLst/>
              <a:ahLst/>
              <a:cxnLst/>
              <a:rect l="l" t="t" r="r" b="b"/>
              <a:pathLst>
                <a:path w="1914525" h="307975">
                  <a:moveTo>
                    <a:pt x="1914017" y="0"/>
                  </a:moveTo>
                  <a:lnTo>
                    <a:pt x="0" y="0"/>
                  </a:lnTo>
                  <a:lnTo>
                    <a:pt x="0" y="307467"/>
                  </a:lnTo>
                  <a:lnTo>
                    <a:pt x="1914017" y="307467"/>
                  </a:lnTo>
                  <a:lnTo>
                    <a:pt x="1914017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285111" y="1808098"/>
              <a:ext cx="1920239" cy="314325"/>
            </a:xfrm>
            <a:custGeom>
              <a:avLst/>
              <a:gdLst/>
              <a:ahLst/>
              <a:cxnLst/>
              <a:rect l="l" t="t" r="r" b="b"/>
              <a:pathLst>
                <a:path w="1920239" h="314325">
                  <a:moveTo>
                    <a:pt x="1919859" y="3810"/>
                  </a:moveTo>
                  <a:lnTo>
                    <a:pt x="1916811" y="0"/>
                  </a:lnTo>
                  <a:lnTo>
                    <a:pt x="1912239" y="0"/>
                  </a:lnTo>
                  <a:lnTo>
                    <a:pt x="1912239" y="7620"/>
                  </a:lnTo>
                  <a:lnTo>
                    <a:pt x="1912239" y="306324"/>
                  </a:lnTo>
                  <a:lnTo>
                    <a:pt x="7493" y="306324"/>
                  </a:lnTo>
                  <a:lnTo>
                    <a:pt x="7493" y="7620"/>
                  </a:lnTo>
                  <a:lnTo>
                    <a:pt x="1912239" y="7620"/>
                  </a:lnTo>
                  <a:lnTo>
                    <a:pt x="1912239" y="0"/>
                  </a:lnTo>
                  <a:lnTo>
                    <a:pt x="3048" y="0"/>
                  </a:lnTo>
                  <a:lnTo>
                    <a:pt x="1778" y="508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311023"/>
                  </a:lnTo>
                  <a:lnTo>
                    <a:pt x="381" y="312039"/>
                  </a:lnTo>
                  <a:lnTo>
                    <a:pt x="1778" y="313436"/>
                  </a:lnTo>
                  <a:lnTo>
                    <a:pt x="2667" y="313817"/>
                  </a:lnTo>
                  <a:lnTo>
                    <a:pt x="1916049" y="313944"/>
                  </a:lnTo>
                  <a:lnTo>
                    <a:pt x="1917065" y="313817"/>
                  </a:lnTo>
                  <a:lnTo>
                    <a:pt x="1917954" y="313436"/>
                  </a:lnTo>
                  <a:lnTo>
                    <a:pt x="1919351" y="312039"/>
                  </a:lnTo>
                  <a:lnTo>
                    <a:pt x="1919859" y="310134"/>
                  </a:lnTo>
                  <a:lnTo>
                    <a:pt x="1919859" y="306324"/>
                  </a:lnTo>
                  <a:lnTo>
                    <a:pt x="1919859" y="7620"/>
                  </a:lnTo>
                  <a:lnTo>
                    <a:pt x="1919859" y="3810"/>
                  </a:lnTo>
                  <a:close/>
                </a:path>
              </a:pathLst>
            </a:custGeom>
            <a:solidFill>
              <a:srgbClr val="C6E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285110" y="1808098"/>
              <a:ext cx="33655" cy="314325"/>
            </a:xfrm>
            <a:custGeom>
              <a:avLst/>
              <a:gdLst/>
              <a:ahLst/>
              <a:cxnLst/>
              <a:rect l="l" t="t" r="r" b="b"/>
              <a:pathLst>
                <a:path w="33655" h="314325">
                  <a:moveTo>
                    <a:pt x="30479" y="0"/>
                  </a:moveTo>
                  <a:lnTo>
                    <a:pt x="2920" y="0"/>
                  </a:lnTo>
                  <a:lnTo>
                    <a:pt x="1777" y="508"/>
                  </a:lnTo>
                  <a:lnTo>
                    <a:pt x="381" y="1905"/>
                  </a:lnTo>
                  <a:lnTo>
                    <a:pt x="0" y="2793"/>
                  </a:lnTo>
                  <a:lnTo>
                    <a:pt x="0" y="311023"/>
                  </a:lnTo>
                  <a:lnTo>
                    <a:pt x="3682" y="313944"/>
                  </a:lnTo>
                  <a:lnTo>
                    <a:pt x="29844" y="313944"/>
                  </a:lnTo>
                  <a:lnTo>
                    <a:pt x="33400" y="311023"/>
                  </a:lnTo>
                  <a:lnTo>
                    <a:pt x="33400" y="2793"/>
                  </a:lnTo>
                  <a:lnTo>
                    <a:pt x="33146" y="1905"/>
                  </a:lnTo>
                  <a:lnTo>
                    <a:pt x="31750" y="50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59" y="485266"/>
              <a:ext cx="152400" cy="1523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2063" y="485266"/>
              <a:ext cx="149351" cy="14630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587" y="1650"/>
              <a:ext cx="59690" cy="416559"/>
            </a:xfrm>
            <a:custGeom>
              <a:avLst/>
              <a:gdLst/>
              <a:ahLst/>
              <a:cxnLst/>
              <a:rect l="l" t="t" r="r" b="b"/>
              <a:pathLst>
                <a:path w="59690" h="416559">
                  <a:moveTo>
                    <a:pt x="59689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59689" y="416560"/>
                  </a:lnTo>
                  <a:lnTo>
                    <a:pt x="59689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1277" y="1650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60"/>
                  </a:lnTo>
                  <a:lnTo>
                    <a:pt x="4310380" y="416560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587" y="2325750"/>
              <a:ext cx="4370070" cy="132080"/>
            </a:xfrm>
            <a:custGeom>
              <a:avLst/>
              <a:gdLst/>
              <a:ahLst/>
              <a:cxnLst/>
              <a:rect l="l" t="t" r="r" b="b"/>
              <a:pathLst>
                <a:path w="4370070" h="132080">
                  <a:moveTo>
                    <a:pt x="4370070" y="0"/>
                  </a:moveTo>
                  <a:lnTo>
                    <a:pt x="0" y="0"/>
                  </a:lnTo>
                  <a:lnTo>
                    <a:pt x="0" y="132080"/>
                  </a:lnTo>
                  <a:lnTo>
                    <a:pt x="4370070" y="132080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0" y="415035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0" y="0"/>
              <a:ext cx="4373245" cy="2459355"/>
            </a:xfrm>
            <a:custGeom>
              <a:avLst/>
              <a:gdLst/>
              <a:ahLst/>
              <a:cxnLst/>
              <a:rect l="l" t="t" r="r" b="b"/>
              <a:pathLst>
                <a:path w="4373245" h="2459355">
                  <a:moveTo>
                    <a:pt x="1587" y="0"/>
                  </a:moveTo>
                  <a:lnTo>
                    <a:pt x="1587" y="2459355"/>
                  </a:lnTo>
                </a:path>
                <a:path w="4373245" h="2459355">
                  <a:moveTo>
                    <a:pt x="4371594" y="0"/>
                  </a:moveTo>
                  <a:lnTo>
                    <a:pt x="4371594" y="2459355"/>
                  </a:lnTo>
                </a:path>
                <a:path w="4373245" h="2459355">
                  <a:moveTo>
                    <a:pt x="0" y="1650"/>
                  </a:moveTo>
                  <a:lnTo>
                    <a:pt x="4373245" y="16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0" y="2457830"/>
              <a:ext cx="4373245" cy="0"/>
            </a:xfrm>
            <a:custGeom>
              <a:avLst/>
              <a:gdLst/>
              <a:ahLst/>
              <a:cxnLst/>
              <a:rect l="l" t="t" r="r" b="b"/>
              <a:pathLst>
                <a:path w="4373245" h="0">
                  <a:moveTo>
                    <a:pt x="0" y="0"/>
                  </a:moveTo>
                  <a:lnTo>
                    <a:pt x="4373245" y="0"/>
                  </a:lnTo>
                </a:path>
              </a:pathLst>
            </a:custGeom>
            <a:ln w="3175">
              <a:solidFill>
                <a:srgbClr val="F7F8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/>
              <a:t>Frontend</a:t>
            </a:r>
            <a:r>
              <a:rPr dirty="0" sz="1000" spc="-60"/>
              <a:t> </a:t>
            </a:r>
            <a:r>
              <a:rPr dirty="0" sz="1000"/>
              <a:t>&amp;</a:t>
            </a:r>
            <a:r>
              <a:rPr dirty="0" sz="1000" spc="10"/>
              <a:t> </a:t>
            </a:r>
            <a:r>
              <a:rPr dirty="0" sz="1000" spc="-10"/>
              <a:t>Deployment</a:t>
            </a:r>
            <a:endParaRPr sz="1000"/>
          </a:p>
        </p:txBody>
      </p:sp>
      <p:sp>
        <p:nvSpPr>
          <p:cNvPr id="38" name="object 38" descr=""/>
          <p:cNvSpPr txBox="1"/>
          <p:nvPr/>
        </p:nvSpPr>
        <p:spPr>
          <a:xfrm>
            <a:off x="152527" y="260730"/>
            <a:ext cx="1619250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S3</a:t>
            </a:r>
            <a:r>
              <a:rPr dirty="0" sz="500" spc="2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+</a:t>
            </a:r>
            <a:r>
              <a:rPr dirty="0" sz="500" spc="3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CloudFront</a:t>
            </a:r>
            <a:r>
              <a:rPr dirty="0" sz="500" spc="4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Frontend</a:t>
            </a:r>
            <a:r>
              <a:rPr dirty="0" sz="500" spc="17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·</a:t>
            </a:r>
            <a:r>
              <a:rPr dirty="0" sz="500" spc="21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EC2</a:t>
            </a:r>
            <a:r>
              <a:rPr dirty="0" sz="500" spc="4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Application</a:t>
            </a:r>
            <a:r>
              <a:rPr dirty="0" sz="500" spc="2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Backend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5791" y="457834"/>
            <a:ext cx="1996439" cy="2343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80035">
              <a:lnSpc>
                <a:spcPct val="100000"/>
              </a:lnSpc>
              <a:spcBef>
                <a:spcPts val="545"/>
              </a:spcBef>
            </a:pPr>
            <a:r>
              <a:rPr dirty="0" sz="600" b="1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r>
              <a:rPr dirty="0" sz="6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FFFF"/>
                </a:solidFill>
                <a:latin typeface="Arial"/>
                <a:cs typeface="Arial"/>
              </a:rPr>
              <a:t>S3</a:t>
            </a:r>
            <a:r>
              <a:rPr dirty="0" sz="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Arial"/>
                <a:cs typeface="Arial"/>
              </a:rPr>
              <a:t>CloudFront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227198" y="457834"/>
            <a:ext cx="2038985" cy="2343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84480">
              <a:lnSpc>
                <a:spcPct val="100000"/>
              </a:lnSpc>
              <a:spcBef>
                <a:spcPts val="545"/>
              </a:spcBef>
            </a:pPr>
            <a:r>
              <a:rPr dirty="0" sz="600" spc="-10" b="1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r>
              <a:rPr dirty="0" sz="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Arial"/>
                <a:cs typeface="Arial"/>
              </a:rPr>
              <a:t>EC2</a:t>
            </a:r>
            <a:r>
              <a:rPr dirty="0" sz="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67513" y="749045"/>
            <a:ext cx="1866264" cy="24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React</a:t>
            </a:r>
            <a:r>
              <a:rPr dirty="0" sz="550" spc="-4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/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Next.js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091528"/>
                </a:solidFill>
                <a:latin typeface="Arial"/>
                <a:cs typeface="Arial"/>
              </a:rPr>
              <a:t>SPA</a:t>
            </a:r>
            <a:endParaRPr sz="55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495"/>
              </a:spcBef>
            </a:pP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Static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frontend deployed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to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S3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bucket;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zero server</a:t>
            </a:r>
            <a:r>
              <a:rPr dirty="0" sz="450" spc="-2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management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318511" y="749045"/>
            <a:ext cx="1878964" cy="24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EC2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(t3.large</a:t>
            </a:r>
            <a:r>
              <a:rPr dirty="0" sz="550" spc="-6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+</a:t>
            </a:r>
            <a:r>
              <a:rPr dirty="0" sz="550" spc="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Auto</a:t>
            </a:r>
            <a:r>
              <a:rPr dirty="0" sz="550" spc="-5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Scaling)</a:t>
            </a:r>
            <a:endParaRPr sz="5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495"/>
              </a:spcBef>
            </a:pP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App</a:t>
            </a:r>
            <a:r>
              <a:rPr dirty="0" sz="450" spc="-1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server</a:t>
            </a:r>
            <a:r>
              <a:rPr dirty="0" sz="450" spc="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runs</a:t>
            </a:r>
            <a:r>
              <a:rPr dirty="0" sz="450" spc="4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Node.js/Python</a:t>
            </a:r>
            <a:r>
              <a:rPr dirty="0" sz="450" spc="-3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API;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scales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automatically</a:t>
            </a:r>
            <a:r>
              <a:rPr dirty="0" sz="450" spc="-3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on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load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318511" y="1115059"/>
            <a:ext cx="1878964" cy="24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VPC</a:t>
            </a:r>
            <a:r>
              <a:rPr dirty="0" sz="550" spc="-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+</a:t>
            </a:r>
            <a:r>
              <a:rPr dirty="0" sz="550" spc="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Private</a:t>
            </a:r>
            <a:r>
              <a:rPr dirty="0" sz="550" spc="-5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Subnets</a:t>
            </a:r>
            <a:endParaRPr sz="5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520"/>
              </a:spcBef>
            </a:pP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Isolated</a:t>
            </a:r>
            <a:r>
              <a:rPr dirty="0" sz="450" spc="-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network;</a:t>
            </a:r>
            <a:r>
              <a:rPr dirty="0" sz="450" spc="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backend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has</a:t>
            </a:r>
            <a:r>
              <a:rPr dirty="0" sz="450" spc="2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no</a:t>
            </a:r>
            <a:r>
              <a:rPr dirty="0" sz="450" spc="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direct</a:t>
            </a:r>
            <a:r>
              <a:rPr dirty="0" sz="450" spc="-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public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internet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access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67513" y="1069307"/>
            <a:ext cx="1866264" cy="32702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459"/>
              </a:spcBef>
            </a:pP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CloudFront</a:t>
            </a:r>
            <a:r>
              <a:rPr dirty="0" sz="550" spc="-4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CDN</a:t>
            </a:r>
            <a:r>
              <a:rPr dirty="0" sz="550" spc="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Distribution</a:t>
            </a:r>
            <a:endParaRPr sz="550">
              <a:latin typeface="Arial"/>
              <a:cs typeface="Arial"/>
            </a:endParaRPr>
          </a:p>
          <a:p>
            <a:pPr marL="95885" marR="347980">
              <a:lnSpc>
                <a:spcPts val="500"/>
              </a:lnSpc>
              <a:spcBef>
                <a:spcPts val="355"/>
              </a:spcBef>
            </a:pP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Global</a:t>
            </a:r>
            <a:r>
              <a:rPr dirty="0" sz="450" spc="-4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edge</a:t>
            </a:r>
            <a:r>
              <a:rPr dirty="0" sz="450" spc="-3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network</a:t>
            </a:r>
            <a:r>
              <a:rPr dirty="0" sz="450" spc="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—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sub-100ms</a:t>
            </a:r>
            <a:r>
              <a:rPr dirty="0" sz="450" spc="-6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latency for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clinicians</a:t>
            </a:r>
            <a:r>
              <a:rPr dirty="0" sz="450" spc="50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worldwide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67513" y="1483867"/>
            <a:ext cx="1866264" cy="24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HTTPS</a:t>
            </a:r>
            <a:r>
              <a:rPr dirty="0" sz="550" spc="-6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+</a:t>
            </a:r>
            <a:r>
              <a:rPr dirty="0" sz="550" spc="-1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ACM</a:t>
            </a:r>
            <a:r>
              <a:rPr dirty="0" sz="550" spc="-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SSL</a:t>
            </a:r>
            <a:r>
              <a:rPr dirty="0" sz="550" spc="-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Certificate</a:t>
            </a:r>
            <a:endParaRPr sz="55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520"/>
              </a:spcBef>
            </a:pP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End-to-end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encryption;</a:t>
            </a:r>
            <a:r>
              <a:rPr dirty="0" sz="450" spc="-1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custom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domain</a:t>
            </a:r>
            <a:r>
              <a:rPr dirty="0" sz="450" spc="1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via</a:t>
            </a:r>
            <a:r>
              <a:rPr dirty="0" sz="450" spc="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Route</a:t>
            </a:r>
            <a:r>
              <a:rPr dirty="0" sz="450" spc="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627489"/>
                </a:solidFill>
                <a:latin typeface="Arial MT"/>
                <a:cs typeface="Arial MT"/>
              </a:rPr>
              <a:t>53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318511" y="1483867"/>
            <a:ext cx="1878964" cy="24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Application</a:t>
            </a:r>
            <a:r>
              <a:rPr dirty="0" sz="550" spc="-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Load</a:t>
            </a:r>
            <a:r>
              <a:rPr dirty="0" sz="550" spc="-5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Balancer</a:t>
            </a:r>
            <a:r>
              <a:rPr dirty="0" sz="550" spc="-4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(ALB)</a:t>
            </a:r>
            <a:endParaRPr sz="5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520"/>
              </a:spcBef>
            </a:pP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Distributes</a:t>
            </a:r>
            <a:r>
              <a:rPr dirty="0" sz="450" spc="-2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traffic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across EC2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instances;</a:t>
            </a:r>
            <a:r>
              <a:rPr dirty="0" sz="450" spc="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health</a:t>
            </a:r>
            <a:r>
              <a:rPr dirty="0" sz="450" spc="6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checks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enabled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67513" y="1850008"/>
            <a:ext cx="1866264" cy="226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Origin</a:t>
            </a:r>
            <a:r>
              <a:rPr dirty="0" sz="550" spc="-4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Access</a:t>
            </a:r>
            <a:r>
              <a:rPr dirty="0" sz="550" spc="-2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Control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(OAC)</a:t>
            </a:r>
            <a:endParaRPr sz="55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375"/>
              </a:spcBef>
            </a:pP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S3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bucket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remains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private;</a:t>
            </a:r>
            <a:r>
              <a:rPr dirty="0" sz="450" spc="1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only CloudFront</a:t>
            </a:r>
            <a:r>
              <a:rPr dirty="0" sz="450" spc="-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can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serve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assets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318511" y="1826394"/>
            <a:ext cx="1878964" cy="2984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285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IAM</a:t>
            </a:r>
            <a:r>
              <a:rPr dirty="0" sz="550" spc="1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Roles</a:t>
            </a:r>
            <a:r>
              <a:rPr dirty="0" sz="550" spc="-7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(Least</a:t>
            </a:r>
            <a:r>
              <a:rPr dirty="0" sz="550" spc="-4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Privilege)</a:t>
            </a:r>
            <a:endParaRPr sz="550">
              <a:latin typeface="Arial"/>
              <a:cs typeface="Arial"/>
            </a:endParaRPr>
          </a:p>
          <a:p>
            <a:pPr marL="83185" marR="408305" indent="-3175">
              <a:lnSpc>
                <a:spcPct val="111100"/>
              </a:lnSpc>
              <a:spcBef>
                <a:spcPts val="100"/>
              </a:spcBef>
            </a:pP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EC2</a:t>
            </a:r>
            <a:r>
              <a:rPr dirty="0" sz="450" spc="-3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role</a:t>
            </a:r>
            <a:r>
              <a:rPr dirty="0" sz="450" spc="-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grants</a:t>
            </a:r>
            <a:r>
              <a:rPr dirty="0" sz="450" spc="2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only necessary</a:t>
            </a:r>
            <a:r>
              <a:rPr dirty="0" sz="450" spc="-2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access</a:t>
            </a:r>
            <a:r>
              <a:rPr dirty="0" sz="450" spc="-3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to</a:t>
            </a:r>
            <a:r>
              <a:rPr dirty="0" sz="450" spc="-35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627489"/>
                </a:solidFill>
                <a:latin typeface="Arial MT"/>
                <a:cs typeface="Arial MT"/>
              </a:rPr>
              <a:t>Bedrock,</a:t>
            </a:r>
            <a:r>
              <a:rPr dirty="0" sz="450" spc="-5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627489"/>
                </a:solidFill>
                <a:latin typeface="Arial MT"/>
                <a:cs typeface="Arial MT"/>
              </a:rPr>
              <a:t>S3,</a:t>
            </a:r>
            <a:r>
              <a:rPr dirty="0" sz="450" spc="500">
                <a:solidFill>
                  <a:srgbClr val="627489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627489"/>
                </a:solidFill>
                <a:latin typeface="Arial MT"/>
                <a:cs typeface="Arial MT"/>
              </a:rPr>
              <a:t>OpenSearch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59" y="2459989"/>
            <a:ext cx="4370705" cy="2540"/>
          </a:xfrm>
          <a:custGeom>
            <a:avLst/>
            <a:gdLst/>
            <a:ahLst/>
            <a:cxnLst/>
            <a:rect l="l" t="t" r="r" b="b"/>
            <a:pathLst>
              <a:path w="4370705" h="2539">
                <a:moveTo>
                  <a:pt x="0" y="2540"/>
                </a:moveTo>
                <a:lnTo>
                  <a:pt x="4370578" y="2540"/>
                </a:lnTo>
                <a:lnTo>
                  <a:pt x="4370578" y="0"/>
                </a:lnTo>
                <a:lnTo>
                  <a:pt x="0" y="0"/>
                </a:lnTo>
                <a:lnTo>
                  <a:pt x="0" y="254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-508"/>
            <a:ext cx="4373245" cy="2462530"/>
            <a:chOff x="0" y="-508"/>
            <a:chExt cx="4373245" cy="2462530"/>
          </a:xfrm>
        </p:grpSpPr>
        <p:sp>
          <p:nvSpPr>
            <p:cNvPr id="4" name="object 4" descr=""/>
            <p:cNvSpPr/>
            <p:nvPr/>
          </p:nvSpPr>
          <p:spPr>
            <a:xfrm>
              <a:off x="2159" y="3047"/>
              <a:ext cx="4370705" cy="2320925"/>
            </a:xfrm>
            <a:custGeom>
              <a:avLst/>
              <a:gdLst/>
              <a:ahLst/>
              <a:cxnLst/>
              <a:rect l="l" t="t" r="r" b="b"/>
              <a:pathLst>
                <a:path w="4370705" h="2320925">
                  <a:moveTo>
                    <a:pt x="0" y="2320416"/>
                  </a:moveTo>
                  <a:lnTo>
                    <a:pt x="4370578" y="2320416"/>
                  </a:lnTo>
                  <a:lnTo>
                    <a:pt x="4370578" y="0"/>
                  </a:lnTo>
                  <a:lnTo>
                    <a:pt x="0" y="0"/>
                  </a:lnTo>
                  <a:lnTo>
                    <a:pt x="0" y="2320416"/>
                  </a:lnTo>
                  <a:close/>
                </a:path>
              </a:pathLst>
            </a:custGeom>
            <a:solidFill>
              <a:srgbClr val="F7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59" y="-508"/>
              <a:ext cx="63500" cy="420370"/>
            </a:xfrm>
            <a:custGeom>
              <a:avLst/>
              <a:gdLst/>
              <a:ahLst/>
              <a:cxnLst/>
              <a:rect l="l" t="t" r="r" b="b"/>
              <a:pathLst>
                <a:path w="63500" h="420370">
                  <a:moveTo>
                    <a:pt x="63068" y="417830"/>
                  </a:moveTo>
                  <a:lnTo>
                    <a:pt x="59118" y="417830"/>
                  </a:lnTo>
                  <a:lnTo>
                    <a:pt x="59118" y="1270"/>
                  </a:lnTo>
                  <a:lnTo>
                    <a:pt x="59664" y="1270"/>
                  </a:lnTo>
                  <a:lnTo>
                    <a:pt x="596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17830"/>
                  </a:lnTo>
                  <a:lnTo>
                    <a:pt x="190" y="417830"/>
                  </a:lnTo>
                  <a:lnTo>
                    <a:pt x="190" y="420370"/>
                  </a:lnTo>
                  <a:lnTo>
                    <a:pt x="63068" y="420370"/>
                  </a:lnTo>
                  <a:lnTo>
                    <a:pt x="63068" y="41783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23" y="423671"/>
              <a:ext cx="1402080" cy="9204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5791" y="457199"/>
              <a:ext cx="39370" cy="838200"/>
            </a:xfrm>
            <a:custGeom>
              <a:avLst/>
              <a:gdLst/>
              <a:ahLst/>
              <a:cxnLst/>
              <a:rect l="l" t="t" r="r" b="b"/>
              <a:pathLst>
                <a:path w="39369" h="838200">
                  <a:moveTo>
                    <a:pt x="35902" y="0"/>
                  </a:moveTo>
                  <a:lnTo>
                    <a:pt x="3213" y="0"/>
                  </a:lnTo>
                  <a:lnTo>
                    <a:pt x="0" y="3810"/>
                  </a:lnTo>
                  <a:lnTo>
                    <a:pt x="0" y="833881"/>
                  </a:lnTo>
                  <a:lnTo>
                    <a:pt x="3898" y="837692"/>
                  </a:lnTo>
                  <a:lnTo>
                    <a:pt x="35204" y="837692"/>
                  </a:lnTo>
                  <a:lnTo>
                    <a:pt x="39103" y="833881"/>
                  </a:lnTo>
                  <a:lnTo>
                    <a:pt x="39103" y="3810"/>
                  </a:lnTo>
                  <a:lnTo>
                    <a:pt x="35902" y="0"/>
                  </a:lnTo>
                  <a:close/>
                </a:path>
              </a:pathLst>
            </a:custGeom>
            <a:solidFill>
              <a:srgbClr val="7A39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039" y="545591"/>
              <a:ext cx="252984" cy="24993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6055" y="423671"/>
              <a:ext cx="1402080" cy="92049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504822" y="457199"/>
              <a:ext cx="40005" cy="838200"/>
            </a:xfrm>
            <a:custGeom>
              <a:avLst/>
              <a:gdLst/>
              <a:ahLst/>
              <a:cxnLst/>
              <a:rect l="l" t="t" r="r" b="b"/>
              <a:pathLst>
                <a:path w="40005" h="838200">
                  <a:moveTo>
                    <a:pt x="36321" y="0"/>
                  </a:moveTo>
                  <a:lnTo>
                    <a:pt x="3175" y="0"/>
                  </a:lnTo>
                  <a:lnTo>
                    <a:pt x="1904" y="507"/>
                  </a:lnTo>
                  <a:lnTo>
                    <a:pt x="1015" y="1143"/>
                  </a:lnTo>
                  <a:lnTo>
                    <a:pt x="381" y="1904"/>
                  </a:lnTo>
                  <a:lnTo>
                    <a:pt x="0" y="2794"/>
                  </a:lnTo>
                  <a:lnTo>
                    <a:pt x="0" y="834898"/>
                  </a:lnTo>
                  <a:lnTo>
                    <a:pt x="3809" y="837692"/>
                  </a:lnTo>
                  <a:lnTo>
                    <a:pt x="35687" y="837692"/>
                  </a:lnTo>
                  <a:lnTo>
                    <a:pt x="39496" y="834898"/>
                  </a:lnTo>
                  <a:lnTo>
                    <a:pt x="39496" y="2794"/>
                  </a:lnTo>
                  <a:lnTo>
                    <a:pt x="39115" y="1904"/>
                  </a:lnTo>
                  <a:lnTo>
                    <a:pt x="38481" y="1143"/>
                  </a:lnTo>
                  <a:lnTo>
                    <a:pt x="37591" y="507"/>
                  </a:lnTo>
                  <a:lnTo>
                    <a:pt x="36321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4071" y="545591"/>
              <a:ext cx="252983" cy="24993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5086" y="423671"/>
              <a:ext cx="1402079" cy="92049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903854" y="457199"/>
              <a:ext cx="39370" cy="838200"/>
            </a:xfrm>
            <a:custGeom>
              <a:avLst/>
              <a:gdLst/>
              <a:ahLst/>
              <a:cxnLst/>
              <a:rect l="l" t="t" r="r" b="b"/>
              <a:pathLst>
                <a:path w="39369" h="838200">
                  <a:moveTo>
                    <a:pt x="35941" y="0"/>
                  </a:moveTo>
                  <a:lnTo>
                    <a:pt x="3175" y="0"/>
                  </a:lnTo>
                  <a:lnTo>
                    <a:pt x="0" y="3810"/>
                  </a:lnTo>
                  <a:lnTo>
                    <a:pt x="0" y="833881"/>
                  </a:lnTo>
                  <a:lnTo>
                    <a:pt x="3937" y="837692"/>
                  </a:lnTo>
                  <a:lnTo>
                    <a:pt x="35179" y="837692"/>
                  </a:lnTo>
                  <a:lnTo>
                    <a:pt x="39116" y="833881"/>
                  </a:lnTo>
                  <a:lnTo>
                    <a:pt x="39116" y="3810"/>
                  </a:lnTo>
                  <a:lnTo>
                    <a:pt x="35941" y="0"/>
                  </a:lnTo>
                  <a:close/>
                </a:path>
              </a:pathLst>
            </a:custGeom>
            <a:solidFill>
              <a:srgbClr val="0369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3102" y="545591"/>
              <a:ext cx="252984" cy="24993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23" y="1319783"/>
              <a:ext cx="1402080" cy="92049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05791" y="1353311"/>
              <a:ext cx="39370" cy="838200"/>
            </a:xfrm>
            <a:custGeom>
              <a:avLst/>
              <a:gdLst/>
              <a:ahLst/>
              <a:cxnLst/>
              <a:rect l="l" t="t" r="r" b="b"/>
              <a:pathLst>
                <a:path w="39369" h="838200">
                  <a:moveTo>
                    <a:pt x="35902" y="0"/>
                  </a:moveTo>
                  <a:lnTo>
                    <a:pt x="3213" y="0"/>
                  </a:lnTo>
                  <a:lnTo>
                    <a:pt x="0" y="3810"/>
                  </a:lnTo>
                  <a:lnTo>
                    <a:pt x="0" y="833882"/>
                  </a:lnTo>
                  <a:lnTo>
                    <a:pt x="3898" y="837692"/>
                  </a:lnTo>
                  <a:lnTo>
                    <a:pt x="35204" y="837692"/>
                  </a:lnTo>
                  <a:lnTo>
                    <a:pt x="39103" y="833882"/>
                  </a:lnTo>
                  <a:lnTo>
                    <a:pt x="39103" y="3810"/>
                  </a:lnTo>
                  <a:lnTo>
                    <a:pt x="35902" y="0"/>
                  </a:lnTo>
                  <a:close/>
                </a:path>
              </a:pathLst>
            </a:custGeom>
            <a:solidFill>
              <a:srgbClr val="0D92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039" y="1441703"/>
              <a:ext cx="252984" cy="24993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6055" y="1319783"/>
              <a:ext cx="1402080" cy="9204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04822" y="1353311"/>
              <a:ext cx="40005" cy="838200"/>
            </a:xfrm>
            <a:custGeom>
              <a:avLst/>
              <a:gdLst/>
              <a:ahLst/>
              <a:cxnLst/>
              <a:rect l="l" t="t" r="r" b="b"/>
              <a:pathLst>
                <a:path w="40005" h="838200">
                  <a:moveTo>
                    <a:pt x="36321" y="0"/>
                  </a:moveTo>
                  <a:lnTo>
                    <a:pt x="3175" y="0"/>
                  </a:lnTo>
                  <a:lnTo>
                    <a:pt x="1904" y="508"/>
                  </a:lnTo>
                  <a:lnTo>
                    <a:pt x="1015" y="1143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834898"/>
                  </a:lnTo>
                  <a:lnTo>
                    <a:pt x="3809" y="837692"/>
                  </a:lnTo>
                  <a:lnTo>
                    <a:pt x="35687" y="837692"/>
                  </a:lnTo>
                  <a:lnTo>
                    <a:pt x="39496" y="834898"/>
                  </a:lnTo>
                  <a:lnTo>
                    <a:pt x="39496" y="2794"/>
                  </a:lnTo>
                  <a:lnTo>
                    <a:pt x="39115" y="1905"/>
                  </a:lnTo>
                  <a:lnTo>
                    <a:pt x="38481" y="1143"/>
                  </a:lnTo>
                  <a:lnTo>
                    <a:pt x="37591" y="508"/>
                  </a:lnTo>
                  <a:lnTo>
                    <a:pt x="36321" y="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4071" y="1441703"/>
              <a:ext cx="252983" cy="24993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5086" y="1319783"/>
              <a:ext cx="1402079" cy="92049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903854" y="1353311"/>
              <a:ext cx="39370" cy="838200"/>
            </a:xfrm>
            <a:custGeom>
              <a:avLst/>
              <a:gdLst/>
              <a:ahLst/>
              <a:cxnLst/>
              <a:rect l="l" t="t" r="r" b="b"/>
              <a:pathLst>
                <a:path w="39369" h="838200">
                  <a:moveTo>
                    <a:pt x="35941" y="0"/>
                  </a:moveTo>
                  <a:lnTo>
                    <a:pt x="3175" y="0"/>
                  </a:lnTo>
                  <a:lnTo>
                    <a:pt x="0" y="3810"/>
                  </a:lnTo>
                  <a:lnTo>
                    <a:pt x="0" y="833882"/>
                  </a:lnTo>
                  <a:lnTo>
                    <a:pt x="3937" y="837692"/>
                  </a:lnTo>
                  <a:lnTo>
                    <a:pt x="35179" y="837692"/>
                  </a:lnTo>
                  <a:lnTo>
                    <a:pt x="39116" y="833882"/>
                  </a:lnTo>
                  <a:lnTo>
                    <a:pt x="39116" y="3810"/>
                  </a:lnTo>
                  <a:lnTo>
                    <a:pt x="35941" y="0"/>
                  </a:lnTo>
                  <a:close/>
                </a:path>
              </a:pathLst>
            </a:custGeom>
            <a:solidFill>
              <a:srgbClr val="BC17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83102" y="1441703"/>
              <a:ext cx="252984" cy="24993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1277" y="2539"/>
              <a:ext cx="4310380" cy="416559"/>
            </a:xfrm>
            <a:custGeom>
              <a:avLst/>
              <a:gdLst/>
              <a:ahLst/>
              <a:cxnLst/>
              <a:rect l="l" t="t" r="r" b="b"/>
              <a:pathLst>
                <a:path w="4310380" h="416559">
                  <a:moveTo>
                    <a:pt x="4310380" y="0"/>
                  </a:moveTo>
                  <a:lnTo>
                    <a:pt x="0" y="0"/>
                  </a:lnTo>
                  <a:lnTo>
                    <a:pt x="0" y="416559"/>
                  </a:lnTo>
                  <a:lnTo>
                    <a:pt x="4310380" y="416559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87" y="2323464"/>
              <a:ext cx="4370070" cy="136525"/>
            </a:xfrm>
            <a:custGeom>
              <a:avLst/>
              <a:gdLst/>
              <a:ahLst/>
              <a:cxnLst/>
              <a:rect l="l" t="t" r="r" b="b"/>
              <a:pathLst>
                <a:path w="4370070" h="136525">
                  <a:moveTo>
                    <a:pt x="4370070" y="0"/>
                  </a:moveTo>
                  <a:lnTo>
                    <a:pt x="0" y="0"/>
                  </a:lnTo>
                  <a:lnTo>
                    <a:pt x="0" y="136525"/>
                  </a:lnTo>
                  <a:lnTo>
                    <a:pt x="4370070" y="136525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0" y="415924"/>
              <a:ext cx="4373245" cy="6350"/>
            </a:xfrm>
            <a:custGeom>
              <a:avLst/>
              <a:gdLst/>
              <a:ahLst/>
              <a:cxnLst/>
              <a:rect l="l" t="t" r="r" b="b"/>
              <a:pathLst>
                <a:path w="4373245" h="6350">
                  <a:moveTo>
                    <a:pt x="0" y="6350"/>
                  </a:moveTo>
                  <a:lnTo>
                    <a:pt x="4373245" y="6350"/>
                  </a:lnTo>
                  <a:lnTo>
                    <a:pt x="4373245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0" y="888"/>
              <a:ext cx="4373245" cy="2460625"/>
            </a:xfrm>
            <a:custGeom>
              <a:avLst/>
              <a:gdLst/>
              <a:ahLst/>
              <a:cxnLst/>
              <a:rect l="l" t="t" r="r" b="b"/>
              <a:pathLst>
                <a:path w="4373245" h="2460625">
                  <a:moveTo>
                    <a:pt x="1587" y="0"/>
                  </a:moveTo>
                  <a:lnTo>
                    <a:pt x="1587" y="2460624"/>
                  </a:lnTo>
                </a:path>
                <a:path w="4373245" h="2460625">
                  <a:moveTo>
                    <a:pt x="4371594" y="0"/>
                  </a:moveTo>
                  <a:lnTo>
                    <a:pt x="4371594" y="2460624"/>
                  </a:lnTo>
                </a:path>
                <a:path w="4373245" h="2460625">
                  <a:moveTo>
                    <a:pt x="0" y="1650"/>
                  </a:moveTo>
                  <a:lnTo>
                    <a:pt x="4373245" y="1650"/>
                  </a:lnTo>
                </a:path>
                <a:path w="4373245" h="2460625">
                  <a:moveTo>
                    <a:pt x="0" y="2459100"/>
                  </a:moveTo>
                  <a:lnTo>
                    <a:pt x="4373245" y="24591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/>
              <a:t>Security</a:t>
            </a:r>
            <a:r>
              <a:rPr dirty="0" sz="1000" spc="-40"/>
              <a:t> </a:t>
            </a:r>
            <a:r>
              <a:rPr dirty="0" sz="1000"/>
              <a:t>&amp;</a:t>
            </a:r>
            <a:r>
              <a:rPr dirty="0" sz="1000" spc="5"/>
              <a:t> </a:t>
            </a:r>
            <a:r>
              <a:rPr dirty="0" sz="1000" spc="-10"/>
              <a:t>Compliance</a:t>
            </a:r>
            <a:endParaRPr sz="1000"/>
          </a:p>
        </p:txBody>
      </p:sp>
      <p:sp>
        <p:nvSpPr>
          <p:cNvPr id="29" name="object 29" descr=""/>
          <p:cNvSpPr txBox="1"/>
          <p:nvPr/>
        </p:nvSpPr>
        <p:spPr>
          <a:xfrm>
            <a:off x="152527" y="260349"/>
            <a:ext cx="129921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0">
                <a:solidFill>
                  <a:srgbClr val="12A8BD"/>
                </a:solidFill>
                <a:latin typeface="Arial MT"/>
                <a:cs typeface="Arial MT"/>
              </a:rPr>
              <a:t>HIPAA-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Ready,</a:t>
            </a:r>
            <a:r>
              <a:rPr dirty="0" sz="500" spc="13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Zero-Trust</a:t>
            </a:r>
            <a:r>
              <a:rPr dirty="0" sz="500" spc="7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AWS</a:t>
            </a:r>
            <a:r>
              <a:rPr dirty="0" sz="500" spc="11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2A8BD"/>
                </a:solidFill>
                <a:latin typeface="Arial MT"/>
                <a:cs typeface="Arial MT"/>
              </a:rPr>
              <a:t>Architecture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25906" y="611250"/>
            <a:ext cx="5619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Data</a:t>
            </a:r>
            <a:r>
              <a:rPr dirty="0" sz="550" spc="3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Encryption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925827" y="611250"/>
            <a:ext cx="7493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IAM</a:t>
            </a:r>
            <a:r>
              <a:rPr dirty="0" sz="550" spc="4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&amp;</a:t>
            </a:r>
            <a:r>
              <a:rPr dirty="0" sz="550" spc="3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Least</a:t>
            </a:r>
            <a:r>
              <a:rPr dirty="0" sz="550" spc="-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Privilege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325495" y="611250"/>
            <a:ext cx="78168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VPC</a:t>
            </a:r>
            <a:r>
              <a:rPr dirty="0" sz="550" spc="8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Network</a:t>
            </a:r>
            <a:r>
              <a:rPr dirty="0" sz="550" spc="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Isolation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20802" y="933983"/>
            <a:ext cx="112141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AES-256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encryption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at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rest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via</a:t>
            </a:r>
            <a:r>
              <a:rPr dirty="0" sz="45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AWS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KMS.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TLS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1.3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transit.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S3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SSE +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CloudFront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HTTPS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enforced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at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all</a:t>
            </a:r>
            <a:r>
              <a:rPr dirty="0" sz="450" spc="7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layers.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020695" y="933983"/>
            <a:ext cx="10845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All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backend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services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private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subnets.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Security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Groups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NACLs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enforce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strict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ingress/egress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rules.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No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public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334153"/>
                </a:solidFill>
                <a:latin typeface="Arial MT"/>
                <a:cs typeface="Arial MT"/>
              </a:rPr>
              <a:t>IPs.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620774" y="903503"/>
            <a:ext cx="10674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Fine-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grained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IAM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roles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per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service.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EC2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Lambda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hold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only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required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permissions.</a:t>
            </a:r>
            <a:r>
              <a:rPr dirty="0" sz="450" spc="-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No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wildcard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policy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statements.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25906" y="1544192"/>
            <a:ext cx="66548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Audit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&amp;</a:t>
            </a:r>
            <a:r>
              <a:rPr dirty="0" sz="550" spc="5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Monitoring</a:t>
            </a:r>
            <a:endParaRPr sz="5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925827" y="1544192"/>
            <a:ext cx="65595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HIPAA</a:t>
            </a:r>
            <a:r>
              <a:rPr dirty="0" sz="550" spc="-20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Compliance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325495" y="1544192"/>
            <a:ext cx="54800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91528"/>
                </a:solidFill>
                <a:latin typeface="Arial"/>
                <a:cs typeface="Arial"/>
              </a:rPr>
              <a:t>Access</a:t>
            </a:r>
            <a:r>
              <a:rPr dirty="0" sz="550" spc="75" b="1">
                <a:solidFill>
                  <a:srgbClr val="091528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091528"/>
                </a:solidFill>
                <a:latin typeface="Arial"/>
                <a:cs typeface="Arial"/>
              </a:rPr>
              <a:t>Control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20802" y="1867052"/>
            <a:ext cx="1115695" cy="2330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CloudTrail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logs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all</a:t>
            </a:r>
            <a:r>
              <a:rPr dirty="0" sz="45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API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calls.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Config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tracks</a:t>
            </a:r>
            <a:endParaRPr sz="450">
              <a:latin typeface="Arial MT"/>
              <a:cs typeface="Arial MT"/>
            </a:endParaRPr>
          </a:p>
          <a:p>
            <a:pPr marL="12700" marR="74930">
              <a:lnSpc>
                <a:spcPts val="430"/>
              </a:lnSpc>
              <a:spcBef>
                <a:spcPts val="170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resource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changes.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GuardDuty</a:t>
            </a:r>
            <a:r>
              <a:rPr dirty="0" sz="450" spc="8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provides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continuous</a:t>
            </a:r>
            <a:r>
              <a:rPr dirty="0" sz="450" spc="2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threat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detection.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020695" y="1867052"/>
            <a:ext cx="1122680" cy="2330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Cognito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authentication</a:t>
            </a:r>
            <a:r>
              <a:rPr dirty="0" sz="450" spc="6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MFA</a:t>
            </a:r>
            <a:endParaRPr sz="450">
              <a:latin typeface="Arial MT"/>
              <a:cs typeface="Arial MT"/>
            </a:endParaRPr>
          </a:p>
          <a:p>
            <a:pPr marL="12700" marR="5080">
              <a:lnSpc>
                <a:spcPts val="430"/>
              </a:lnSpc>
              <a:spcBef>
                <a:spcPts val="170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enforcement.</a:t>
            </a:r>
            <a:r>
              <a:rPr dirty="0" sz="450" spc="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RBAC</a:t>
            </a:r>
            <a:r>
              <a:rPr dirty="0" sz="45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separates</a:t>
            </a:r>
            <a:r>
              <a:rPr dirty="0" sz="450" spc="5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clinician,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admin,</a:t>
            </a:r>
            <a:r>
              <a:rPr dirty="0" sz="450" spc="1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analyst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roles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3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data</a:t>
            </a:r>
            <a:r>
              <a:rPr dirty="0" sz="450" spc="3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access.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620774" y="1836572"/>
            <a:ext cx="1079500" cy="3149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Platform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uses</a:t>
            </a:r>
            <a:r>
              <a:rPr dirty="0" sz="450" spc="8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AWS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HIPAA-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eligible</a:t>
            </a:r>
            <a:endParaRPr sz="450">
              <a:latin typeface="Arial MT"/>
              <a:cs typeface="Arial MT"/>
            </a:endParaRPr>
          </a:p>
          <a:p>
            <a:pPr marL="12700" marR="5080">
              <a:lnSpc>
                <a:spcPts val="430"/>
              </a:lnSpc>
              <a:spcBef>
                <a:spcPts val="170"/>
              </a:spcBef>
            </a:pP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services.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BAA</a:t>
            </a:r>
            <a:r>
              <a:rPr dirty="0" sz="450" spc="4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signed</a:t>
            </a:r>
            <a:r>
              <a:rPr dirty="0" sz="450" spc="2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with</a:t>
            </a:r>
            <a:r>
              <a:rPr dirty="0" sz="450" spc="7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AWS.</a:t>
            </a:r>
            <a:r>
              <a:rPr dirty="0" sz="450" spc="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334153"/>
                </a:solidFill>
                <a:latin typeface="Arial MT"/>
                <a:cs typeface="Arial MT"/>
              </a:rPr>
              <a:t>PHI</a:t>
            </a:r>
            <a:r>
              <a:rPr dirty="0" sz="450" spc="50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handled</a:t>
            </a:r>
            <a:r>
              <a:rPr dirty="0" sz="450" spc="45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per HIPAA Privacy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34153"/>
                </a:solidFill>
                <a:latin typeface="Arial MT"/>
                <a:cs typeface="Arial MT"/>
              </a:rPr>
              <a:t>and</a:t>
            </a:r>
            <a:r>
              <a:rPr dirty="0" sz="450" spc="50">
                <a:solidFill>
                  <a:srgbClr val="334153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Security</a:t>
            </a: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-10">
                <a:solidFill>
                  <a:srgbClr val="334153"/>
                </a:solidFill>
                <a:latin typeface="Arial MT"/>
                <a:cs typeface="Arial MT"/>
              </a:rPr>
              <a:t>Rules.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578736" y="2348864"/>
            <a:ext cx="12192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dirty="0" sz="3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dirty="0" sz="3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3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3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350" spc="-1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26"/>
            <a:ext cx="4373245" cy="2462530"/>
            <a:chOff x="0" y="126"/>
            <a:chExt cx="4373245" cy="2462530"/>
          </a:xfrm>
        </p:grpSpPr>
        <p:sp>
          <p:nvSpPr>
            <p:cNvPr id="3" name="object 3" descr=""/>
            <p:cNvSpPr/>
            <p:nvPr/>
          </p:nvSpPr>
          <p:spPr>
            <a:xfrm>
              <a:off x="2159" y="634"/>
              <a:ext cx="4370705" cy="2307590"/>
            </a:xfrm>
            <a:custGeom>
              <a:avLst/>
              <a:gdLst/>
              <a:ahLst/>
              <a:cxnLst/>
              <a:rect l="l" t="t" r="r" b="b"/>
              <a:pathLst>
                <a:path w="4370705" h="2307590">
                  <a:moveTo>
                    <a:pt x="4370578" y="0"/>
                  </a:moveTo>
                  <a:lnTo>
                    <a:pt x="0" y="0"/>
                  </a:lnTo>
                  <a:lnTo>
                    <a:pt x="0" y="2307209"/>
                  </a:lnTo>
                  <a:lnTo>
                    <a:pt x="4370578" y="2307209"/>
                  </a:lnTo>
                  <a:lnTo>
                    <a:pt x="4370578" y="0"/>
                  </a:lnTo>
                  <a:close/>
                </a:path>
              </a:pathLst>
            </a:custGeom>
            <a:solidFill>
              <a:srgbClr val="0915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59" y="126"/>
              <a:ext cx="64135" cy="441959"/>
            </a:xfrm>
            <a:custGeom>
              <a:avLst/>
              <a:gdLst/>
              <a:ahLst/>
              <a:cxnLst/>
              <a:rect l="l" t="t" r="r" b="b"/>
              <a:pathLst>
                <a:path w="64135" h="441959">
                  <a:moveTo>
                    <a:pt x="63690" y="438150"/>
                  </a:moveTo>
                  <a:lnTo>
                    <a:pt x="59118" y="438150"/>
                  </a:lnTo>
                  <a:lnTo>
                    <a:pt x="59118" y="1270"/>
                  </a:lnTo>
                  <a:lnTo>
                    <a:pt x="59664" y="1270"/>
                  </a:lnTo>
                  <a:lnTo>
                    <a:pt x="5966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38150"/>
                  </a:lnTo>
                  <a:lnTo>
                    <a:pt x="190" y="438150"/>
                  </a:lnTo>
                  <a:lnTo>
                    <a:pt x="190" y="439420"/>
                  </a:lnTo>
                  <a:lnTo>
                    <a:pt x="190" y="441960"/>
                  </a:lnTo>
                  <a:lnTo>
                    <a:pt x="63068" y="441960"/>
                  </a:lnTo>
                  <a:lnTo>
                    <a:pt x="63068" y="439420"/>
                  </a:lnTo>
                  <a:lnTo>
                    <a:pt x="63690" y="439420"/>
                  </a:lnTo>
                  <a:lnTo>
                    <a:pt x="63690" y="438150"/>
                  </a:lnTo>
                  <a:close/>
                </a:path>
              </a:pathLst>
            </a:custGeom>
            <a:solidFill>
              <a:srgbClr val="F4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4559" y="482218"/>
              <a:ext cx="954405" cy="481965"/>
            </a:xfrm>
            <a:custGeom>
              <a:avLst/>
              <a:gdLst/>
              <a:ahLst/>
              <a:cxnLst/>
              <a:rect l="l" t="t" r="r" b="b"/>
              <a:pathLst>
                <a:path w="954405" h="481965">
                  <a:moveTo>
                    <a:pt x="954024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954024" y="481583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112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1511" y="479170"/>
              <a:ext cx="960119" cy="490855"/>
            </a:xfrm>
            <a:custGeom>
              <a:avLst/>
              <a:gdLst/>
              <a:ahLst/>
              <a:cxnLst/>
              <a:rect l="l" t="t" r="r" b="b"/>
              <a:pathLst>
                <a:path w="960119" h="490855">
                  <a:moveTo>
                    <a:pt x="959866" y="2794"/>
                  </a:moveTo>
                  <a:lnTo>
                    <a:pt x="959485" y="1905"/>
                  </a:lnTo>
                  <a:lnTo>
                    <a:pt x="958088" y="520"/>
                  </a:lnTo>
                  <a:lnTo>
                    <a:pt x="956818" y="0"/>
                  </a:lnTo>
                  <a:lnTo>
                    <a:pt x="952373" y="0"/>
                  </a:lnTo>
                  <a:lnTo>
                    <a:pt x="952373" y="3822"/>
                  </a:lnTo>
                  <a:lnTo>
                    <a:pt x="952373" y="486537"/>
                  </a:lnTo>
                  <a:lnTo>
                    <a:pt x="952334" y="482714"/>
                  </a:lnTo>
                  <a:lnTo>
                    <a:pt x="7493" y="482714"/>
                  </a:lnTo>
                  <a:lnTo>
                    <a:pt x="7493" y="7632"/>
                  </a:lnTo>
                  <a:lnTo>
                    <a:pt x="952334" y="7632"/>
                  </a:lnTo>
                  <a:lnTo>
                    <a:pt x="952334" y="3822"/>
                  </a:lnTo>
                  <a:lnTo>
                    <a:pt x="952373" y="0"/>
                  </a:lnTo>
                  <a:lnTo>
                    <a:pt x="2997" y="0"/>
                  </a:lnTo>
                  <a:lnTo>
                    <a:pt x="1778" y="520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487426"/>
                  </a:lnTo>
                  <a:lnTo>
                    <a:pt x="381" y="488442"/>
                  </a:lnTo>
                  <a:lnTo>
                    <a:pt x="1778" y="489839"/>
                  </a:lnTo>
                  <a:lnTo>
                    <a:pt x="2692" y="490220"/>
                  </a:lnTo>
                  <a:lnTo>
                    <a:pt x="956183" y="490347"/>
                  </a:lnTo>
                  <a:lnTo>
                    <a:pt x="958088" y="489839"/>
                  </a:lnTo>
                  <a:lnTo>
                    <a:pt x="959485" y="488442"/>
                  </a:lnTo>
                  <a:lnTo>
                    <a:pt x="959866" y="487426"/>
                  </a:lnTo>
                  <a:lnTo>
                    <a:pt x="959866" y="486537"/>
                  </a:lnTo>
                  <a:lnTo>
                    <a:pt x="959866" y="482727"/>
                  </a:lnTo>
                  <a:lnTo>
                    <a:pt x="959866" y="7632"/>
                  </a:lnTo>
                  <a:lnTo>
                    <a:pt x="959866" y="3822"/>
                  </a:lnTo>
                  <a:lnTo>
                    <a:pt x="959866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93927" y="482218"/>
              <a:ext cx="953769" cy="481965"/>
            </a:xfrm>
            <a:custGeom>
              <a:avLst/>
              <a:gdLst/>
              <a:ahLst/>
              <a:cxnLst/>
              <a:rect l="l" t="t" r="r" b="b"/>
              <a:pathLst>
                <a:path w="953769" h="481965">
                  <a:moveTo>
                    <a:pt x="953643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953643" y="481583"/>
                  </a:lnTo>
                  <a:lnTo>
                    <a:pt x="953643" y="0"/>
                  </a:lnTo>
                  <a:close/>
                </a:path>
              </a:pathLst>
            </a:custGeom>
            <a:solidFill>
              <a:srgbClr val="112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90879" y="479170"/>
              <a:ext cx="960119" cy="490855"/>
            </a:xfrm>
            <a:custGeom>
              <a:avLst/>
              <a:gdLst/>
              <a:ahLst/>
              <a:cxnLst/>
              <a:rect l="l" t="t" r="r" b="b"/>
              <a:pathLst>
                <a:path w="960119" h="490855">
                  <a:moveTo>
                    <a:pt x="959866" y="2794"/>
                  </a:moveTo>
                  <a:lnTo>
                    <a:pt x="959485" y="1905"/>
                  </a:lnTo>
                  <a:lnTo>
                    <a:pt x="958088" y="520"/>
                  </a:lnTo>
                  <a:lnTo>
                    <a:pt x="956818" y="0"/>
                  </a:lnTo>
                  <a:lnTo>
                    <a:pt x="952373" y="0"/>
                  </a:lnTo>
                  <a:lnTo>
                    <a:pt x="952373" y="3822"/>
                  </a:lnTo>
                  <a:lnTo>
                    <a:pt x="952373" y="486537"/>
                  </a:lnTo>
                  <a:lnTo>
                    <a:pt x="952334" y="482714"/>
                  </a:lnTo>
                  <a:lnTo>
                    <a:pt x="7493" y="482714"/>
                  </a:lnTo>
                  <a:lnTo>
                    <a:pt x="7493" y="7632"/>
                  </a:lnTo>
                  <a:lnTo>
                    <a:pt x="952334" y="7632"/>
                  </a:lnTo>
                  <a:lnTo>
                    <a:pt x="952334" y="3822"/>
                  </a:lnTo>
                  <a:lnTo>
                    <a:pt x="952373" y="0"/>
                  </a:lnTo>
                  <a:lnTo>
                    <a:pt x="3048" y="0"/>
                  </a:lnTo>
                  <a:lnTo>
                    <a:pt x="1778" y="520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487426"/>
                  </a:lnTo>
                  <a:lnTo>
                    <a:pt x="381" y="488442"/>
                  </a:lnTo>
                  <a:lnTo>
                    <a:pt x="1778" y="489839"/>
                  </a:lnTo>
                  <a:lnTo>
                    <a:pt x="2667" y="490220"/>
                  </a:lnTo>
                  <a:lnTo>
                    <a:pt x="956183" y="490347"/>
                  </a:lnTo>
                  <a:lnTo>
                    <a:pt x="958088" y="489839"/>
                  </a:lnTo>
                  <a:lnTo>
                    <a:pt x="959485" y="488442"/>
                  </a:lnTo>
                  <a:lnTo>
                    <a:pt x="959866" y="487426"/>
                  </a:lnTo>
                  <a:lnTo>
                    <a:pt x="959866" y="486537"/>
                  </a:lnTo>
                  <a:lnTo>
                    <a:pt x="959866" y="482727"/>
                  </a:lnTo>
                  <a:lnTo>
                    <a:pt x="959866" y="7632"/>
                  </a:lnTo>
                  <a:lnTo>
                    <a:pt x="959866" y="3822"/>
                  </a:lnTo>
                  <a:lnTo>
                    <a:pt x="959866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33295" y="482218"/>
              <a:ext cx="954405" cy="481965"/>
            </a:xfrm>
            <a:custGeom>
              <a:avLst/>
              <a:gdLst/>
              <a:ahLst/>
              <a:cxnLst/>
              <a:rect l="l" t="t" r="r" b="b"/>
              <a:pathLst>
                <a:path w="954405" h="481965">
                  <a:moveTo>
                    <a:pt x="954023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954023" y="481583"/>
                  </a:lnTo>
                  <a:lnTo>
                    <a:pt x="954023" y="0"/>
                  </a:lnTo>
                  <a:close/>
                </a:path>
              </a:pathLst>
            </a:custGeom>
            <a:solidFill>
              <a:srgbClr val="112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30247" y="479170"/>
              <a:ext cx="960119" cy="490855"/>
            </a:xfrm>
            <a:custGeom>
              <a:avLst/>
              <a:gdLst/>
              <a:ahLst/>
              <a:cxnLst/>
              <a:rect l="l" t="t" r="r" b="b"/>
              <a:pathLst>
                <a:path w="960119" h="490855">
                  <a:moveTo>
                    <a:pt x="959993" y="2794"/>
                  </a:moveTo>
                  <a:lnTo>
                    <a:pt x="959612" y="1905"/>
                  </a:lnTo>
                  <a:lnTo>
                    <a:pt x="958215" y="520"/>
                  </a:lnTo>
                  <a:lnTo>
                    <a:pt x="956945" y="0"/>
                  </a:lnTo>
                  <a:lnTo>
                    <a:pt x="952500" y="0"/>
                  </a:lnTo>
                  <a:lnTo>
                    <a:pt x="952500" y="3822"/>
                  </a:lnTo>
                  <a:lnTo>
                    <a:pt x="952500" y="486537"/>
                  </a:lnTo>
                  <a:lnTo>
                    <a:pt x="952461" y="482714"/>
                  </a:lnTo>
                  <a:lnTo>
                    <a:pt x="7620" y="482714"/>
                  </a:lnTo>
                  <a:lnTo>
                    <a:pt x="7620" y="7632"/>
                  </a:lnTo>
                  <a:lnTo>
                    <a:pt x="952461" y="7632"/>
                  </a:lnTo>
                  <a:lnTo>
                    <a:pt x="952461" y="3822"/>
                  </a:lnTo>
                  <a:lnTo>
                    <a:pt x="952500" y="0"/>
                  </a:lnTo>
                  <a:lnTo>
                    <a:pt x="3175" y="0"/>
                  </a:lnTo>
                  <a:lnTo>
                    <a:pt x="0" y="3822"/>
                  </a:lnTo>
                  <a:lnTo>
                    <a:pt x="0" y="486537"/>
                  </a:lnTo>
                  <a:lnTo>
                    <a:pt x="2794" y="490220"/>
                  </a:lnTo>
                  <a:lnTo>
                    <a:pt x="956310" y="490347"/>
                  </a:lnTo>
                  <a:lnTo>
                    <a:pt x="958215" y="489839"/>
                  </a:lnTo>
                  <a:lnTo>
                    <a:pt x="959612" y="488442"/>
                  </a:lnTo>
                  <a:lnTo>
                    <a:pt x="959993" y="487426"/>
                  </a:lnTo>
                  <a:lnTo>
                    <a:pt x="959993" y="486537"/>
                  </a:lnTo>
                  <a:lnTo>
                    <a:pt x="959993" y="482727"/>
                  </a:lnTo>
                  <a:lnTo>
                    <a:pt x="959993" y="7632"/>
                  </a:lnTo>
                  <a:lnTo>
                    <a:pt x="959993" y="3822"/>
                  </a:lnTo>
                  <a:lnTo>
                    <a:pt x="959993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75710" y="482218"/>
              <a:ext cx="954405" cy="481965"/>
            </a:xfrm>
            <a:custGeom>
              <a:avLst/>
              <a:gdLst/>
              <a:ahLst/>
              <a:cxnLst/>
              <a:rect l="l" t="t" r="r" b="b"/>
              <a:pathLst>
                <a:path w="954405" h="481965">
                  <a:moveTo>
                    <a:pt x="954024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954024" y="481583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112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72663" y="479170"/>
              <a:ext cx="960119" cy="490855"/>
            </a:xfrm>
            <a:custGeom>
              <a:avLst/>
              <a:gdLst/>
              <a:ahLst/>
              <a:cxnLst/>
              <a:rect l="l" t="t" r="r" b="b"/>
              <a:pathLst>
                <a:path w="960119" h="490855">
                  <a:moveTo>
                    <a:pt x="959866" y="2794"/>
                  </a:moveTo>
                  <a:lnTo>
                    <a:pt x="959485" y="1905"/>
                  </a:lnTo>
                  <a:lnTo>
                    <a:pt x="958088" y="520"/>
                  </a:lnTo>
                  <a:lnTo>
                    <a:pt x="956818" y="0"/>
                  </a:lnTo>
                  <a:lnTo>
                    <a:pt x="952373" y="0"/>
                  </a:lnTo>
                  <a:lnTo>
                    <a:pt x="952373" y="3822"/>
                  </a:lnTo>
                  <a:lnTo>
                    <a:pt x="952373" y="486537"/>
                  </a:lnTo>
                  <a:lnTo>
                    <a:pt x="952334" y="482714"/>
                  </a:lnTo>
                  <a:lnTo>
                    <a:pt x="7493" y="482714"/>
                  </a:lnTo>
                  <a:lnTo>
                    <a:pt x="7493" y="7632"/>
                  </a:lnTo>
                  <a:lnTo>
                    <a:pt x="952334" y="7632"/>
                  </a:lnTo>
                  <a:lnTo>
                    <a:pt x="952334" y="3822"/>
                  </a:lnTo>
                  <a:lnTo>
                    <a:pt x="952373" y="0"/>
                  </a:lnTo>
                  <a:lnTo>
                    <a:pt x="3048" y="0"/>
                  </a:lnTo>
                  <a:lnTo>
                    <a:pt x="1778" y="520"/>
                  </a:lnTo>
                  <a:lnTo>
                    <a:pt x="381" y="1905"/>
                  </a:lnTo>
                  <a:lnTo>
                    <a:pt x="0" y="2794"/>
                  </a:lnTo>
                  <a:lnTo>
                    <a:pt x="0" y="487426"/>
                  </a:lnTo>
                  <a:lnTo>
                    <a:pt x="381" y="488442"/>
                  </a:lnTo>
                  <a:lnTo>
                    <a:pt x="1778" y="489839"/>
                  </a:lnTo>
                  <a:lnTo>
                    <a:pt x="2667" y="490220"/>
                  </a:lnTo>
                  <a:lnTo>
                    <a:pt x="956183" y="490347"/>
                  </a:lnTo>
                  <a:lnTo>
                    <a:pt x="958088" y="489839"/>
                  </a:lnTo>
                  <a:lnTo>
                    <a:pt x="959485" y="488442"/>
                  </a:lnTo>
                  <a:lnTo>
                    <a:pt x="959866" y="487426"/>
                  </a:lnTo>
                  <a:lnTo>
                    <a:pt x="959866" y="486537"/>
                  </a:lnTo>
                  <a:lnTo>
                    <a:pt x="959866" y="482727"/>
                  </a:lnTo>
                  <a:lnTo>
                    <a:pt x="959866" y="7632"/>
                  </a:lnTo>
                  <a:lnTo>
                    <a:pt x="959866" y="3822"/>
                  </a:lnTo>
                  <a:lnTo>
                    <a:pt x="959866" y="2794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3223" y="1027810"/>
              <a:ext cx="2011680" cy="508634"/>
            </a:xfrm>
            <a:custGeom>
              <a:avLst/>
              <a:gdLst/>
              <a:ahLst/>
              <a:cxnLst/>
              <a:rect l="l" t="t" r="r" b="b"/>
              <a:pathLst>
                <a:path w="2011680" h="508634">
                  <a:moveTo>
                    <a:pt x="2011679" y="0"/>
                  </a:moveTo>
                  <a:lnTo>
                    <a:pt x="0" y="0"/>
                  </a:lnTo>
                  <a:lnTo>
                    <a:pt x="0" y="508507"/>
                  </a:lnTo>
                  <a:lnTo>
                    <a:pt x="2011679" y="50850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0A1F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7127" y="1024762"/>
              <a:ext cx="2021205" cy="514984"/>
            </a:xfrm>
            <a:custGeom>
              <a:avLst/>
              <a:gdLst/>
              <a:ahLst/>
              <a:cxnLst/>
              <a:rect l="l" t="t" r="r" b="b"/>
              <a:pathLst>
                <a:path w="2021205" h="514984">
                  <a:moveTo>
                    <a:pt x="2020824" y="2794"/>
                  </a:moveTo>
                  <a:lnTo>
                    <a:pt x="2017014" y="0"/>
                  </a:lnTo>
                  <a:lnTo>
                    <a:pt x="2013331" y="0"/>
                  </a:lnTo>
                  <a:lnTo>
                    <a:pt x="2013331" y="3810"/>
                  </a:lnTo>
                  <a:lnTo>
                    <a:pt x="2013331" y="511048"/>
                  </a:lnTo>
                  <a:lnTo>
                    <a:pt x="2013204" y="511048"/>
                  </a:lnTo>
                  <a:lnTo>
                    <a:pt x="2013204" y="507238"/>
                  </a:lnTo>
                  <a:lnTo>
                    <a:pt x="7632" y="507238"/>
                  </a:lnTo>
                  <a:lnTo>
                    <a:pt x="7632" y="7620"/>
                  </a:lnTo>
                  <a:lnTo>
                    <a:pt x="2013204" y="7620"/>
                  </a:lnTo>
                  <a:lnTo>
                    <a:pt x="2013204" y="3810"/>
                  </a:lnTo>
                  <a:lnTo>
                    <a:pt x="2013331" y="3810"/>
                  </a:lnTo>
                  <a:lnTo>
                    <a:pt x="2013331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0" y="511048"/>
                  </a:lnTo>
                  <a:lnTo>
                    <a:pt x="139" y="512064"/>
                  </a:lnTo>
                  <a:lnTo>
                    <a:pt x="1117" y="513842"/>
                  </a:lnTo>
                  <a:lnTo>
                    <a:pt x="2832" y="514731"/>
                  </a:lnTo>
                  <a:lnTo>
                    <a:pt x="2018030" y="514731"/>
                  </a:lnTo>
                  <a:lnTo>
                    <a:pt x="2019808" y="513842"/>
                  </a:lnTo>
                  <a:lnTo>
                    <a:pt x="2020824" y="512064"/>
                  </a:lnTo>
                  <a:lnTo>
                    <a:pt x="2020824" y="511048"/>
                  </a:lnTo>
                  <a:lnTo>
                    <a:pt x="2020824" y="507238"/>
                  </a:lnTo>
                  <a:lnTo>
                    <a:pt x="2020824" y="7620"/>
                  </a:lnTo>
                  <a:lnTo>
                    <a:pt x="2020824" y="3810"/>
                  </a:lnTo>
                  <a:lnTo>
                    <a:pt x="2020824" y="2794"/>
                  </a:lnTo>
                  <a:close/>
                </a:path>
              </a:pathLst>
            </a:custGeom>
            <a:solidFill>
              <a:srgbClr val="1A48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7127" y="1024762"/>
              <a:ext cx="40005" cy="514984"/>
            </a:xfrm>
            <a:custGeom>
              <a:avLst/>
              <a:gdLst/>
              <a:ahLst/>
              <a:cxnLst/>
              <a:rect l="l" t="t" r="r" b="b"/>
              <a:pathLst>
                <a:path w="40005" h="514984">
                  <a:moveTo>
                    <a:pt x="35788" y="0"/>
                  </a:moveTo>
                  <a:lnTo>
                    <a:pt x="3962" y="0"/>
                  </a:lnTo>
                  <a:lnTo>
                    <a:pt x="0" y="3809"/>
                  </a:lnTo>
                  <a:lnTo>
                    <a:pt x="0" y="511047"/>
                  </a:lnTo>
                  <a:lnTo>
                    <a:pt x="2946" y="514731"/>
                  </a:lnTo>
                  <a:lnTo>
                    <a:pt x="36817" y="514731"/>
                  </a:lnTo>
                  <a:lnTo>
                    <a:pt x="38595" y="513841"/>
                  </a:lnTo>
                  <a:lnTo>
                    <a:pt x="39623" y="512063"/>
                  </a:lnTo>
                  <a:lnTo>
                    <a:pt x="39623" y="2793"/>
                  </a:lnTo>
                  <a:lnTo>
                    <a:pt x="35788" y="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72919" y="1027810"/>
              <a:ext cx="2011680" cy="508634"/>
            </a:xfrm>
            <a:custGeom>
              <a:avLst/>
              <a:gdLst/>
              <a:ahLst/>
              <a:cxnLst/>
              <a:rect l="l" t="t" r="r" b="b"/>
              <a:pathLst>
                <a:path w="2011680" h="508634">
                  <a:moveTo>
                    <a:pt x="2011425" y="0"/>
                  </a:moveTo>
                  <a:lnTo>
                    <a:pt x="0" y="0"/>
                  </a:lnTo>
                  <a:lnTo>
                    <a:pt x="0" y="508507"/>
                  </a:lnTo>
                  <a:lnTo>
                    <a:pt x="2011425" y="508507"/>
                  </a:lnTo>
                  <a:lnTo>
                    <a:pt x="2011425" y="0"/>
                  </a:lnTo>
                  <a:close/>
                </a:path>
              </a:pathLst>
            </a:custGeom>
            <a:solidFill>
              <a:srgbClr val="0A1F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69871" y="1024762"/>
              <a:ext cx="2021205" cy="514984"/>
            </a:xfrm>
            <a:custGeom>
              <a:avLst/>
              <a:gdLst/>
              <a:ahLst/>
              <a:cxnLst/>
              <a:rect l="l" t="t" r="r" b="b"/>
              <a:pathLst>
                <a:path w="2021205" h="514984">
                  <a:moveTo>
                    <a:pt x="2020824" y="3810"/>
                  </a:moveTo>
                  <a:lnTo>
                    <a:pt x="2016887" y="0"/>
                  </a:lnTo>
                  <a:lnTo>
                    <a:pt x="2013077" y="0"/>
                  </a:lnTo>
                  <a:lnTo>
                    <a:pt x="2013077" y="3810"/>
                  </a:lnTo>
                  <a:lnTo>
                    <a:pt x="2013077" y="511048"/>
                  </a:lnTo>
                  <a:lnTo>
                    <a:pt x="2013064" y="507238"/>
                  </a:lnTo>
                  <a:lnTo>
                    <a:pt x="7493" y="507238"/>
                  </a:lnTo>
                  <a:lnTo>
                    <a:pt x="7493" y="7620"/>
                  </a:lnTo>
                  <a:lnTo>
                    <a:pt x="2013064" y="7620"/>
                  </a:lnTo>
                  <a:lnTo>
                    <a:pt x="2013064" y="3810"/>
                  </a:lnTo>
                  <a:lnTo>
                    <a:pt x="2013077" y="0"/>
                  </a:lnTo>
                  <a:lnTo>
                    <a:pt x="3683" y="0"/>
                  </a:lnTo>
                  <a:lnTo>
                    <a:pt x="0" y="2794"/>
                  </a:lnTo>
                  <a:lnTo>
                    <a:pt x="0" y="512064"/>
                  </a:lnTo>
                  <a:lnTo>
                    <a:pt x="1016" y="513842"/>
                  </a:lnTo>
                  <a:lnTo>
                    <a:pt x="2667" y="514731"/>
                  </a:lnTo>
                  <a:lnTo>
                    <a:pt x="2017903" y="514731"/>
                  </a:lnTo>
                  <a:lnTo>
                    <a:pt x="2019681" y="513842"/>
                  </a:lnTo>
                  <a:lnTo>
                    <a:pt x="2020697" y="512064"/>
                  </a:lnTo>
                  <a:lnTo>
                    <a:pt x="2020824" y="511048"/>
                  </a:lnTo>
                  <a:lnTo>
                    <a:pt x="2020824" y="507238"/>
                  </a:lnTo>
                  <a:lnTo>
                    <a:pt x="2020824" y="7620"/>
                  </a:lnTo>
                  <a:lnTo>
                    <a:pt x="2020824" y="3810"/>
                  </a:lnTo>
                  <a:close/>
                </a:path>
              </a:pathLst>
            </a:custGeom>
            <a:solidFill>
              <a:srgbClr val="1A48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269870" y="1024762"/>
              <a:ext cx="40005" cy="514984"/>
            </a:xfrm>
            <a:custGeom>
              <a:avLst/>
              <a:gdLst/>
              <a:ahLst/>
              <a:cxnLst/>
              <a:rect l="l" t="t" r="r" b="b"/>
              <a:pathLst>
                <a:path w="40005" h="514984">
                  <a:moveTo>
                    <a:pt x="35687" y="0"/>
                  </a:moveTo>
                  <a:lnTo>
                    <a:pt x="3810" y="0"/>
                  </a:lnTo>
                  <a:lnTo>
                    <a:pt x="0" y="2793"/>
                  </a:lnTo>
                  <a:lnTo>
                    <a:pt x="0" y="512063"/>
                  </a:lnTo>
                  <a:lnTo>
                    <a:pt x="1016" y="513841"/>
                  </a:lnTo>
                  <a:lnTo>
                    <a:pt x="2793" y="514731"/>
                  </a:lnTo>
                  <a:lnTo>
                    <a:pt x="36703" y="514731"/>
                  </a:lnTo>
                  <a:lnTo>
                    <a:pt x="38481" y="513841"/>
                  </a:lnTo>
                  <a:lnTo>
                    <a:pt x="39497" y="512063"/>
                  </a:lnTo>
                  <a:lnTo>
                    <a:pt x="39497" y="2793"/>
                  </a:lnTo>
                  <a:lnTo>
                    <a:pt x="35687" y="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3223" y="1588642"/>
              <a:ext cx="2011680" cy="509270"/>
            </a:xfrm>
            <a:custGeom>
              <a:avLst/>
              <a:gdLst/>
              <a:ahLst/>
              <a:cxnLst/>
              <a:rect l="l" t="t" r="r" b="b"/>
              <a:pathLst>
                <a:path w="2011680" h="509269">
                  <a:moveTo>
                    <a:pt x="2011679" y="0"/>
                  </a:moveTo>
                  <a:lnTo>
                    <a:pt x="0" y="0"/>
                  </a:lnTo>
                  <a:lnTo>
                    <a:pt x="0" y="508888"/>
                  </a:lnTo>
                  <a:lnTo>
                    <a:pt x="2011679" y="508888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0A1F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7127" y="1585594"/>
              <a:ext cx="2021205" cy="514984"/>
            </a:xfrm>
            <a:custGeom>
              <a:avLst/>
              <a:gdLst/>
              <a:ahLst/>
              <a:cxnLst/>
              <a:rect l="l" t="t" r="r" b="b"/>
              <a:pathLst>
                <a:path w="2021205" h="514985">
                  <a:moveTo>
                    <a:pt x="2020824" y="2794"/>
                  </a:moveTo>
                  <a:lnTo>
                    <a:pt x="2017014" y="0"/>
                  </a:lnTo>
                  <a:lnTo>
                    <a:pt x="2013331" y="0"/>
                  </a:lnTo>
                  <a:lnTo>
                    <a:pt x="2013331" y="3810"/>
                  </a:lnTo>
                  <a:lnTo>
                    <a:pt x="2013331" y="511048"/>
                  </a:lnTo>
                  <a:lnTo>
                    <a:pt x="2013204" y="511048"/>
                  </a:lnTo>
                  <a:lnTo>
                    <a:pt x="2013204" y="507238"/>
                  </a:lnTo>
                  <a:lnTo>
                    <a:pt x="7632" y="507238"/>
                  </a:lnTo>
                  <a:lnTo>
                    <a:pt x="7632" y="7620"/>
                  </a:lnTo>
                  <a:lnTo>
                    <a:pt x="2013204" y="7620"/>
                  </a:lnTo>
                  <a:lnTo>
                    <a:pt x="2013204" y="3810"/>
                  </a:lnTo>
                  <a:lnTo>
                    <a:pt x="2013331" y="3810"/>
                  </a:lnTo>
                  <a:lnTo>
                    <a:pt x="2013331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0" y="511048"/>
                  </a:lnTo>
                  <a:lnTo>
                    <a:pt x="139" y="512064"/>
                  </a:lnTo>
                  <a:lnTo>
                    <a:pt x="1117" y="513842"/>
                  </a:lnTo>
                  <a:lnTo>
                    <a:pt x="2832" y="514731"/>
                  </a:lnTo>
                  <a:lnTo>
                    <a:pt x="2018030" y="514731"/>
                  </a:lnTo>
                  <a:lnTo>
                    <a:pt x="2019808" y="513842"/>
                  </a:lnTo>
                  <a:lnTo>
                    <a:pt x="2020824" y="512064"/>
                  </a:lnTo>
                  <a:lnTo>
                    <a:pt x="2020824" y="511048"/>
                  </a:lnTo>
                  <a:lnTo>
                    <a:pt x="2020824" y="507238"/>
                  </a:lnTo>
                  <a:lnTo>
                    <a:pt x="2020824" y="7620"/>
                  </a:lnTo>
                  <a:lnTo>
                    <a:pt x="2020824" y="3810"/>
                  </a:lnTo>
                  <a:lnTo>
                    <a:pt x="2020824" y="2794"/>
                  </a:lnTo>
                  <a:close/>
                </a:path>
              </a:pathLst>
            </a:custGeom>
            <a:solidFill>
              <a:srgbClr val="1A48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7127" y="1585086"/>
              <a:ext cx="40005" cy="515620"/>
            </a:xfrm>
            <a:custGeom>
              <a:avLst/>
              <a:gdLst/>
              <a:ahLst/>
              <a:cxnLst/>
              <a:rect l="l" t="t" r="r" b="b"/>
              <a:pathLst>
                <a:path w="40005" h="515619">
                  <a:moveTo>
                    <a:pt x="39624" y="3810"/>
                  </a:moveTo>
                  <a:lnTo>
                    <a:pt x="37693" y="3810"/>
                  </a:lnTo>
                  <a:lnTo>
                    <a:pt x="37693" y="0"/>
                  </a:lnTo>
                  <a:lnTo>
                    <a:pt x="2501" y="0"/>
                  </a:lnTo>
                  <a:lnTo>
                    <a:pt x="2501" y="3810"/>
                  </a:lnTo>
                  <a:lnTo>
                    <a:pt x="0" y="3810"/>
                  </a:lnTo>
                  <a:lnTo>
                    <a:pt x="0" y="511810"/>
                  </a:lnTo>
                  <a:lnTo>
                    <a:pt x="711" y="511810"/>
                  </a:lnTo>
                  <a:lnTo>
                    <a:pt x="711" y="513080"/>
                  </a:lnTo>
                  <a:lnTo>
                    <a:pt x="1714" y="513080"/>
                  </a:lnTo>
                  <a:lnTo>
                    <a:pt x="1714" y="514350"/>
                  </a:lnTo>
                  <a:lnTo>
                    <a:pt x="2730" y="514350"/>
                  </a:lnTo>
                  <a:lnTo>
                    <a:pt x="2730" y="515620"/>
                  </a:lnTo>
                  <a:lnTo>
                    <a:pt x="37325" y="515620"/>
                  </a:lnTo>
                  <a:lnTo>
                    <a:pt x="37325" y="514350"/>
                  </a:lnTo>
                  <a:lnTo>
                    <a:pt x="38950" y="514350"/>
                  </a:lnTo>
                  <a:lnTo>
                    <a:pt x="38950" y="513080"/>
                  </a:lnTo>
                  <a:lnTo>
                    <a:pt x="39624" y="513080"/>
                  </a:lnTo>
                  <a:lnTo>
                    <a:pt x="39624" y="511810"/>
                  </a:lnTo>
                  <a:lnTo>
                    <a:pt x="39624" y="381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72919" y="1588642"/>
              <a:ext cx="2011680" cy="509270"/>
            </a:xfrm>
            <a:custGeom>
              <a:avLst/>
              <a:gdLst/>
              <a:ahLst/>
              <a:cxnLst/>
              <a:rect l="l" t="t" r="r" b="b"/>
              <a:pathLst>
                <a:path w="2011680" h="509269">
                  <a:moveTo>
                    <a:pt x="2011425" y="0"/>
                  </a:moveTo>
                  <a:lnTo>
                    <a:pt x="0" y="0"/>
                  </a:lnTo>
                  <a:lnTo>
                    <a:pt x="0" y="508888"/>
                  </a:lnTo>
                  <a:lnTo>
                    <a:pt x="2011425" y="508888"/>
                  </a:lnTo>
                  <a:lnTo>
                    <a:pt x="2011425" y="0"/>
                  </a:lnTo>
                  <a:close/>
                </a:path>
              </a:pathLst>
            </a:custGeom>
            <a:solidFill>
              <a:srgbClr val="0A1F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69871" y="1585594"/>
              <a:ext cx="2021205" cy="514984"/>
            </a:xfrm>
            <a:custGeom>
              <a:avLst/>
              <a:gdLst/>
              <a:ahLst/>
              <a:cxnLst/>
              <a:rect l="l" t="t" r="r" b="b"/>
              <a:pathLst>
                <a:path w="2021205" h="514985">
                  <a:moveTo>
                    <a:pt x="2020824" y="3810"/>
                  </a:moveTo>
                  <a:lnTo>
                    <a:pt x="2016887" y="0"/>
                  </a:lnTo>
                  <a:lnTo>
                    <a:pt x="2013077" y="0"/>
                  </a:lnTo>
                  <a:lnTo>
                    <a:pt x="2013077" y="3810"/>
                  </a:lnTo>
                  <a:lnTo>
                    <a:pt x="2013077" y="511048"/>
                  </a:lnTo>
                  <a:lnTo>
                    <a:pt x="2013064" y="507238"/>
                  </a:lnTo>
                  <a:lnTo>
                    <a:pt x="7493" y="507238"/>
                  </a:lnTo>
                  <a:lnTo>
                    <a:pt x="7493" y="7620"/>
                  </a:lnTo>
                  <a:lnTo>
                    <a:pt x="2013064" y="7620"/>
                  </a:lnTo>
                  <a:lnTo>
                    <a:pt x="2013064" y="3810"/>
                  </a:lnTo>
                  <a:lnTo>
                    <a:pt x="2013077" y="0"/>
                  </a:lnTo>
                  <a:lnTo>
                    <a:pt x="3683" y="0"/>
                  </a:lnTo>
                  <a:lnTo>
                    <a:pt x="0" y="2794"/>
                  </a:lnTo>
                  <a:lnTo>
                    <a:pt x="0" y="512064"/>
                  </a:lnTo>
                  <a:lnTo>
                    <a:pt x="1016" y="513842"/>
                  </a:lnTo>
                  <a:lnTo>
                    <a:pt x="2667" y="514731"/>
                  </a:lnTo>
                  <a:lnTo>
                    <a:pt x="2017903" y="514731"/>
                  </a:lnTo>
                  <a:lnTo>
                    <a:pt x="2019681" y="513842"/>
                  </a:lnTo>
                  <a:lnTo>
                    <a:pt x="2020697" y="512064"/>
                  </a:lnTo>
                  <a:lnTo>
                    <a:pt x="2020824" y="511048"/>
                  </a:lnTo>
                  <a:lnTo>
                    <a:pt x="2020824" y="507238"/>
                  </a:lnTo>
                  <a:lnTo>
                    <a:pt x="2020824" y="7620"/>
                  </a:lnTo>
                  <a:lnTo>
                    <a:pt x="2020824" y="3810"/>
                  </a:lnTo>
                  <a:close/>
                </a:path>
              </a:pathLst>
            </a:custGeom>
            <a:solidFill>
              <a:srgbClr val="1A48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69870" y="1585594"/>
              <a:ext cx="40005" cy="514984"/>
            </a:xfrm>
            <a:custGeom>
              <a:avLst/>
              <a:gdLst/>
              <a:ahLst/>
              <a:cxnLst/>
              <a:rect l="l" t="t" r="r" b="b"/>
              <a:pathLst>
                <a:path w="40005" h="514985">
                  <a:moveTo>
                    <a:pt x="35687" y="0"/>
                  </a:moveTo>
                  <a:lnTo>
                    <a:pt x="3810" y="0"/>
                  </a:lnTo>
                  <a:lnTo>
                    <a:pt x="0" y="2793"/>
                  </a:lnTo>
                  <a:lnTo>
                    <a:pt x="0" y="512063"/>
                  </a:lnTo>
                  <a:lnTo>
                    <a:pt x="1016" y="513841"/>
                  </a:lnTo>
                  <a:lnTo>
                    <a:pt x="2793" y="514731"/>
                  </a:lnTo>
                  <a:lnTo>
                    <a:pt x="36703" y="514731"/>
                  </a:lnTo>
                  <a:lnTo>
                    <a:pt x="38481" y="513841"/>
                  </a:lnTo>
                  <a:lnTo>
                    <a:pt x="39497" y="512063"/>
                  </a:lnTo>
                  <a:lnTo>
                    <a:pt x="39497" y="2793"/>
                  </a:lnTo>
                  <a:lnTo>
                    <a:pt x="35687" y="0"/>
                  </a:lnTo>
                  <a:close/>
                </a:path>
              </a:pathLst>
            </a:custGeom>
            <a:solidFill>
              <a:srgbClr val="12A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1277" y="3174"/>
              <a:ext cx="4310380" cy="436245"/>
            </a:xfrm>
            <a:custGeom>
              <a:avLst/>
              <a:gdLst/>
              <a:ahLst/>
              <a:cxnLst/>
              <a:rect l="l" t="t" r="r" b="b"/>
              <a:pathLst>
                <a:path w="4310380" h="436245">
                  <a:moveTo>
                    <a:pt x="4310380" y="0"/>
                  </a:moveTo>
                  <a:lnTo>
                    <a:pt x="0" y="0"/>
                  </a:lnTo>
                  <a:lnTo>
                    <a:pt x="0" y="436245"/>
                  </a:lnTo>
                  <a:lnTo>
                    <a:pt x="4310380" y="436245"/>
                  </a:lnTo>
                  <a:lnTo>
                    <a:pt x="4310380" y="0"/>
                  </a:lnTo>
                  <a:close/>
                </a:path>
              </a:pathLst>
            </a:custGeom>
            <a:solidFill>
              <a:srgbClr val="091E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87" y="2306319"/>
              <a:ext cx="4370070" cy="154305"/>
            </a:xfrm>
            <a:custGeom>
              <a:avLst/>
              <a:gdLst/>
              <a:ahLst/>
              <a:cxnLst/>
              <a:rect l="l" t="t" r="r" b="b"/>
              <a:pathLst>
                <a:path w="4370070" h="154305">
                  <a:moveTo>
                    <a:pt x="4370070" y="0"/>
                  </a:moveTo>
                  <a:lnTo>
                    <a:pt x="0" y="0"/>
                  </a:lnTo>
                  <a:lnTo>
                    <a:pt x="0" y="154304"/>
                  </a:lnTo>
                  <a:lnTo>
                    <a:pt x="4370070" y="154304"/>
                  </a:lnTo>
                  <a:lnTo>
                    <a:pt x="4370070" y="0"/>
                  </a:lnTo>
                  <a:close/>
                </a:path>
              </a:pathLst>
            </a:custGeom>
            <a:solidFill>
              <a:srgbClr val="0D7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0" y="1650"/>
              <a:ext cx="4373245" cy="2460625"/>
            </a:xfrm>
            <a:custGeom>
              <a:avLst/>
              <a:gdLst/>
              <a:ahLst/>
              <a:cxnLst/>
              <a:rect l="l" t="t" r="r" b="b"/>
              <a:pathLst>
                <a:path w="4373245" h="2460625">
                  <a:moveTo>
                    <a:pt x="1587" y="0"/>
                  </a:moveTo>
                  <a:lnTo>
                    <a:pt x="1587" y="2460498"/>
                  </a:lnTo>
                </a:path>
                <a:path w="4373245" h="2460625">
                  <a:moveTo>
                    <a:pt x="4371594" y="0"/>
                  </a:moveTo>
                  <a:lnTo>
                    <a:pt x="4371594" y="2460498"/>
                  </a:lnTo>
                </a:path>
                <a:path w="4373245" h="2460625">
                  <a:moveTo>
                    <a:pt x="0" y="1524"/>
                  </a:moveTo>
                  <a:lnTo>
                    <a:pt x="4373245" y="1524"/>
                  </a:lnTo>
                </a:path>
                <a:path w="4373245" h="2460625">
                  <a:moveTo>
                    <a:pt x="0" y="2458974"/>
                  </a:moveTo>
                  <a:lnTo>
                    <a:pt x="4373245" y="24589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-55"/>
              <a:t> </a:t>
            </a:r>
            <a:r>
              <a:rPr dirty="0"/>
              <a:t>Benefits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Conclusion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161671" y="289432"/>
            <a:ext cx="217868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Why</a:t>
            </a:r>
            <a:r>
              <a:rPr dirty="0" sz="500" spc="5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Smart</a:t>
            </a:r>
            <a:r>
              <a:rPr dirty="0" sz="500" spc="7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Healthcare</a:t>
            </a:r>
            <a:r>
              <a:rPr dirty="0" sz="500" spc="3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Analytics</a:t>
            </a:r>
            <a:r>
              <a:rPr dirty="0" sz="500" spc="8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Platform</a:t>
            </a:r>
            <a:r>
              <a:rPr dirty="0" sz="500" spc="1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transforms</a:t>
            </a:r>
            <a:r>
              <a:rPr dirty="0" sz="500" spc="5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clinical</a:t>
            </a:r>
            <a:r>
              <a:rPr dirty="0" sz="500" spc="3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care</a:t>
            </a:r>
            <a:r>
              <a:rPr dirty="0" sz="500" spc="25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2A8BD"/>
                </a:solidFill>
                <a:latin typeface="Arial MT"/>
                <a:cs typeface="Arial MT"/>
              </a:rPr>
              <a:t>on</a:t>
            </a:r>
            <a:r>
              <a:rPr dirty="0" sz="500" spc="50">
                <a:solidFill>
                  <a:srgbClr val="12A8BD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2A8BD"/>
                </a:solidFill>
                <a:latin typeface="Arial MT"/>
                <a:cs typeface="Arial MT"/>
              </a:rPr>
              <a:t>AWS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55194" y="367885"/>
            <a:ext cx="948690" cy="5492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1075"/>
              </a:spcBef>
            </a:pPr>
            <a:r>
              <a:rPr dirty="0" sz="1450" spc="-25" b="1">
                <a:solidFill>
                  <a:srgbClr val="F49F1F"/>
                </a:solidFill>
                <a:latin typeface="Arial"/>
                <a:cs typeface="Arial"/>
              </a:rPr>
              <a:t>60%</a:t>
            </a:r>
            <a:endParaRPr sz="1450">
              <a:latin typeface="Arial"/>
              <a:cs typeface="Arial"/>
            </a:endParaRPr>
          </a:p>
          <a:p>
            <a:pPr algn="ctr" marL="352425" marR="336550" indent="-635">
              <a:lnSpc>
                <a:spcPct val="102200"/>
              </a:lnSpc>
              <a:spcBef>
                <a:spcPts val="305"/>
              </a:spcBef>
            </a:pP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Faster</a:t>
            </a:r>
            <a:r>
              <a:rPr dirty="0" sz="4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Diagnosis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94561" y="367885"/>
            <a:ext cx="948690" cy="5492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71145">
              <a:lnSpc>
                <a:spcPct val="100000"/>
              </a:lnSpc>
              <a:spcBef>
                <a:spcPts val="1075"/>
              </a:spcBef>
            </a:pPr>
            <a:r>
              <a:rPr dirty="0" sz="1450" spc="-25" b="1">
                <a:solidFill>
                  <a:srgbClr val="F49F1F"/>
                </a:solidFill>
                <a:latin typeface="Arial"/>
                <a:cs typeface="Arial"/>
              </a:rPr>
              <a:t>RAG</a:t>
            </a:r>
            <a:endParaRPr sz="1450">
              <a:latin typeface="Arial"/>
              <a:cs typeface="Arial"/>
            </a:endParaRPr>
          </a:p>
          <a:p>
            <a:pPr marL="255904" marR="247650" indent="57785">
              <a:lnSpc>
                <a:spcPct val="102200"/>
              </a:lnSpc>
              <a:spcBef>
                <a:spcPts val="30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Grounded</a:t>
            </a:r>
            <a:r>
              <a:rPr dirty="0" sz="4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4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 Hallucinations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234057" y="367885"/>
            <a:ext cx="948690" cy="5492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75"/>
              </a:spcBef>
            </a:pPr>
            <a:r>
              <a:rPr dirty="0" sz="1450" spc="-10" b="1">
                <a:solidFill>
                  <a:srgbClr val="F49F1F"/>
                </a:solidFill>
                <a:latin typeface="Arial"/>
                <a:cs typeface="Arial"/>
              </a:rPr>
              <a:t>99.9%</a:t>
            </a:r>
            <a:endParaRPr sz="1450">
              <a:latin typeface="Arial"/>
              <a:cs typeface="Arial"/>
            </a:endParaRPr>
          </a:p>
          <a:p>
            <a:pPr algn="ctr" marL="5080">
              <a:lnSpc>
                <a:spcPct val="100000"/>
              </a:lnSpc>
              <a:spcBef>
                <a:spcPts val="315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4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FFFFFF"/>
                </a:solidFill>
                <a:latin typeface="Arial MT"/>
                <a:cs typeface="Arial MT"/>
              </a:rPr>
              <a:t>SLA</a:t>
            </a:r>
            <a:endParaRPr sz="450">
              <a:latin typeface="Arial MT"/>
              <a:cs typeface="Arial MT"/>
            </a:endParaRPr>
          </a:p>
          <a:p>
            <a:pPr algn="ctr" marL="13970">
              <a:lnSpc>
                <a:spcPct val="100000"/>
              </a:lnSpc>
              <a:spcBef>
                <a:spcPts val="10"/>
              </a:spcBef>
            </a:pP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Uptime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276346" y="367885"/>
            <a:ext cx="948690" cy="5492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1075"/>
              </a:spcBef>
            </a:pPr>
            <a:r>
              <a:rPr dirty="0" sz="1450" spc="-10" b="1">
                <a:solidFill>
                  <a:srgbClr val="F49F1F"/>
                </a:solidFill>
                <a:latin typeface="Arial"/>
                <a:cs typeface="Arial"/>
              </a:rPr>
              <a:t>HIPAA</a:t>
            </a:r>
            <a:endParaRPr sz="1450">
              <a:latin typeface="Arial"/>
              <a:cs typeface="Arial"/>
            </a:endParaRPr>
          </a:p>
          <a:p>
            <a:pPr algn="ctr" marL="327025" marR="313055" indent="-1270">
              <a:lnSpc>
                <a:spcPct val="102200"/>
              </a:lnSpc>
              <a:spcBef>
                <a:spcPts val="305"/>
              </a:spcBef>
            </a:pP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Compliant</a:t>
            </a:r>
            <a:r>
              <a:rPr dirty="0" sz="4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6751" y="1090675"/>
            <a:ext cx="1974214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solidFill>
                  <a:srgbClr val="F49F1F"/>
                </a:solidFill>
                <a:latin typeface="Arial"/>
                <a:cs typeface="Arial"/>
              </a:rPr>
              <a:t>Clinical</a:t>
            </a:r>
            <a:r>
              <a:rPr dirty="0" sz="600" spc="1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Decision</a:t>
            </a:r>
            <a:r>
              <a:rPr dirty="0" sz="600" spc="-6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Support</a:t>
            </a:r>
            <a:endParaRPr sz="600">
              <a:latin typeface="Arial"/>
              <a:cs typeface="Arial"/>
            </a:endParaRPr>
          </a:p>
          <a:p>
            <a:pPr marL="87630" marR="198755">
              <a:lnSpc>
                <a:spcPct val="100000"/>
              </a:lnSpc>
              <a:spcBef>
                <a:spcPts val="505"/>
              </a:spcBef>
            </a:pP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LLM-powered</a:t>
            </a:r>
            <a:r>
              <a:rPr dirty="0" sz="500" spc="-4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insights</a:t>
            </a:r>
            <a:r>
              <a:rPr dirty="0" sz="500" spc="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reduce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cognitive</a:t>
            </a:r>
            <a:r>
              <a:rPr dirty="0" sz="500" spc="-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load,</a:t>
            </a:r>
            <a:r>
              <a:rPr dirty="0" sz="500" spc="1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flagging</a:t>
            </a:r>
            <a:r>
              <a:rPr dirty="0" sz="500" spc="6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critical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findings</a:t>
            </a:r>
            <a:r>
              <a:rPr dirty="0" sz="500" spc="5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and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surfacing</a:t>
            </a:r>
            <a:r>
              <a:rPr dirty="0" sz="500" spc="-4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relevant</a:t>
            </a:r>
            <a:r>
              <a:rPr dirty="0" sz="500" spc="-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clinical</a:t>
            </a:r>
            <a:r>
              <a:rPr dirty="0" sz="500" spc="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guidelines</a:t>
            </a:r>
            <a:r>
              <a:rPr dirty="0" sz="500" spc="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for</a:t>
            </a:r>
            <a:r>
              <a:rPr dirty="0" sz="500" spc="-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every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patient</a:t>
            </a:r>
            <a:r>
              <a:rPr dirty="0" sz="500" spc="-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interaction.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309367" y="1090675"/>
            <a:ext cx="1973580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Unified</a:t>
            </a:r>
            <a:r>
              <a:rPr dirty="0" sz="600" spc="-15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Data</a:t>
            </a:r>
            <a:r>
              <a:rPr dirty="0" sz="600" spc="1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Platform</a:t>
            </a:r>
            <a:endParaRPr sz="600">
              <a:latin typeface="Arial"/>
              <a:cs typeface="Arial"/>
            </a:endParaRPr>
          </a:p>
          <a:p>
            <a:pPr marL="88900" marR="217804">
              <a:lnSpc>
                <a:spcPct val="100000"/>
              </a:lnSpc>
              <a:spcBef>
                <a:spcPts val="505"/>
              </a:spcBef>
            </a:pP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Eliminates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silos</a:t>
            </a:r>
            <a:r>
              <a:rPr dirty="0" sz="500" spc="1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by</a:t>
            </a:r>
            <a:r>
              <a:rPr dirty="0" sz="500" spc="1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ingesting</a:t>
            </a:r>
            <a:r>
              <a:rPr dirty="0" sz="500" spc="-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EHR</a:t>
            </a:r>
            <a:r>
              <a:rPr dirty="0" sz="500" spc="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records,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imaging,</a:t>
            </a:r>
            <a:r>
              <a:rPr dirty="0" sz="500" spc="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and </a:t>
            </a:r>
            <a:r>
              <a:rPr dirty="0" sz="500" spc="-25">
                <a:solidFill>
                  <a:srgbClr val="C0D6E2"/>
                </a:solidFill>
                <a:latin typeface="Arial MT"/>
                <a:cs typeface="Arial MT"/>
              </a:rPr>
              <a:t>lab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results</a:t>
            </a:r>
            <a:r>
              <a:rPr dirty="0" sz="500" spc="-4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into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single</a:t>
            </a:r>
            <a:r>
              <a:rPr dirty="0" sz="500" spc="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S3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data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lake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with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consistent,</a:t>
            </a:r>
            <a:r>
              <a:rPr dirty="0" sz="500" spc="-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governed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access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patterns.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6751" y="1651507"/>
            <a:ext cx="1974214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8763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Scalable</a:t>
            </a:r>
            <a:r>
              <a:rPr dirty="0" sz="600" spc="-45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49F1F"/>
                </a:solidFill>
                <a:latin typeface="Arial"/>
                <a:cs typeface="Arial"/>
              </a:rPr>
              <a:t>&amp;</a:t>
            </a:r>
            <a:r>
              <a:rPr dirty="0" sz="600" spc="6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Cost-Efficient</a:t>
            </a:r>
            <a:endParaRPr sz="600">
              <a:latin typeface="Arial"/>
              <a:cs typeface="Arial"/>
            </a:endParaRPr>
          </a:p>
          <a:p>
            <a:pPr algn="just" marL="87630" marR="200660">
              <a:lnSpc>
                <a:spcPct val="100000"/>
              </a:lnSpc>
              <a:spcBef>
                <a:spcPts val="509"/>
              </a:spcBef>
            </a:pP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Managed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AWS</a:t>
            </a:r>
            <a:r>
              <a:rPr dirty="0" sz="500" spc="6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services</a:t>
            </a:r>
            <a:r>
              <a:rPr dirty="0" sz="500" spc="-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mean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zero</a:t>
            </a:r>
            <a:r>
              <a:rPr dirty="0" sz="500" spc="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infrastructure</a:t>
            </a:r>
            <a:r>
              <a:rPr dirty="0" sz="500" spc="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overhead.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Pay-per-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use</a:t>
            </a:r>
            <a:r>
              <a:rPr dirty="0" sz="500" spc="-1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pricing</a:t>
            </a:r>
            <a:r>
              <a:rPr dirty="0" sz="500" spc="-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scales</a:t>
            </a:r>
            <a:r>
              <a:rPr dirty="0" sz="500" spc="-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with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patient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volume</a:t>
            </a:r>
            <a:r>
              <a:rPr dirty="0" sz="500" spc="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—</a:t>
            </a:r>
            <a:r>
              <a:rPr dirty="0" sz="500" spc="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no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upfront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capacity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planning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needed.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309367" y="1651507"/>
            <a:ext cx="1973580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Evidence-</a:t>
            </a:r>
            <a:r>
              <a:rPr dirty="0" sz="600" spc="-20" b="1">
                <a:solidFill>
                  <a:srgbClr val="F49F1F"/>
                </a:solidFill>
                <a:latin typeface="Arial"/>
                <a:cs typeface="Arial"/>
              </a:rPr>
              <a:t>Based</a:t>
            </a:r>
            <a:r>
              <a:rPr dirty="0" sz="600" spc="-65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49F1F"/>
                </a:solidFill>
                <a:latin typeface="Arial"/>
                <a:cs typeface="Arial"/>
              </a:rPr>
              <a:t>AI</a:t>
            </a:r>
            <a:r>
              <a:rPr dirty="0" sz="600" spc="30" b="1">
                <a:solidFill>
                  <a:srgbClr val="F49F1F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49F1F"/>
                </a:solidFill>
                <a:latin typeface="Arial"/>
                <a:cs typeface="Arial"/>
              </a:rPr>
              <a:t>Answers</a:t>
            </a:r>
            <a:endParaRPr sz="600">
              <a:latin typeface="Arial"/>
              <a:cs typeface="Arial"/>
            </a:endParaRPr>
          </a:p>
          <a:p>
            <a:pPr marL="88900" marR="110489">
              <a:lnSpc>
                <a:spcPct val="100000"/>
              </a:lnSpc>
              <a:spcBef>
                <a:spcPts val="509"/>
              </a:spcBef>
            </a:pP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RAG</a:t>
            </a:r>
            <a:r>
              <a:rPr dirty="0" sz="500" spc="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pipeline</a:t>
            </a:r>
            <a:r>
              <a:rPr dirty="0" sz="500" spc="2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grounds</a:t>
            </a:r>
            <a:r>
              <a:rPr dirty="0" sz="500" spc="3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every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AI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 response</a:t>
            </a:r>
            <a:r>
              <a:rPr dirty="0" sz="500" spc="-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in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real</a:t>
            </a:r>
            <a:r>
              <a:rPr dirty="0" sz="500" spc="-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patient</a:t>
            </a:r>
            <a:r>
              <a:rPr dirty="0" sz="500" spc="-3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records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and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clinical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knowledge</a:t>
            </a:r>
            <a:r>
              <a:rPr dirty="0" sz="500" spc="7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bases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—</a:t>
            </a:r>
            <a:r>
              <a:rPr dirty="0" sz="500" spc="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traceable,</a:t>
            </a:r>
            <a:r>
              <a:rPr dirty="0" sz="500" spc="-2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auditable, </a:t>
            </a:r>
            <a:r>
              <a:rPr dirty="0" sz="500" spc="-25">
                <a:solidFill>
                  <a:srgbClr val="C0D6E2"/>
                </a:solidFill>
                <a:latin typeface="Arial MT"/>
                <a:cs typeface="Arial MT"/>
              </a:rPr>
              <a:t>and</a:t>
            </a:r>
            <a:r>
              <a:rPr dirty="0" sz="500" spc="50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trustworthy</a:t>
            </a:r>
            <a:r>
              <a:rPr dirty="0" sz="500" spc="-50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C0D6E2"/>
                </a:solidFill>
                <a:latin typeface="Arial MT"/>
                <a:cs typeface="Arial MT"/>
              </a:rPr>
              <a:t>by</a:t>
            </a:r>
            <a:r>
              <a:rPr dirty="0" sz="500" spc="-5">
                <a:solidFill>
                  <a:srgbClr val="C0D6E2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C0D6E2"/>
                </a:solidFill>
                <a:latin typeface="Arial MT"/>
                <a:cs typeface="Arial MT"/>
              </a:rPr>
              <a:t>design.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56005" y="2337688"/>
            <a:ext cx="2671445" cy="87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Built</a:t>
            </a:r>
            <a:r>
              <a:rPr dirty="0" sz="4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4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dirty="0" sz="4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4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Bedrock</a:t>
            </a:r>
            <a:r>
              <a:rPr dirty="0" sz="40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Comprehend</a:t>
            </a:r>
            <a:r>
              <a:rPr dirty="0" sz="40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Medical</a:t>
            </a:r>
            <a:r>
              <a:rPr dirty="0" sz="40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HealthImaging</a:t>
            </a:r>
            <a:r>
              <a:rPr dirty="0" sz="40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OpenSearch</a:t>
            </a:r>
            <a:r>
              <a:rPr dirty="0" sz="40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S3</a:t>
            </a:r>
            <a:r>
              <a:rPr dirty="0" sz="4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EC2</a:t>
            </a:r>
            <a:r>
              <a:rPr dirty="0" sz="4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dirty="0" sz="4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Arial MT"/>
                <a:cs typeface="Arial MT"/>
              </a:rPr>
              <a:t>CloudFront</a:t>
            </a:r>
            <a:endParaRPr sz="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2026-03-26T03:07:34Z</dcterms:created>
  <dcterms:modified xsi:type="dcterms:W3CDTF">2026-03-26T03:07:34Z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2026-03-26T00:00:00Z</vt:filetime>
  </property>
  <property fmtid="{D5CDD505-2E9C-101B-9397-08002B2CF9AE}" pid="5" name="Producer">
    <vt:lpwstr>www.ilovepdf.com</vt:lpwstr>
  </property>
</Properties>
</file>